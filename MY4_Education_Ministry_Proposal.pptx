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.xml"/><Relationship Id="rId26" Type="http://schemas.openxmlformats.org/officeDocument/2006/relationships/slide" Target="slides/slide2.xml"/><Relationship Id="rId27" Type="http://schemas.openxmlformats.org/officeDocument/2006/relationships/slide" Target="slides/slide3.xml"/><Relationship Id="rId28" Type="http://schemas.openxmlformats.org/officeDocument/2006/relationships/slide" Target="slides/slide4.xml"/><Relationship Id="rId29" Type="http://schemas.openxmlformats.org/officeDocument/2006/relationships/slide" Target="slides/slide5.xml"/><Relationship Id="rId30" Type="http://schemas.openxmlformats.org/officeDocument/2006/relationships/slide" Target="slides/slide6.xml"/><Relationship Id="rId31" Type="http://schemas.openxmlformats.org/officeDocument/2006/relationships/slide" Target="slides/slide7.xml"/><Relationship Id="rId32" Type="http://schemas.openxmlformats.org/officeDocument/2006/relationships/slide" Target="slides/slide8.xml"/><Relationship Id="rId33" Type="http://schemas.openxmlformats.org/officeDocument/2006/relationships/slide" Target="slides/slide9.xml"/><Relationship Id="rId34" Type="http://schemas.openxmlformats.org/officeDocument/2006/relationships/slide" Target="slides/slide10.xml"/><Relationship Id="rId35" Type="http://schemas.openxmlformats.org/officeDocument/2006/relationships/slide" Target="slides/slide11.xml"/><Relationship Id="rId36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Expenses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0E0E"/>
              </a:solidFill>
              <a:ln w="25400" cap="flat">
                <a:solidFill>
                  <a:srgbClr val="FAFAF7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8A24C"/>
              </a:solidFill>
              <a:ln w="25400" cap="flat">
                <a:solidFill>
                  <a:srgbClr val="FAFAF7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A4232A"/>
              </a:solidFill>
              <a:ln w="25400" cap="flat">
                <a:solidFill>
                  <a:srgbClr val="FAFAF7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9C7C30"/>
              </a:solidFill>
              <a:ln w="25400" cap="flat">
                <a:solidFill>
                  <a:srgbClr val="FAFAF7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DEDAD0"/>
              </a:solidFill>
              <a:ln w="25400" cap="flat">
                <a:solidFill>
                  <a:srgbClr val="FAFAF7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Labor</c:v>
                </c:pt>
                <c:pt idx="1">
                  <c:v>Materials</c:v>
                </c:pt>
                <c:pt idx="2">
                  <c:v>Equipment</c:v>
                </c:pt>
                <c:pt idx="3">
                  <c:v>Overhead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50</c:v>
                </c:pt>
                <c:pt idx="1">
                  <c:v>15</c:v>
                </c:pt>
                <c:pt idx="2">
                  <c:v>10</c:v>
                </c:pt>
                <c:pt idx="3">
                  <c:v>20</c:v>
                </c:pt>
                <c:pt idx="4">
                  <c:v>5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_tall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10957255" y="0"/>
            <a:ext cx="1234440" cy="61996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914400"/>
            <a:ext cx="841248" cy="841248"/>
          </a:xfrm>
          <a:prstGeom prst="roundRect">
            <a:avLst>
              <a:gd name="adj" fmla="val 13043"/>
            </a:avLst>
          </a:prstGeom>
          <a:solidFill>
            <a:srgbClr val="0E0E0E"/>
          </a:solidFill>
          <a:ln w="19050">
            <a:solidFill>
              <a:srgbClr val="C8A24C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566928" y="91440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C8A2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91056" y="10789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MY4 EDUCATION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9496" y="228600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مبادرة وطنية</a:t>
            </a:r>
            <a:pPr algn="l" indent="0" marL="0">
              <a:lnSpc>
                <a:spcPct val="98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/>
            </a:r>
            <a:pPr algn="l" indent="0" marL="0">
              <a:lnSpc>
                <a:spcPct val="98000"/>
              </a:lnSpc>
              <a:buNone/>
            </a:pPr>
            <a:r>
              <a:rPr lang="en-US" sz="5000" dirty="0">
                <a:solidFill>
                  <a:srgbClr val="A4232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/>
            </a:r>
            <a:pPr algn="l" indent="0" marL="0">
              <a:lnSpc>
                <a:spcPct val="98000"/>
              </a:lnSpc>
              <a:buNone/>
            </a:pPr>
            <a:r>
              <a:rPr lang="en-US" sz="5000" dirty="0">
                <a:solidFill>
                  <a:srgbClr val="C8A2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/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566928" y="48920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مقدَّم إلى: وزارة التضامن الاجتماعي | يونيو ٢٠٢٦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" y="5989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50" kern="0" dirty="0">
                <a:solidFill>
                  <a:srgbClr val="C8A24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Gadalla111@gmail.com  |  +20 111 037 3331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9795967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88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01 / 12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_tall_lt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11277295" y="0"/>
            <a:ext cx="914400" cy="61996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40" kern="0" dirty="0">
                <a:solidFill>
                  <a:srgbClr val="9C7C3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جدول المحتويات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74980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E0E0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مقترح MY4 Education — وزارة التضامن الاجتماعي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66928" y="1828800"/>
            <a:ext cx="35030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C8A2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3429914" y="187452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0E0E0E"/>
          </a:solidFill>
          <a:ln/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316" y="2021921"/>
            <a:ext cx="272125" cy="2721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6928" y="2542032"/>
            <a:ext cx="35030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الإشكالية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66928" y="2907792"/>
            <a:ext cx="34116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الشهادة وحدها لا تصنع فرصة عمل — الأرقام تُحدِّد الأزمة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66928" y="2505456"/>
            <a:ext cx="2725826" cy="0"/>
          </a:xfrm>
          <a:prstGeom prst="line">
            <a:avLst/>
          </a:prstGeom>
          <a:noFill/>
          <a:ln w="19050">
            <a:solidFill>
              <a:srgbClr val="C8A24C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4344314" y="1828800"/>
            <a:ext cx="35030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C8A2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Shape 8"/>
          <p:cNvSpPr/>
          <p:nvPr/>
        </p:nvSpPr>
        <p:spPr>
          <a:xfrm>
            <a:off x="7207301" y="187452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0E0E0E"/>
          </a:solidFill>
          <a:ln/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4702" y="2021921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344314" y="2542032"/>
            <a:ext cx="35030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الحل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344314" y="2907792"/>
            <a:ext cx="34116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تدريب حقيقي · إثبات مُصوَّر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344314" y="2505456"/>
            <a:ext cx="2725826" cy="0"/>
          </a:xfrm>
          <a:prstGeom prst="line">
            <a:avLst/>
          </a:prstGeom>
          <a:noFill/>
          <a:ln w="19050">
            <a:solidFill>
              <a:srgbClr val="C8A24C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/>
          <p:nvPr/>
        </p:nvSpPr>
        <p:spPr>
          <a:xfrm>
            <a:off x="8121701" y="1828800"/>
            <a:ext cx="35030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C8A2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03</a:t>
            </a:r>
            <a:endParaRPr lang="en-US" sz="4000" dirty="0"/>
          </a:p>
        </p:txBody>
      </p:sp>
      <p:sp>
        <p:nvSpPr>
          <p:cNvPr id="18" name="Shape 13"/>
          <p:cNvSpPr/>
          <p:nvPr/>
        </p:nvSpPr>
        <p:spPr>
          <a:xfrm>
            <a:off x="10984687" y="187452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0E0E0E"/>
          </a:solidFill>
          <a:ln/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2088" y="2021921"/>
            <a:ext cx="272125" cy="27212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21701" y="2542032"/>
            <a:ext cx="35030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إثبات النموذج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121701" y="2907792"/>
            <a:ext cx="34116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تجربة ريادية فعلية — الأكاديمية العربية (AAST)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8121701" y="2505456"/>
            <a:ext cx="2725826" cy="0"/>
          </a:xfrm>
          <a:prstGeom prst="line">
            <a:avLst/>
          </a:prstGeom>
          <a:noFill/>
          <a:ln w="19050">
            <a:solidFill>
              <a:srgbClr val="C8A24C"/>
            </a:solidFill>
            <a:prstDash val="solid"/>
          </a:ln>
        </p:spPr>
        <p:txBody>
          <a:bodyPr/>
          <a:p/>
        </p:txBody>
      </p:sp>
      <p:sp>
        <p:nvSpPr>
          <p:cNvPr id="23" name="Text 17"/>
          <p:cNvSpPr/>
          <p:nvPr/>
        </p:nvSpPr>
        <p:spPr>
          <a:xfrm>
            <a:off x="566928" y="3886200"/>
            <a:ext cx="35030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C8A2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04</a:t>
            </a:r>
            <a:endParaRPr lang="en-US" sz="4000" dirty="0"/>
          </a:p>
        </p:txBody>
      </p:sp>
      <p:sp>
        <p:nvSpPr>
          <p:cNvPr id="24" name="Shape 18"/>
          <p:cNvSpPr/>
          <p:nvPr/>
        </p:nvSpPr>
        <p:spPr>
          <a:xfrm>
            <a:off x="3429914" y="393192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0E0E0E"/>
          </a:solidFill>
          <a:ln/>
        </p:spPr>
        <p:txBody>
          <a:bodyPr/>
          <a:p/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7316" y="4079321"/>
            <a:ext cx="272125" cy="27212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66928" y="4599432"/>
            <a:ext cx="35030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خطة المراحل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566928" y="4965192"/>
            <a:ext cx="34116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من ٤٥ شاباً إلى برنامج وطني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566928" y="4562856"/>
            <a:ext cx="2725826" cy="0"/>
          </a:xfrm>
          <a:prstGeom prst="line">
            <a:avLst/>
          </a:prstGeom>
          <a:noFill/>
          <a:ln w="19050">
            <a:solidFill>
              <a:srgbClr val="C8A24C"/>
            </a:solidFill>
            <a:prstDash val="solid"/>
          </a:ln>
        </p:spPr>
        <p:txBody>
          <a:bodyPr/>
          <a:p/>
        </p:txBody>
      </p:sp>
      <p:sp>
        <p:nvSpPr>
          <p:cNvPr id="29" name="Text 22"/>
          <p:cNvSpPr/>
          <p:nvPr/>
        </p:nvSpPr>
        <p:spPr>
          <a:xfrm>
            <a:off x="4344314" y="3886200"/>
            <a:ext cx="35030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C8A2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05</a:t>
            </a:r>
            <a:endParaRPr lang="en-US" sz="4000" dirty="0"/>
          </a:p>
        </p:txBody>
      </p:sp>
      <p:sp>
        <p:nvSpPr>
          <p:cNvPr id="30" name="Shape 23"/>
          <p:cNvSpPr/>
          <p:nvPr/>
        </p:nvSpPr>
        <p:spPr>
          <a:xfrm>
            <a:off x="7207301" y="393192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0E0E0E"/>
          </a:solidFill>
          <a:ln/>
        </p:spPr>
        <p:txBody>
          <a:bodyPr/>
          <a:p/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4702" y="4079321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344314" y="4599432"/>
            <a:ext cx="35030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المؤشرات والتوافق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4344314" y="4965192"/>
            <a:ext cx="34116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أرقام نُقدِّمها ونتحمل مسؤوليتها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4344314" y="4562856"/>
            <a:ext cx="2725826" cy="0"/>
          </a:xfrm>
          <a:prstGeom prst="line">
            <a:avLst/>
          </a:prstGeom>
          <a:noFill/>
          <a:ln w="19050">
            <a:solidFill>
              <a:srgbClr val="C8A24C"/>
            </a:solidFill>
            <a:prstDash val="solid"/>
          </a:ln>
        </p:spPr>
        <p:txBody>
          <a:bodyPr/>
          <a:p/>
        </p:txBody>
      </p:sp>
      <p:sp>
        <p:nvSpPr>
          <p:cNvPr id="35" name="Text 27"/>
          <p:cNvSpPr/>
          <p:nvPr/>
        </p:nvSpPr>
        <p:spPr>
          <a:xfrm>
            <a:off x="8121701" y="3886200"/>
            <a:ext cx="35030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C8A2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06</a:t>
            </a:r>
            <a:endParaRPr lang="en-US" sz="4000" dirty="0"/>
          </a:p>
        </p:txBody>
      </p:sp>
      <p:sp>
        <p:nvSpPr>
          <p:cNvPr id="36" name="Shape 28"/>
          <p:cNvSpPr/>
          <p:nvPr/>
        </p:nvSpPr>
        <p:spPr>
          <a:xfrm>
            <a:off x="10984687" y="393192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0E0E0E"/>
          </a:solidFill>
          <a:ln/>
        </p:spPr>
        <p:txBody>
          <a:bodyPr/>
          <a:p/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32088" y="4079321"/>
            <a:ext cx="272125" cy="272125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8121701" y="4599432"/>
            <a:ext cx="35030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الطلب من الوزارة</a:t>
            </a:r>
            <a:endParaRPr lang="en-US" sz="1500" dirty="0"/>
          </a:p>
        </p:txBody>
      </p:sp>
      <p:sp>
        <p:nvSpPr>
          <p:cNvPr id="39" name="Text 30"/>
          <p:cNvSpPr/>
          <p:nvPr/>
        </p:nvSpPr>
        <p:spPr>
          <a:xfrm>
            <a:off x="8121701" y="4965192"/>
            <a:ext cx="34116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رعاية رسمية · تمويل تجريبي · وصول تشغيلي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8121701" y="4562856"/>
            <a:ext cx="2725826" cy="0"/>
          </a:xfrm>
          <a:prstGeom prst="line">
            <a:avLst/>
          </a:prstGeom>
          <a:noFill/>
          <a:ln w="19050">
            <a:solidFill>
              <a:srgbClr val="C8A24C"/>
            </a:solidFill>
            <a:prstDash val="solid"/>
          </a:ln>
        </p:spPr>
        <p:txBody>
          <a:bodyPr/>
          <a:p/>
        </p:txBody>
      </p:sp>
      <p:sp>
        <p:nvSpPr>
          <p:cNvPr id="41" name="Text 32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20" kern="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MY4 EDUCATION</a:t>
            </a:r>
            <a:pPr algn="l" indent="0" marL="0">
              <a:buNone/>
            </a:pPr>
            <a:r>
              <a:rPr lang="en-US" sz="80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endParaRPr lang="en-US" sz="800" dirty="0"/>
          </a:p>
        </p:txBody>
      </p:sp>
      <p:sp>
        <p:nvSpPr>
          <p:cNvPr id="42" name="Text 33"/>
          <p:cNvSpPr/>
          <p:nvPr/>
        </p:nvSpPr>
        <p:spPr>
          <a:xfrm>
            <a:off x="9795967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88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_block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619695" y="3337560"/>
            <a:ext cx="5029200" cy="2103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40" kern="0" dirty="0">
                <a:solidFill>
                  <a:srgbClr val="C8A24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القسم الأول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21208" y="169164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dirty="0">
                <a:solidFill>
                  <a:srgbClr val="C8A24C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01</a:t>
            </a:r>
            <a:endParaRPr lang="en-US" sz="15000" dirty="0"/>
          </a:p>
        </p:txBody>
      </p:sp>
      <p:sp>
        <p:nvSpPr>
          <p:cNvPr id="5" name="Text 2"/>
          <p:cNvSpPr/>
          <p:nvPr/>
        </p:nvSpPr>
        <p:spPr>
          <a:xfrm>
            <a:off x="566928" y="3977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الإشكالية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603504" y="4892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الشهادة وحدها لا تصنع فرصة عمل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2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MY4 EDUCATION</a:t>
            </a:r>
            <a:pPr algn="l" indent="0" marL="0">
              <a:buNone/>
            </a:pPr>
            <a:r>
              <a:rPr lang="en-US" sz="80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9795967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88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_tall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11323015" y="0"/>
            <a:ext cx="868680" cy="61996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40" kern="0" dirty="0">
                <a:solidFill>
                  <a:srgbClr val="C8A24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الأرقام تُحدِّد الأزمة بدقة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74980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مصادر: CAPMAS 2025 · Nexford Egypt 2021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66928" y="1874520"/>
            <a:ext cx="4937760" cy="3657600"/>
          </a:xfrm>
          <a:prstGeom prst="rect">
            <a:avLst/>
          </a:prstGeom>
          <a:solidFill>
            <a:srgbClr val="1A1A18"/>
          </a:solidFill>
          <a:ln/>
        </p:spPr>
        <p:txBody>
          <a:bodyPr/>
          <a:p/>
        </p:txBody>
      </p:sp>
      <p:pic>
        <p:nvPicPr>
          <p:cNvPr id="6" name="Image 1" descr="m_block.png">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566928" y="4617720"/>
            <a:ext cx="4937760" cy="868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32688" y="219456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dirty="0">
                <a:solidFill>
                  <a:srgbClr val="C8A24C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6.3%</a:t>
            </a:r>
            <a:endParaRPr lang="en-US" sz="7600" dirty="0"/>
          </a:p>
        </p:txBody>
      </p:sp>
      <p:sp>
        <p:nvSpPr>
          <p:cNvPr id="8" name="Text 4"/>
          <p:cNvSpPr/>
          <p:nvPr/>
        </p:nvSpPr>
        <p:spPr>
          <a:xfrm>
            <a:off x="978408" y="3520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معدل البطالة الإجمالي — مصر ٢٠٢٥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978408" y="39319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المصدر: CAPMAS، الربع الرابع ٢٠٢٥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961888" y="1874520"/>
            <a:ext cx="5662879" cy="1115568"/>
          </a:xfrm>
          <a:prstGeom prst="rect">
            <a:avLst/>
          </a:prstGeom>
          <a:solidFill>
            <a:srgbClr val="1A1A18"/>
          </a:solidFill>
          <a:ln/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6281928" y="1874520"/>
            <a:ext cx="21031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C8A2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45%</a:t>
            </a:r>
            <a:endParaRPr lang="en-US" sz="3800" dirty="0"/>
          </a:p>
        </p:txBody>
      </p:sp>
      <p:sp>
        <p:nvSpPr>
          <p:cNvPr id="12" name="Text 8"/>
          <p:cNvSpPr/>
          <p:nvPr/>
        </p:nvSpPr>
        <p:spPr>
          <a:xfrm>
            <a:off x="8476488" y="1874520"/>
            <a:ext cx="2919679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من إجمالي العاطلين خريجو جامعات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961888" y="3136392"/>
            <a:ext cx="5662879" cy="1115568"/>
          </a:xfrm>
          <a:prstGeom prst="rect">
            <a:avLst/>
          </a:prstGeom>
          <a:solidFill>
            <a:srgbClr val="1A1A18"/>
          </a:solidFill>
          <a:ln/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6281928" y="3136392"/>
            <a:ext cx="21031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78%</a:t>
            </a:r>
            <a:endParaRPr lang="en-US" sz="3800" dirty="0"/>
          </a:p>
        </p:txBody>
      </p:sp>
      <p:sp>
        <p:nvSpPr>
          <p:cNvPr id="15" name="Text 11"/>
          <p:cNvSpPr/>
          <p:nvPr/>
        </p:nvSpPr>
        <p:spPr>
          <a:xfrm>
            <a:off x="8476488" y="3136392"/>
            <a:ext cx="2919679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من الشركات تعجز عن إيجاد الكفاءات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961888" y="4398264"/>
            <a:ext cx="5662879" cy="1115568"/>
          </a:xfrm>
          <a:prstGeom prst="rect">
            <a:avLst/>
          </a:prstGeom>
          <a:solidFill>
            <a:srgbClr val="1A1A18"/>
          </a:solidFill>
          <a:ln/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6281928" y="4398264"/>
            <a:ext cx="21031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A4232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70%</a:t>
            </a:r>
            <a:endParaRPr lang="en-US" sz="3800" dirty="0"/>
          </a:p>
        </p:txBody>
      </p:sp>
      <p:sp>
        <p:nvSpPr>
          <p:cNvPr id="18" name="Text 14"/>
          <p:cNvSpPr/>
          <p:nvPr/>
        </p:nvSpPr>
        <p:spPr>
          <a:xfrm>
            <a:off x="8476488" y="4398264"/>
            <a:ext cx="2919679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من أصحاب العمل سيوظفون أكثر لو كان الخريجون جاهزين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2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MY4 EDUCATION</a:t>
            </a:r>
            <a:pPr algn="l" indent="0" marL="0">
              <a:buNone/>
            </a:pPr>
            <a:r>
              <a:rPr lang="en-US" sz="80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9795967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88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_block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619695" y="3337560"/>
            <a:ext cx="5029200" cy="2103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40" kern="0" dirty="0">
                <a:solidFill>
                  <a:srgbClr val="C8A24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القسم الثاني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21208" y="169164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dirty="0">
                <a:solidFill>
                  <a:srgbClr val="C8A24C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02</a:t>
            </a:r>
            <a:endParaRPr lang="en-US" sz="15000" dirty="0"/>
          </a:p>
        </p:txBody>
      </p:sp>
      <p:sp>
        <p:nvSpPr>
          <p:cNvPr id="5" name="Text 2"/>
          <p:cNvSpPr/>
          <p:nvPr/>
        </p:nvSpPr>
        <p:spPr>
          <a:xfrm>
            <a:off x="566928" y="3977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الحل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603504" y="4892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تدريب حقيقي · إثبات مُصوَّر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2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MY4 EDUCATION</a:t>
            </a:r>
            <a:pPr algn="l" indent="0" marL="0">
              <a:buNone/>
            </a:pPr>
            <a:r>
              <a:rPr lang="en-US" sz="80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9795967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88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40" kern="0" dirty="0">
                <a:solidFill>
                  <a:srgbClr val="9C7C3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كيف يعمل النموذج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E0E0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ثلاث خطوات تُحوِّل الخريج إلى محترف جاهز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003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32688" y="2148840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C8A24C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770" y="235092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3063240"/>
            <a:ext cx="456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التدريب الميداني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32688" y="3611880"/>
            <a:ext cx="456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شهر كامل داخل شركة مضيفة حقيقية تحت إشراف متخصص — منهج منظَّم ومهام واقعية تبني مهارات قابلة للتطبيق الفوري.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24448" y="1783080"/>
            <a:ext cx="53003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690208" y="2148840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A4232A"/>
          </a:solidFill>
          <a:ln/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290" y="235092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90208" y="3063240"/>
            <a:ext cx="456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الإثبات المُصوَّر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690208" y="3611880"/>
            <a:ext cx="456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امتحان عملي ميداني مصوَّر بالكامل يُوثِّق قدرة كل مشارك على الأداء — دليل موضوعي قابل للقياس يُرضي أصحاب العمل والوزارة.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20" kern="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MY4 EDUCATION</a:t>
            </a:r>
            <a:pPr algn="l" indent="0" marL="0">
              <a:buNone/>
            </a:pPr>
            <a:r>
              <a:rPr lang="en-US" sz="80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9795967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88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12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40" kern="0" dirty="0">
                <a:solidFill>
                  <a:srgbClr val="9C7C3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إثبات النموذج — الأكاديمية العربية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E0E0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نموذج مُجرَّب لا نظرية على الورق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442106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86968" y="219456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0E0E0E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" y="238475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6968" y="3063240"/>
            <a:ext cx="2802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التجربة الريادية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86968" y="3566160"/>
            <a:ext cx="280202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تجربة فعلية داخل AAST في تخصص إدارة المخازن واللوجستيات — الكليات المستهدفة: اللوجستيات · التسويق · الإعلام.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74794" y="1828800"/>
            <a:ext cx="3442106" cy="3520440"/>
          </a:xfrm>
          <a:prstGeom prst="rect">
            <a:avLst/>
          </a:prstGeom>
          <a:solidFill>
            <a:srgbClr val="0E0E0E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694834" y="219456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A1A18"/>
          </a:solidFill>
          <a:ln w="12700">
            <a:solidFill>
              <a:srgbClr val="9C7C30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030" y="238475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94834" y="3063240"/>
            <a:ext cx="2802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المرحلة التجريبية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94834" y="3566160"/>
            <a:ext cx="280202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جامعة واحدة · ٣ كليات · ٤٥ شاباً · دورة واحدة · شركتان مضيفتان · شهر تدريب + امتحان ختامي مصوَّر.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82661" y="1828800"/>
            <a:ext cx="3442106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502701" y="219456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0E0E0E"/>
          </a:solidFill>
          <a:ln/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2896" y="238475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2701" y="3063240"/>
            <a:ext cx="2802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الأثر الدولي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02701" y="3566160"/>
            <a:ext cx="280202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وزارة العمل الأمريكية: 93% من مكتملي برامج التلمذة يحتفظون بوظائفهم. NC Commerce 2026: معدل توظيف 90% مقابل 74% — فارق 16 نقطة يستمر عقداً.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20" kern="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MY4 EDUCATION</a:t>
            </a:r>
            <a:pPr algn="l" indent="0" marL="0">
              <a:buNone/>
            </a:pPr>
            <a:r>
              <a:rPr lang="en-US" sz="80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9795967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88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13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_block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619695" y="3337560"/>
            <a:ext cx="5029200" cy="2103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40" kern="0" dirty="0">
                <a:solidFill>
                  <a:srgbClr val="C8A24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القسم الثالث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21208" y="169164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dirty="0">
                <a:solidFill>
                  <a:srgbClr val="C8A24C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03</a:t>
            </a:r>
            <a:endParaRPr lang="en-US" sz="15000" dirty="0"/>
          </a:p>
        </p:txBody>
      </p:sp>
      <p:sp>
        <p:nvSpPr>
          <p:cNvPr id="5" name="Text 2"/>
          <p:cNvSpPr/>
          <p:nvPr/>
        </p:nvSpPr>
        <p:spPr>
          <a:xfrm>
            <a:off x="566928" y="3977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خطة المراحل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603504" y="4892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من ٤٥ شاباً إلى برنامج وطني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2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MY4 EDUCATION</a:t>
            </a:r>
            <a:pPr algn="l" indent="0" marL="0">
              <a:buNone/>
            </a:pPr>
            <a:r>
              <a:rPr lang="en-US" sz="80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9795967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88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40" kern="0" dirty="0">
                <a:solidFill>
                  <a:srgbClr val="9C7C3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خطة المراحل الثلاث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E0E0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من التجريب إلى التوسع الوطني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562984" y="2651760"/>
            <a:ext cx="9065727" cy="0"/>
          </a:xfrm>
          <a:prstGeom prst="line">
            <a:avLst/>
          </a:prstGeom>
          <a:noFill/>
          <a:ln w="19050">
            <a:solidFill>
              <a:srgbClr val="DEDA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60064" y="2148840"/>
            <a:ext cx="1005840" cy="1005840"/>
          </a:xfrm>
          <a:prstGeom prst="ellipse">
            <a:avLst/>
          </a:prstGeom>
          <a:solidFill>
            <a:srgbClr val="0E0E0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60064" y="2148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C8A2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197224" y="33832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3F0E8"/>
          </a:solidFill>
          <a:ln w="12700">
            <a:solidFill>
              <a:srgbClr val="DEDAD0"/>
            </a:solidFill>
            <a:prstDash val="solid"/>
          </a:ln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7419" y="3573475"/>
            <a:ext cx="351130" cy="3511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4251960"/>
            <a:ext cx="199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التجريب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21208" y="4636008"/>
            <a:ext cx="2083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٠–٦ أشهر · جامعة واحدة · ٣ كليات · ٤٥ شاباً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26496" y="2148840"/>
            <a:ext cx="1005840" cy="1005840"/>
          </a:xfrm>
          <a:prstGeom prst="ellipse">
            <a:avLst/>
          </a:prstGeom>
          <a:solidFill>
            <a:srgbClr val="0E0E0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326496" y="2148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C8A2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3463656" y="33832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3F0E8"/>
          </a:solidFill>
          <a:ln w="12700">
            <a:solidFill>
              <a:srgbClr val="DEDAD0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851" y="3573475"/>
            <a:ext cx="351130" cy="35113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33360" y="4251960"/>
            <a:ext cx="199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التوسع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787640" y="4636008"/>
            <a:ext cx="2083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٦–١٨ شهراً · ٤ جامعات · ~٥٠٠ شاب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592928" y="2148840"/>
            <a:ext cx="1005840" cy="1005840"/>
          </a:xfrm>
          <a:prstGeom prst="ellipse">
            <a:avLst/>
          </a:prstGeom>
          <a:solidFill>
            <a:srgbClr val="0E0E0E"/>
          </a:solidFill>
          <a:ln/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5592928" y="2148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C8A2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Shape 15"/>
          <p:cNvSpPr/>
          <p:nvPr/>
        </p:nvSpPr>
        <p:spPr>
          <a:xfrm>
            <a:off x="5730088" y="33832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3F0E8"/>
          </a:solidFill>
          <a:ln w="12700">
            <a:solidFill>
              <a:srgbClr val="DEDAD0"/>
            </a:solidFill>
            <a:prstDash val="solid"/>
          </a:ln>
        </p:spPr>
        <p:txBody>
          <a:bodyPr/>
          <a:p/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283" y="3573475"/>
            <a:ext cx="351130" cy="35113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099792" y="4251960"/>
            <a:ext cx="199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الوطني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054072" y="4636008"/>
            <a:ext cx="2083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١٨–٣٦ شهراً · +١٥ جامعة · +٣٠٠٠ شاب سنوياً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7859359" y="2148840"/>
            <a:ext cx="1005840" cy="1005840"/>
          </a:xfrm>
          <a:prstGeom prst="ellipse">
            <a:avLst/>
          </a:prstGeom>
          <a:solidFill>
            <a:srgbClr val="0E0E0E"/>
          </a:solidFill>
          <a:ln/>
        </p:spPr>
        <p:txBody>
          <a:bodyPr/>
          <a:p/>
        </p:txBody>
      </p:sp>
      <p:sp>
        <p:nvSpPr>
          <p:cNvPr id="24" name="Text 19"/>
          <p:cNvSpPr/>
          <p:nvPr/>
        </p:nvSpPr>
        <p:spPr>
          <a:xfrm>
            <a:off x="7859359" y="2148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C8A2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04</a:t>
            </a:r>
            <a:endParaRPr lang="en-US" sz="3000" dirty="0"/>
          </a:p>
        </p:txBody>
      </p:sp>
      <p:sp>
        <p:nvSpPr>
          <p:cNvPr id="25" name="Shape 20"/>
          <p:cNvSpPr/>
          <p:nvPr/>
        </p:nvSpPr>
        <p:spPr>
          <a:xfrm>
            <a:off x="7996519" y="33832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3F0E8"/>
          </a:solidFill>
          <a:ln w="12700">
            <a:solidFill>
              <a:srgbClr val="DEDAD0"/>
            </a:solidFill>
            <a:prstDash val="solid"/>
          </a:ln>
        </p:spPr>
        <p:txBody>
          <a:bodyPr/>
          <a:p/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715" y="3573475"/>
            <a:ext cx="351130" cy="35113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366224" y="4251960"/>
            <a:ext cx="199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القياس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7320504" y="4636008"/>
            <a:ext cx="2083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تقارير أثر نصف سنوية · بيانات توظيف موثَّقة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10125791" y="2148840"/>
            <a:ext cx="1005840" cy="1005840"/>
          </a:xfrm>
          <a:prstGeom prst="ellipse">
            <a:avLst/>
          </a:prstGeom>
          <a:solidFill>
            <a:srgbClr val="0E0E0E"/>
          </a:solidFill>
          <a:ln/>
        </p:spPr>
        <p:txBody>
          <a:bodyPr/>
          <a:p/>
        </p:txBody>
      </p:sp>
      <p:sp>
        <p:nvSpPr>
          <p:cNvPr id="30" name="Text 24"/>
          <p:cNvSpPr/>
          <p:nvPr/>
        </p:nvSpPr>
        <p:spPr>
          <a:xfrm>
            <a:off x="10125791" y="2148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C8A2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05</a:t>
            </a:r>
            <a:endParaRPr lang="en-US" sz="3000" dirty="0"/>
          </a:p>
        </p:txBody>
      </p:sp>
      <p:sp>
        <p:nvSpPr>
          <p:cNvPr id="31" name="Shape 25"/>
          <p:cNvSpPr/>
          <p:nvPr/>
        </p:nvSpPr>
        <p:spPr>
          <a:xfrm>
            <a:off x="10262951" y="33832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3F0E8"/>
          </a:solidFill>
          <a:ln w="12700">
            <a:solidFill>
              <a:srgbClr val="DEDAD0"/>
            </a:solidFill>
            <a:prstDash val="solid"/>
          </a:ln>
        </p:spPr>
        <p:txBody>
          <a:bodyPr/>
          <a:p/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3146" y="3573475"/>
            <a:ext cx="351130" cy="35113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632655" y="4251960"/>
            <a:ext cx="199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الاستدامة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9586935" y="4636008"/>
            <a:ext cx="2083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دمج مع وحدات التضامن الجامعية في ٤٣ جامعة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20" kern="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MY4 EDUCATION</a:t>
            </a:r>
            <a:pPr algn="l" indent="0" marL="0">
              <a:buNone/>
            </a:pPr>
            <a:r>
              <a:rPr lang="en-US" sz="80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9795967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88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01005 / 018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40" kern="0" dirty="0">
                <a:solidFill>
                  <a:srgbClr val="9C7C3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المؤشرات والتوافق مع الوزارة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E0E0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أرقام نُقدِّمها ونتحمل مسؤوليتها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003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32688" y="2148840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C8A24C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770" y="235092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3063240"/>
            <a:ext cx="456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آلية القياس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32688" y="3611880"/>
            <a:ext cx="456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تقييم جاهزية التوظيف قبل وبعد
• تتبُّع عروض العمل خلال ٦ أشهر
• استطلاع رضا جهات التشغيل
• تقرير أثر نصف سنوي للوزارة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24448" y="1783080"/>
            <a:ext cx="53003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690208" y="2148840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A4232A"/>
          </a:solidFill>
          <a:ln/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290" y="235092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90208" y="3063240"/>
            <a:ext cx="456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التوافق مع الأولويات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690208" y="3611880"/>
            <a:ext cx="456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وحدات التضامن الجامعية · ٤٣ جامعة
✓ رؤية مصر ٢٠٣٠
✓ الإطار المرجعي للتعليم العالي SCU 2025
✓ قمة START 2026 — وزارة التضامن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20" kern="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MY4 EDUCATION</a:t>
            </a:r>
            <a:pPr algn="l" indent="0" marL="0">
              <a:buNone/>
            </a:pPr>
            <a:r>
              <a:rPr lang="en-US" sz="80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9795967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88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12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_block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619695" y="3337560"/>
            <a:ext cx="5029200" cy="2103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40" kern="0" dirty="0">
                <a:solidFill>
                  <a:srgbClr val="C8A24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القسم الرابع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21208" y="169164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dirty="0">
                <a:solidFill>
                  <a:srgbClr val="C8A24C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04</a:t>
            </a:r>
            <a:endParaRPr lang="en-US" sz="15000" dirty="0"/>
          </a:p>
        </p:txBody>
      </p:sp>
      <p:sp>
        <p:nvSpPr>
          <p:cNvPr id="5" name="Text 2"/>
          <p:cNvSpPr/>
          <p:nvPr/>
        </p:nvSpPr>
        <p:spPr>
          <a:xfrm>
            <a:off x="566928" y="3977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الطلب من الوزارة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603504" y="4892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رعاية رسمية · تمويل تجريبي · وصول تشغيلي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2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MY4 EDUCATION</a:t>
            </a:r>
            <a:pPr algn="l" indent="0" marL="0">
              <a:buNone/>
            </a:pPr>
            <a:r>
              <a:rPr lang="en-US" sz="80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9795967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88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_wide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0" y="5943600"/>
            <a:ext cx="10088575" cy="822960"/>
          </a:xfrm>
          <a:prstGeom prst="rect">
            <a:avLst/>
          </a:prstGeom>
        </p:spPr>
      </p:pic>
      <p:pic>
        <p:nvPicPr>
          <p:cNvPr id="3" name="Image 1" descr="m_tall.png">    </p:cNvPr>
          <p:cNvPicPr>
            <a:picLocks noChangeAspect="1"/>
          </p:cNvPicPr>
          <p:nvPr/>
        </p:nvPicPr>
        <p:blipFill>
          <a:blip r:embed="rId2">
            <a:alphaModFix amt="88000"/>
          </a:blip>
          <a:stretch>
            <a:fillRect/>
          </a:stretch>
        </p:blipFill>
        <p:spPr>
          <a:xfrm>
            <a:off x="11094415" y="0"/>
            <a:ext cx="1097280" cy="61996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18288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شكراً.</a:t>
            </a:r>
            <a:endParaRPr lang="en-US" sz="6400" dirty="0"/>
          </a:p>
        </p:txBody>
      </p:sp>
      <p:sp>
        <p:nvSpPr>
          <p:cNvPr id="5" name="Text 1"/>
          <p:cNvSpPr/>
          <p:nvPr/>
        </p:nvSpPr>
        <p:spPr>
          <a:xfrm>
            <a:off x="594360" y="310896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8A2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مبادرة وطنية لتأهيل الشباب الجامعي وتمكينهم اقتصادياً
أولاً: الرعاية الرسمية · ثانياً: التمويل التجريبي · ثالثاً: الوصول التشغيلي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566928" y="4297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C8A24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البريد الإلكتروني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566928" y="45902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Gadalla111@gmail.com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3767328" y="4297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C8A24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المؤسس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3767328" y="45902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Mahmoud Gadalla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967728" y="4297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C8A24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الهاتف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6967728" y="45902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+20 111 037 3331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795967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88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12 /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40" kern="0" dirty="0">
                <a:solidFill>
                  <a:srgbClr val="9C7C3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02 · RESOURCES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E0E0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What the work depends 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442106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219456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0E0E0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" y="238475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6968" y="3063240"/>
            <a:ext cx="2802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Human resources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86968" y="3566160"/>
            <a:ext cx="280202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experienced team with the skills to deliver on time and on budget. Clear ownership at every stage.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74794" y="1828800"/>
            <a:ext cx="3442106" cy="3520440"/>
          </a:xfrm>
          <a:prstGeom prst="rect">
            <a:avLst/>
          </a:prstGeom>
          <a:solidFill>
            <a:srgbClr val="0E0E0E"/>
          </a:solidFill>
          <a:ln/>
        </p:spPr>
      </p:sp>
      <p:sp>
        <p:nvSpPr>
          <p:cNvPr id="10" name="Shape 7"/>
          <p:cNvSpPr/>
          <p:nvPr/>
        </p:nvSpPr>
        <p:spPr>
          <a:xfrm>
            <a:off x="4694834" y="219456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A1A18"/>
          </a:solidFill>
          <a:ln w="12700">
            <a:solidFill>
              <a:srgbClr val="9C7C3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030" y="238475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94834" y="3063240"/>
            <a:ext cx="2802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Financial resources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94834" y="3566160"/>
            <a:ext cx="280202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working budget of $100,000 covering salaries, equipment and contingency for the full scope.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82661" y="1828800"/>
            <a:ext cx="3442106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502701" y="219456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0E0E0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2896" y="238475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2701" y="3063240"/>
            <a:ext cx="2802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Physical resources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02701" y="3566160"/>
            <a:ext cx="280202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Specialist equipment, tested and calibrated before use, plus the systems the team relies on daily.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20" kern="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MERIDIAN</a:t>
            </a:r>
            <a:pPr algn="l" indent="0" marL="0">
              <a:buNone/>
            </a:pPr>
            <a:r>
              <a:rPr lang="en-US" sz="80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BRAND SYSTEM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9795967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88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13 / 18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_tall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11323015" y="0"/>
            <a:ext cx="868680" cy="61996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40" kern="0" dirty="0">
                <a:solidFill>
                  <a:srgbClr val="C8A24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03 · BUDGET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74980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The numbers that matter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66928" y="1874520"/>
            <a:ext cx="4937760" cy="3657600"/>
          </a:xfrm>
          <a:prstGeom prst="rect">
            <a:avLst/>
          </a:prstGeom>
          <a:solidFill>
            <a:srgbClr val="1A1A18"/>
          </a:solidFill>
          <a:ln/>
        </p:spPr>
      </p:sp>
      <p:pic>
        <p:nvPicPr>
          <p:cNvPr id="6" name="Image 1" descr="m_block.png">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566928" y="4617720"/>
            <a:ext cx="4937760" cy="868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32688" y="219456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dirty="0">
                <a:solidFill>
                  <a:srgbClr val="C8A24C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$10M</a:t>
            </a:r>
            <a:endParaRPr lang="en-US" sz="7600" dirty="0"/>
          </a:p>
        </p:txBody>
      </p:sp>
      <p:sp>
        <p:nvSpPr>
          <p:cNvPr id="8" name="Text 4"/>
          <p:cNvSpPr/>
          <p:nvPr/>
        </p:nvSpPr>
        <p:spPr>
          <a:xfrm>
            <a:off x="978408" y="3520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Projected first-year revenue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978408" y="39319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Based on a 200-unit break-even and a 25% target market share.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961888" y="1874520"/>
            <a:ext cx="5662879" cy="1115568"/>
          </a:xfrm>
          <a:prstGeom prst="rect">
            <a:avLst/>
          </a:prstGeom>
          <a:solidFill>
            <a:srgbClr val="1A1A18"/>
          </a:solidFill>
          <a:ln/>
        </p:spPr>
      </p:sp>
      <p:sp>
        <p:nvSpPr>
          <p:cNvPr id="11" name="Text 7"/>
          <p:cNvSpPr/>
          <p:nvPr/>
        </p:nvSpPr>
        <p:spPr>
          <a:xfrm>
            <a:off x="6281928" y="1874520"/>
            <a:ext cx="21031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C8A2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$500K</a:t>
            </a:r>
            <a:endParaRPr lang="en-US" sz="3800" dirty="0"/>
          </a:p>
        </p:txBody>
      </p:sp>
      <p:sp>
        <p:nvSpPr>
          <p:cNvPr id="12" name="Text 8"/>
          <p:cNvSpPr/>
          <p:nvPr/>
        </p:nvSpPr>
        <p:spPr>
          <a:xfrm>
            <a:off x="8476488" y="1874520"/>
            <a:ext cx="2919679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profit of the project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961888" y="3136392"/>
            <a:ext cx="5662879" cy="1115568"/>
          </a:xfrm>
          <a:prstGeom prst="rect">
            <a:avLst/>
          </a:prstGeom>
          <a:solidFill>
            <a:srgbClr val="1A1A18"/>
          </a:solidFill>
          <a:ln/>
        </p:spPr>
      </p:sp>
      <p:sp>
        <p:nvSpPr>
          <p:cNvPr id="14" name="Text 10"/>
          <p:cNvSpPr/>
          <p:nvPr/>
        </p:nvSpPr>
        <p:spPr>
          <a:xfrm>
            <a:off x="6281928" y="3136392"/>
            <a:ext cx="21031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200</a:t>
            </a:r>
            <a:endParaRPr lang="en-US" sz="3800" dirty="0"/>
          </a:p>
        </p:txBody>
      </p:sp>
      <p:sp>
        <p:nvSpPr>
          <p:cNvPr id="15" name="Text 11"/>
          <p:cNvSpPr/>
          <p:nvPr/>
        </p:nvSpPr>
        <p:spPr>
          <a:xfrm>
            <a:off x="8476488" y="3136392"/>
            <a:ext cx="2919679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Units to break even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961888" y="4398264"/>
            <a:ext cx="5662879" cy="1115568"/>
          </a:xfrm>
          <a:prstGeom prst="rect">
            <a:avLst/>
          </a:prstGeom>
          <a:solidFill>
            <a:srgbClr val="1A1A18"/>
          </a:solidFill>
          <a:ln/>
        </p:spPr>
      </p:sp>
      <p:sp>
        <p:nvSpPr>
          <p:cNvPr id="17" name="Text 13"/>
          <p:cNvSpPr/>
          <p:nvPr/>
        </p:nvSpPr>
        <p:spPr>
          <a:xfrm>
            <a:off x="6281928" y="4398264"/>
            <a:ext cx="21031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A4232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25%</a:t>
            </a:r>
            <a:endParaRPr lang="en-US" sz="3800" dirty="0"/>
          </a:p>
        </p:txBody>
      </p:sp>
      <p:sp>
        <p:nvSpPr>
          <p:cNvPr id="18" name="Text 14"/>
          <p:cNvSpPr/>
          <p:nvPr/>
        </p:nvSpPr>
        <p:spPr>
          <a:xfrm>
            <a:off x="8476488" y="4398264"/>
            <a:ext cx="2919679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market share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2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MERIDIAN</a:t>
            </a:r>
            <a:pPr algn="l" indent="0" marL="0">
              <a:buNone/>
            </a:pPr>
            <a:r>
              <a:rPr lang="en-US" sz="80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BRAND SYSTEM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9795967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88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14 / 18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40" kern="0" dirty="0">
                <a:solidFill>
                  <a:srgbClr val="9C7C3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04 · SOLUTIONS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E0E0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How we get there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562984" y="2651760"/>
            <a:ext cx="9065727" cy="0"/>
          </a:xfrm>
          <a:prstGeom prst="line">
            <a:avLst/>
          </a:prstGeom>
          <a:noFill/>
          <a:ln w="19050">
            <a:solidFill>
              <a:srgbClr val="DEDA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0064" y="2148840"/>
            <a:ext cx="1005840" cy="1005840"/>
          </a:xfrm>
          <a:prstGeom prst="ellipse">
            <a:avLst/>
          </a:prstGeom>
          <a:solidFill>
            <a:srgbClr val="0E0E0E"/>
          </a:solidFill>
          <a:ln/>
        </p:spPr>
      </p:sp>
      <p:sp>
        <p:nvSpPr>
          <p:cNvPr id="6" name="Text 4"/>
          <p:cNvSpPr/>
          <p:nvPr/>
        </p:nvSpPr>
        <p:spPr>
          <a:xfrm>
            <a:off x="1060064" y="2148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C8A2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197224" y="33832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3F0E8"/>
          </a:solidFill>
          <a:ln w="12700">
            <a:solidFill>
              <a:srgbClr val="DEDA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7419" y="3573475"/>
            <a:ext cx="351130" cy="3511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4251960"/>
            <a:ext cx="199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Research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21208" y="4636008"/>
            <a:ext cx="2083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 the market and audience to find the opening.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26496" y="2148840"/>
            <a:ext cx="1005840" cy="1005840"/>
          </a:xfrm>
          <a:prstGeom prst="ellipse">
            <a:avLst/>
          </a:prstGeom>
          <a:solidFill>
            <a:srgbClr val="0E0E0E"/>
          </a:solidFill>
          <a:ln/>
        </p:spPr>
      </p:sp>
      <p:sp>
        <p:nvSpPr>
          <p:cNvPr id="12" name="Text 9"/>
          <p:cNvSpPr/>
          <p:nvPr/>
        </p:nvSpPr>
        <p:spPr>
          <a:xfrm>
            <a:off x="3326496" y="2148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C8A2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3463656" y="33832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3F0E8"/>
          </a:solidFill>
          <a:ln w="12700">
            <a:solidFill>
              <a:srgbClr val="DEDAD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851" y="3573475"/>
            <a:ext cx="351130" cy="35113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33360" y="4251960"/>
            <a:ext cx="199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Build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787640" y="4636008"/>
            <a:ext cx="2083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features, design and price; create the product.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592928" y="2148840"/>
            <a:ext cx="1005840" cy="1005840"/>
          </a:xfrm>
          <a:prstGeom prst="ellipse">
            <a:avLst/>
          </a:prstGeom>
          <a:solidFill>
            <a:srgbClr val="0E0E0E"/>
          </a:solidFill>
          <a:ln/>
        </p:spPr>
      </p:sp>
      <p:sp>
        <p:nvSpPr>
          <p:cNvPr id="18" name="Text 14"/>
          <p:cNvSpPr/>
          <p:nvPr/>
        </p:nvSpPr>
        <p:spPr>
          <a:xfrm>
            <a:off x="5592928" y="2148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C8A2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Shape 15"/>
          <p:cNvSpPr/>
          <p:nvPr/>
        </p:nvSpPr>
        <p:spPr>
          <a:xfrm>
            <a:off x="5730088" y="33832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3F0E8"/>
          </a:solidFill>
          <a:ln w="12700">
            <a:solidFill>
              <a:srgbClr val="DEDAD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283" y="3573475"/>
            <a:ext cx="351130" cy="35113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099792" y="4251960"/>
            <a:ext cx="199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Test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054072" y="4636008"/>
            <a:ext cx="2083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Trial with real users and refine on their feedback.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7859359" y="2148840"/>
            <a:ext cx="1005840" cy="1005840"/>
          </a:xfrm>
          <a:prstGeom prst="ellipse">
            <a:avLst/>
          </a:prstGeom>
          <a:solidFill>
            <a:srgbClr val="0E0E0E"/>
          </a:solidFill>
          <a:ln/>
        </p:spPr>
      </p:sp>
      <p:sp>
        <p:nvSpPr>
          <p:cNvPr id="24" name="Text 19"/>
          <p:cNvSpPr/>
          <p:nvPr/>
        </p:nvSpPr>
        <p:spPr>
          <a:xfrm>
            <a:off x="7859359" y="2148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C8A2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Shape 20"/>
          <p:cNvSpPr/>
          <p:nvPr/>
        </p:nvSpPr>
        <p:spPr>
          <a:xfrm>
            <a:off x="7996519" y="33832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3F0E8"/>
          </a:solidFill>
          <a:ln w="12700">
            <a:solidFill>
              <a:srgbClr val="DEDAD0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715" y="3573475"/>
            <a:ext cx="351130" cy="35113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366224" y="4251960"/>
            <a:ext cx="199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Launch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7320504" y="4636008"/>
            <a:ext cx="2083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to market with a full go-to-market plan.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10125791" y="2148840"/>
            <a:ext cx="1005840" cy="1005840"/>
          </a:xfrm>
          <a:prstGeom prst="ellipse">
            <a:avLst/>
          </a:prstGeom>
          <a:solidFill>
            <a:srgbClr val="0E0E0E"/>
          </a:solidFill>
          <a:ln/>
        </p:spPr>
      </p:sp>
      <p:sp>
        <p:nvSpPr>
          <p:cNvPr id="30" name="Text 24"/>
          <p:cNvSpPr/>
          <p:nvPr/>
        </p:nvSpPr>
        <p:spPr>
          <a:xfrm>
            <a:off x="10125791" y="2148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C8A2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5</a:t>
            </a:r>
            <a:endParaRPr lang="en-US" sz="3000" dirty="0"/>
          </a:p>
        </p:txBody>
      </p:sp>
      <p:sp>
        <p:nvSpPr>
          <p:cNvPr id="31" name="Shape 25"/>
          <p:cNvSpPr/>
          <p:nvPr/>
        </p:nvSpPr>
        <p:spPr>
          <a:xfrm>
            <a:off x="10262951" y="33832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3F0E8"/>
          </a:solidFill>
          <a:ln w="12700">
            <a:solidFill>
              <a:srgbClr val="DEDAD0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3146" y="3573475"/>
            <a:ext cx="351130" cy="35113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632655" y="4251960"/>
            <a:ext cx="199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Sustain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9586935" y="4636008"/>
            <a:ext cx="2083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customers and improve on what we learn.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20" kern="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MERIDIAN</a:t>
            </a:r>
            <a:pPr algn="l" indent="0" marL="0">
              <a:buNone/>
            </a:pPr>
            <a:r>
              <a:rPr lang="en-US" sz="80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BRAND SYSTEM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9795967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88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15 / 18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40" kern="0" dirty="0">
                <a:solidFill>
                  <a:srgbClr val="9C7C3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05 · COMMS. PLAN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E0E0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Project activities</a:t>
            </a:r>
            <a:endParaRPr lang="en-US" sz="3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11057839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737360"/>
                <a:gridCol w="1737360"/>
                <a:gridCol w="2286000"/>
                <a:gridCol w="2020824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8A24C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Activity</a:t>
                      </a:r>
                      <a:endParaRPr lang="en-US" sz="12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8A24C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Start</a:t>
                      </a:r>
                      <a:endParaRPr lang="en-US" sz="12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8A24C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End</a:t>
                      </a:r>
                      <a:endParaRPr lang="en-US" sz="12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8A24C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Owner</a:t>
                      </a:r>
                      <a:endParaRPr lang="en-US" sz="12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8A24C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Cost</a:t>
                      </a:r>
                      <a:endParaRPr lang="en-US" sz="12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E0E0E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Market research</a:t>
                      </a:r>
                      <a:endParaRPr lang="en-US" sz="11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 Jan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 Jan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Research firm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9C7C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$20,000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E0E0E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Product development</a:t>
                      </a:r>
                      <a:endParaRPr lang="en-US" sz="11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16 Jan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 Jun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R&amp;D team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9C7C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$200,000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E0E0E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Beta testing</a:t>
                      </a:r>
                      <a:endParaRPr lang="en-US" sz="11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 Jul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 Aug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Beta testers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9C7C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$10,000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E0E0E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Marketing campaign</a:t>
                      </a:r>
                      <a:endParaRPr lang="en-US" sz="11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 Sep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 Sep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Agency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9C7C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$100,000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E0E0E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Product launch</a:t>
                      </a:r>
                      <a:endParaRPr lang="en-US" sz="11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 Oct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52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Sales team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9C7C3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$50,000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108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 with your own milestones, owners and costs — the header bar stays black with gold labels.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20" kern="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MERIDIAN</a:t>
            </a:r>
            <a:pPr algn="l" indent="0" marL="0">
              <a:buNone/>
            </a:pPr>
            <a:r>
              <a:rPr lang="en-US" sz="80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BRAND SYSTEM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9795967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88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16 / 18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40" kern="0" dirty="0">
                <a:solidFill>
                  <a:srgbClr val="9C7C3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06 · CONCLUSION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E0E0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Where the budget goes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783080"/>
          <a:ext cx="51206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053328" y="1783080"/>
            <a:ext cx="55714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Allocation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053328" y="2423160"/>
            <a:ext cx="292608" cy="292608"/>
          </a:xfrm>
          <a:prstGeom prst="rect">
            <a:avLst/>
          </a:prstGeom>
          <a:solidFill>
            <a:srgbClr val="0E0E0E"/>
          </a:solidFill>
          <a:ln/>
        </p:spPr>
      </p:sp>
      <p:sp>
        <p:nvSpPr>
          <p:cNvPr id="7" name="Text 4"/>
          <p:cNvSpPr/>
          <p:nvPr/>
        </p:nvSpPr>
        <p:spPr>
          <a:xfrm>
            <a:off x="6510528" y="2377440"/>
            <a:ext cx="41083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52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Labor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618927" y="23774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50%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053328" y="3063240"/>
            <a:ext cx="292608" cy="292608"/>
          </a:xfrm>
          <a:prstGeom prst="rect">
            <a:avLst/>
          </a:prstGeom>
          <a:solidFill>
            <a:srgbClr val="9C7C30"/>
          </a:solidFill>
          <a:ln/>
        </p:spPr>
      </p:sp>
      <p:sp>
        <p:nvSpPr>
          <p:cNvPr id="10" name="Text 7"/>
          <p:cNvSpPr/>
          <p:nvPr/>
        </p:nvSpPr>
        <p:spPr>
          <a:xfrm>
            <a:off x="6510528" y="3017520"/>
            <a:ext cx="41083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52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Overhead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618927" y="30175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20%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053328" y="3703320"/>
            <a:ext cx="292608" cy="292608"/>
          </a:xfrm>
          <a:prstGeom prst="rect">
            <a:avLst/>
          </a:prstGeom>
          <a:solidFill>
            <a:srgbClr val="C8A24C"/>
          </a:solidFill>
          <a:ln/>
        </p:spPr>
      </p:sp>
      <p:sp>
        <p:nvSpPr>
          <p:cNvPr id="13" name="Text 10"/>
          <p:cNvSpPr/>
          <p:nvPr/>
        </p:nvSpPr>
        <p:spPr>
          <a:xfrm>
            <a:off x="6510528" y="3657600"/>
            <a:ext cx="41083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52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Materials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618927" y="36576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15%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053328" y="4343400"/>
            <a:ext cx="292608" cy="292608"/>
          </a:xfrm>
          <a:prstGeom prst="rect">
            <a:avLst/>
          </a:prstGeom>
          <a:solidFill>
            <a:srgbClr val="A4232A"/>
          </a:solidFill>
          <a:ln/>
        </p:spPr>
      </p:sp>
      <p:sp>
        <p:nvSpPr>
          <p:cNvPr id="16" name="Text 13"/>
          <p:cNvSpPr/>
          <p:nvPr/>
        </p:nvSpPr>
        <p:spPr>
          <a:xfrm>
            <a:off x="6510528" y="4297680"/>
            <a:ext cx="41083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52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Equipment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618927" y="42976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10%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053328" y="4983480"/>
            <a:ext cx="292608" cy="292608"/>
          </a:xfrm>
          <a:prstGeom prst="rect">
            <a:avLst/>
          </a:prstGeom>
          <a:solidFill>
            <a:srgbClr val="DEDAD0"/>
          </a:solidFill>
          <a:ln w="9525">
            <a:solidFill>
              <a:srgbClr val="8C888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10528" y="4937760"/>
            <a:ext cx="41083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52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Other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618927" y="49377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5%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20" kern="0" dirty="0">
                <a:solidFill>
                  <a:srgbClr val="0E0E0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MERIDIAN</a:t>
            </a:r>
            <a:pPr algn="l" indent="0" marL="0">
              <a:buNone/>
            </a:pPr>
            <a:r>
              <a:rPr lang="en-US" sz="80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BRAND SYSTEM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9795967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88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17 / 18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_wide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0" y="5943600"/>
            <a:ext cx="10088575" cy="822960"/>
          </a:xfrm>
          <a:prstGeom prst="rect">
            <a:avLst/>
          </a:prstGeom>
        </p:spPr>
      </p:pic>
      <p:pic>
        <p:nvPicPr>
          <p:cNvPr id="3" name="Image 1" descr="m_tall.png">    </p:cNvPr>
          <p:cNvPicPr>
            <a:picLocks noChangeAspect="1"/>
          </p:cNvPicPr>
          <p:nvPr/>
        </p:nvPicPr>
        <p:blipFill>
          <a:blip r:embed="rId2">
            <a:alphaModFix amt="88000"/>
          </a:blip>
          <a:stretch>
            <a:fillRect/>
          </a:stretch>
        </p:blipFill>
        <p:spPr>
          <a:xfrm>
            <a:off x="11094415" y="0"/>
            <a:ext cx="1097280" cy="61996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18288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Thank you.</a:t>
            </a:r>
            <a:endParaRPr lang="en-US" sz="6400" dirty="0"/>
          </a:p>
        </p:txBody>
      </p:sp>
      <p:sp>
        <p:nvSpPr>
          <p:cNvPr id="5" name="Text 1"/>
          <p:cNvSpPr/>
          <p:nvPr/>
        </p:nvSpPr>
        <p:spPr>
          <a:xfrm>
            <a:off x="594360" y="310896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8A2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MERIDIAN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C8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yours to build on — duplicate any layout, swap the wordmark, keep the system.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566928" y="4297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C8A24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EMAIL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566928" y="45902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hello@meridian.brand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3767328" y="4297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C8A24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WEB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3767328" y="45902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meridian.brand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967728" y="4297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C8A24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PHONE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6967728" y="45902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+20 100 000 0000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795967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88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18 / 18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 Visual Guidelines &amp; Presentation System</dc:title>
  <dc:subject>PptxGenJS Presentation</dc:subject>
  <dc:creator>Brand System</dc:creator>
  <cp:lastModifiedBy>Brand System</cp:lastModifiedBy>
  <cp:revision>1</cp:revision>
  <dcterms:created xsi:type="dcterms:W3CDTF">2026-06-20T20:57:38Z</dcterms:created>
  <dcterms:modified xsi:type="dcterms:W3CDTF">2026-06-20T20:57:38Z</dcterms:modified>
</cp:coreProperties>
</file>