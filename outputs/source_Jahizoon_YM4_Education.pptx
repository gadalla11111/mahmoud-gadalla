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Youth Unemployment %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2019</c:v>
                  </c:pt>
                  <c:pt idx="5">
                    <c:v>2022</c:v>
                  </c:pt>
                  <c:pt idx="6">
                    <c:v>2025</c:v>
                  </c:pt>
                  <c:pt idx="7">
                    <c:v>2030</c:v>
                  </c:pt>
                  <c:pt idx="8">
                    <c:v>2035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</c:v>
                </c:pt>
                <c:pt idx="1">
                  <c:v>25</c:v>
                </c:pt>
                <c:pt idx="2">
                  <c:v>24.5</c:v>
                </c:pt>
                <c:pt idx="3">
                  <c:v>28</c:v>
                </c:pt>
                <c:pt idx="4">
                  <c:v>26.5</c:v>
                </c:pt>
                <c:pt idx="5">
                  <c:v>27</c:v>
                </c:pt>
                <c:pt idx="6">
                  <c:v>26</c:v>
                </c:pt>
                <c:pt idx="7">
                  <c:v>25</c:v>
                </c:pt>
                <c:pt idx="8">
                  <c:v>23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 Youth Unemployed %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2019</c:v>
                  </c:pt>
                  <c:pt idx="5">
                    <c:v>2022</c:v>
                  </c:pt>
                  <c:pt idx="6">
                    <c:v>2025</c:v>
                  </c:pt>
                  <c:pt idx="7">
                    <c:v>2030</c:v>
                  </c:pt>
                  <c:pt idx="8">
                    <c:v>2035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38</c:v>
                </c:pt>
                <c:pt idx="1">
                  <c:v>40</c:v>
                </c:pt>
                <c:pt idx="2">
                  <c:v>45</c:v>
                </c:pt>
                <c:pt idx="3">
                  <c:v>50</c:v>
                </c:pt>
                <c:pt idx="4">
                  <c:v>53.4</c:v>
                </c:pt>
                <c:pt idx="5">
                  <c:v>54</c:v>
                </c:pt>
                <c:pt idx="6">
                  <c:v>52</c:v>
                </c:pt>
                <c:pt idx="7">
                  <c:v>49</c:v>
                </c:pt>
                <c:pt idx="8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(EGP 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2.5</c:v>
                </c:pt>
                <c:pt idx="1">
                  <c:v>5</c:v>
                </c:pt>
                <c:pt idx="2">
                  <c:v>9</c:v>
                </c:pt>
                <c:pt idx="3">
                  <c:v>14.5</c:v>
                </c:pt>
                <c:pt idx="4">
                  <c:v>21</c:v>
                </c:pt>
                <c:pt idx="5">
                  <c:v>30</c:v>
                </c:pt>
                <c:pt idx="6">
                  <c:v>42</c:v>
                </c:pt>
                <c:pt idx="7">
                  <c:v>58</c:v>
                </c:pt>
                <c:pt idx="8">
                  <c:v>78</c:v>
                </c:pt>
                <c:pt idx="9">
                  <c:v>102</c:v>
                </c:pt>
                <c:pt idx="10">
                  <c:v>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OpEx (EGP 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3.5</c:v>
                </c:pt>
                <c:pt idx="1">
                  <c:v>5.5</c:v>
                </c:pt>
                <c:pt idx="2">
                  <c:v>7.5</c:v>
                </c:pt>
                <c:pt idx="3">
                  <c:v>10</c:v>
                </c:pt>
                <c:pt idx="4">
                  <c:v>13.5</c:v>
                </c:pt>
                <c:pt idx="5">
                  <c:v>18</c:v>
                </c:pt>
                <c:pt idx="6">
                  <c:v>24</c:v>
                </c:pt>
                <c:pt idx="7">
                  <c:v>31</c:v>
                </c:pt>
                <c:pt idx="8">
                  <c:v>40</c:v>
                </c:pt>
                <c:pt idx="9">
                  <c:v>51</c:v>
                </c:pt>
                <c:pt idx="10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EBITDA (EGP M)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-1</c:v>
                </c:pt>
                <c:pt idx="1">
                  <c:v>-0.5</c:v>
                </c:pt>
                <c:pt idx="2">
                  <c:v>1.5</c:v>
                </c:pt>
                <c:pt idx="3">
                  <c:v>4.5</c:v>
                </c:pt>
                <c:pt idx="4">
                  <c:v>7.5</c:v>
                </c:pt>
                <c:pt idx="5">
                  <c:v>12</c:v>
                </c:pt>
                <c:pt idx="6">
                  <c:v>18</c:v>
                </c:pt>
                <c:pt idx="7">
                  <c:v>27</c:v>
                </c:pt>
                <c:pt idx="8">
                  <c:v>38</c:v>
                </c:pt>
                <c:pt idx="9">
                  <c:v>51</c:v>
                </c:pt>
                <c:pt idx="10">
                  <c:v>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Placed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  <c:pt idx="7">
                    <c:v>2032</c:v>
                  </c:pt>
                  <c:pt idx="8">
                    <c:v>2033</c:v>
                  </c:pt>
                  <c:pt idx="9">
                    <c:v>2034</c:v>
                  </c:pt>
                  <c:pt idx="10">
                    <c:v>2035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300</c:v>
                </c:pt>
                <c:pt idx="1">
                  <c:v>600</c:v>
                </c:pt>
                <c:pt idx="2">
                  <c:v>1200</c:v>
                </c:pt>
                <c:pt idx="3">
                  <c:v>2000</c:v>
                </c:pt>
                <c:pt idx="4">
                  <c:v>3000</c:v>
                </c:pt>
                <c:pt idx="5">
                  <c:v>5000</c:v>
                </c:pt>
                <c:pt idx="6">
                  <c:v>8000</c:v>
                </c:pt>
                <c:pt idx="7">
                  <c:v>12000</c:v>
                </c:pt>
                <c:pt idx="8">
                  <c:v>18000</c:v>
                </c:pt>
                <c:pt idx="9">
                  <c:v>25000</c:v>
                </c:pt>
                <c:pt idx="10">
                  <c:v>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YM4 EDUCATION  ·  EGYPT 2030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JAHIZOON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جاهزون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National Youth Work-Readiness Programme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2286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4370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4370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2025–2035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4370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Youth Labour Market — 2024 Snapshot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4572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15–24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45720" cy="1417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53.4%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Youth Jobless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active seekers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45720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801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Youth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Edu, Employment or 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017520"/>
            <a:ext cx="45720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580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/ year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2030–2035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CCFBF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017520"/>
            <a:ext cx="4572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108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52044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Employment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Non-agricultural workers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CCFBF1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017520"/>
            <a:ext cx="4572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1089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635508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MENA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023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female unemployment globally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CAPMAS 2024 · IEMed 2022 · OECD 2024 · ERF 2024 · Assaad &amp; Krafft 2020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STRUCTURAL FAILURES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degree no longer guarantees employment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353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847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≠ Competency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degrees, falling relevance. Education systems prioritise certificates over job-ready skills.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353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864608" y="1847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School-to-Work Transition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Educated graduates queue for formal jobs for years. Average wait: 3–5 years post-graduation.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2735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6928" y="3767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Informality Trap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employment is informal. No contract, no insurance, no career path. Poverty cycle locked 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32735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64608" y="3767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 Annual Gap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force grows by 800K per year by 2030. Formal job creation cannot keep pace without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TRAJECTORY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Unemployment &amp; Labour Force Gap  |  2000–2035 (projected)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575K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entrants/yr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3774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2468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263640" y="297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entrants/yr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2030–2035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3749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63640" y="3840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263640" y="4343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job growth needed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absorb supply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Assaad 2022 (ERF)  ·  OECD 2024  ·  projections extrapolated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0A1628">
              <a:alpha val="25000"/>
            </a:srgbClr>
          </a:solidFill>
          <a:ln w="12700">
            <a:solidFill>
              <a:srgbClr val="0A162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the Gap.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Talent.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JAHIZOON  جاهزون  is Egypt's first structured co-op programme where university students complete live technical internships, sit a filmed practical exam, and graduate with verified, televised proof of job-readiness.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VERIFIED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4160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EARNED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4160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4178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TELEVISED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CHAIN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steps. Every semester. Every student.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74520" y="2286000"/>
            <a:ext cx="201168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1984248" y="2231136"/>
            <a:ext cx="73152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005840"/>
            <a:ext cx="1645920" cy="29260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1097280"/>
            <a:ext cx="411480" cy="41148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universities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cohorts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3794760"/>
            <a:ext cx="54864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1608" y="2286000"/>
            <a:ext cx="201168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3831336" y="2231136"/>
            <a:ext cx="73152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75688" y="1005840"/>
            <a:ext cx="1645920" cy="29260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10972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67128" y="162763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67128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placed at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24328" y="3794760"/>
            <a:ext cx="548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5568696" y="2286000"/>
            <a:ext cx="201168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678424" y="2231136"/>
            <a:ext cx="73152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3922776" y="1005840"/>
            <a:ext cx="1645920" cy="29260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44568" y="10972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544568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14216" y="162763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1-Month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14216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technical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71416" y="3794760"/>
            <a:ext cx="5486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5784" y="2286000"/>
            <a:ext cx="201168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525512" y="2231136"/>
            <a:ext cx="73152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5769864" y="1005840"/>
            <a:ext cx="1645920" cy="29260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91656" y="10972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61304" y="162763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Exam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61304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Assessed, recorded,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18504" y="3794760"/>
            <a:ext cx="548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34"/>
          <p:cNvSpPr/>
          <p:nvPr/>
        </p:nvSpPr>
        <p:spPr>
          <a:xfrm>
            <a:off x="7616952" y="1005840"/>
            <a:ext cx="1645920" cy="29260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38744" y="109728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238744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08392" y="1627632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Televised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08392" y="2331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proof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job-readiness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65592" y="3794760"/>
            <a:ext cx="5486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Verified, Employable Graduates with a Public Track Record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WINS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Jahizoon Stakeholder Value Matrix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29000" y="1508760"/>
            <a:ext cx="2286000" cy="22860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15087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JAHIZOON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جاهزون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298448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984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 skills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9751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Verified experience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3042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On-screen proof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0" y="118872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84848" y="1298448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931152" y="12984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31152" y="164592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Talent pipeline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31152" y="197510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 &amp; brand visibility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31152" y="23042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Low-cost sourcing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2004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3310128"/>
            <a:ext cx="54864" cy="1463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3101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6576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Accreditation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9867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Industry links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3159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Alumni outcomes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75120" y="320040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84848" y="3310128"/>
            <a:ext cx="54864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331012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/ GOV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31152" y="3657600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Vision 2030 KPIs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31152" y="39867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Employment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431596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National narrative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88920" y="210312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2788920" y="3520440"/>
            <a:ext cx="64008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2103120"/>
            <a:ext cx="6858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5715000" y="3520440"/>
            <a:ext cx="685800" cy="36576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Verticals — One Unified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508760"/>
            <a:ext cx="269748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914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Placement fee per student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Co-branding on exam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Talent hire conversion fee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Annual cohort package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5156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1508760"/>
            <a:ext cx="26974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1247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5780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TV broadcast licensing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26700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Streaming rights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29000" y="332841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Sponsorship slots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9000" y="398678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Documentary licensing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105156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F0FD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51560"/>
            <a:ext cx="2697480" cy="8229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172200" y="1508760"/>
            <a:ext cx="2697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12471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83880" y="914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83880" y="914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2011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MoSS programme grants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55080" y="26700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University licensing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55080" y="332841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 compliance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55080" y="398678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Impact measurement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10-YEAR P&amp;L FORECAST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2025–2035  |  EGP Millions  |  Conservative Base Case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91440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9509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2.5M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63640" y="12618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63640" y="141732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universities, 50 companies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63640" y="17282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63640" y="203911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63640" y="219456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9M revenue threshold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80760" y="246888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2505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63640" y="28163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Students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263640" y="297180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university partners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080760" y="324612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63640" y="3282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132M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63640" y="3593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Revenue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263640" y="374904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CAGR: ~35%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80760" y="4023360"/>
            <a:ext cx="2743200" cy="658368"/>
          </a:xfrm>
          <a:prstGeom prst="roundRect">
            <a:avLst>
              <a:gd name="adj" fmla="val 9722"/>
            </a:avLst>
          </a:prstGeom>
          <a:solidFill>
            <a:srgbClr val="F0F4F8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263640" y="40599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63640" y="437083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EBITDA Margin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63640" y="4526280"/>
            <a:ext cx="2377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scale economics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Average 300 students/cohort/yr in Y1 growing to 3K by Y5. Corporate fee EGP 8K/student. Media licensing &amp; govt grants scale independently.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to National Programme  |  2025–2035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005840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23560" y="1005840"/>
            <a:ext cx="502920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5623560" y="1005840"/>
            <a:ext cx="502920" cy="621792"/>
          </a:xfrm>
          <a:prstGeom prst="roundRect">
            <a:avLst>
              <a:gd name="adj" fmla="val 12727"/>
            </a:avLst>
          </a:prstGeom>
          <a:solidFill>
            <a:srgbClr val="0D9488"/>
          </a:solidFill>
          <a:ln/>
        </p:spPr>
      </p:sp>
      <p:sp>
        <p:nvSpPr>
          <p:cNvPr id="8" name="Shape 5"/>
          <p:cNvSpPr/>
          <p:nvPr/>
        </p:nvSpPr>
        <p:spPr>
          <a:xfrm>
            <a:off x="5870448" y="1005840"/>
            <a:ext cx="256032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623560" y="1005840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1097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 — 3 universities, 50 companies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23560" y="1755648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23560" y="1755648"/>
            <a:ext cx="50292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Shape 10"/>
          <p:cNvSpPr/>
          <p:nvPr/>
        </p:nvSpPr>
        <p:spPr>
          <a:xfrm>
            <a:off x="5623560" y="1755648"/>
            <a:ext cx="502920" cy="621792"/>
          </a:xfrm>
          <a:prstGeom prst="roundRect">
            <a:avLst>
              <a:gd name="adj" fmla="val 12727"/>
            </a:avLst>
          </a:prstGeom>
          <a:solidFill>
            <a:srgbClr val="0A1628"/>
          </a:solidFill>
          <a:ln/>
        </p:spPr>
      </p:sp>
      <p:sp>
        <p:nvSpPr>
          <p:cNvPr id="14" name="Shape 11"/>
          <p:cNvSpPr/>
          <p:nvPr/>
        </p:nvSpPr>
        <p:spPr>
          <a:xfrm>
            <a:off x="5870448" y="1755648"/>
            <a:ext cx="256032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2"/>
          <p:cNvSpPr/>
          <p:nvPr/>
        </p:nvSpPr>
        <p:spPr>
          <a:xfrm>
            <a:off x="5623560" y="175564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1847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broadcast deal signed — first national episode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2505456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23560" y="2505456"/>
            <a:ext cx="502920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6"/>
          <p:cNvSpPr/>
          <p:nvPr/>
        </p:nvSpPr>
        <p:spPr>
          <a:xfrm>
            <a:off x="5623560" y="2505456"/>
            <a:ext cx="502920" cy="621792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/>
        </p:spPr>
      </p:sp>
      <p:sp>
        <p:nvSpPr>
          <p:cNvPr id="20" name="Shape 17"/>
          <p:cNvSpPr/>
          <p:nvPr/>
        </p:nvSpPr>
        <p:spPr>
          <a:xfrm>
            <a:off x="5870448" y="2505456"/>
            <a:ext cx="256032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5623560" y="250545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259689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MoSS national partnership — 25 universities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23560" y="3255264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23560" y="3255264"/>
            <a:ext cx="502920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2"/>
          <p:cNvSpPr/>
          <p:nvPr/>
        </p:nvSpPr>
        <p:spPr>
          <a:xfrm>
            <a:off x="5623560" y="3255264"/>
            <a:ext cx="502920" cy="621792"/>
          </a:xfrm>
          <a:prstGeom prst="roundRect">
            <a:avLst>
              <a:gd name="adj" fmla="val 12727"/>
            </a:avLst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5870448" y="3255264"/>
            <a:ext cx="256032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5623560" y="325526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172200" y="334670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students. MENA expansion begins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623560" y="4005072"/>
            <a:ext cx="32004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23560" y="4005072"/>
            <a:ext cx="502920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8"/>
          <p:cNvSpPr/>
          <p:nvPr/>
        </p:nvSpPr>
        <p:spPr>
          <a:xfrm>
            <a:off x="5623560" y="4005072"/>
            <a:ext cx="502920" cy="621792"/>
          </a:xfrm>
          <a:prstGeom prst="roundRect">
            <a:avLst>
              <a:gd name="adj" fmla="val 12727"/>
            </a:avLst>
          </a:prstGeom>
          <a:solidFill>
            <a:srgbClr val="DC2626"/>
          </a:solidFill>
          <a:ln/>
        </p:spPr>
      </p:sp>
      <p:sp>
        <p:nvSpPr>
          <p:cNvPr id="32" name="Shape 29"/>
          <p:cNvSpPr/>
          <p:nvPr/>
        </p:nvSpPr>
        <p:spPr>
          <a:xfrm>
            <a:off x="5870448" y="4005072"/>
            <a:ext cx="256032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623560" y="40050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72200" y="40965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annual graduates — Egypt 2030 KPI met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0" y="4572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E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VISION 2030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Jahizoon delivers against National KPIs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321040" cy="621792"/>
          </a:xfrm>
          <a:prstGeom prst="roundRect">
            <a:avLst>
              <a:gd name="adj" fmla="val 8824"/>
            </a:avLst>
          </a:prstGeom>
          <a:solidFill>
            <a:srgbClr val="1E355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50876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417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Youth Unemployment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14173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Structured placement + verified skills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321040" cy="621792"/>
          </a:xfrm>
          <a:prstGeom prst="roundRect">
            <a:avLst>
              <a:gd name="adj" fmla="val 8824"/>
            </a:avLst>
          </a:prstGeom>
          <a:solidFill>
            <a:srgbClr val="1E355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258568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6712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Female Workforce Participation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16712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Equal co-op access + safe workplace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8321040" cy="621792"/>
          </a:xfrm>
          <a:prstGeom prst="roundRect">
            <a:avLst>
              <a:gd name="adj" fmla="val 8824"/>
            </a:avLst>
          </a:prstGeom>
          <a:solidFill>
            <a:srgbClr val="1E3550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3008376"/>
            <a:ext cx="256032" cy="25603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91693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Employment Pathways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91693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Corporate contracts + on-record exam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75304"/>
            <a:ext cx="8321040" cy="621792"/>
          </a:xfrm>
          <a:prstGeom prst="roundRect">
            <a:avLst>
              <a:gd name="adj" fmla="val 8824"/>
            </a:avLst>
          </a:prstGeom>
          <a:solidFill>
            <a:srgbClr val="1E3550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7581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6667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Capital Investment (SDG 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66674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Skills-first, evidence-based training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325112"/>
            <a:ext cx="8321040" cy="621792"/>
          </a:xfrm>
          <a:prstGeom prst="roundRect">
            <a:avLst>
              <a:gd name="adj" fmla="val 8824"/>
            </a:avLst>
          </a:prstGeom>
          <a:solidFill>
            <a:srgbClr val="1E3550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507992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41655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Media &amp; Cultural Narrative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441655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Televised proof of Egyptian talent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A1628">
              <a:alpha val="22000"/>
            </a:srgbClr>
          </a:solidFill>
          <a:ln w="12700">
            <a:solidFill>
              <a:srgbClr val="0A1628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جاهزون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JAHIZOON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graduate Egypt's next generation of proven talent.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it together.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YM4 Education  ·  ym4education.com  ·  Egypt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YM4 Education — جاهزون | Egypt 2030</dc:title>
  <dc:subject>PptxGenJS Presentation</dc:subject>
  <dc:creator>PptxGenJS</dc:creator>
  <cp:lastModifiedBy>PptxGenJS</cp:lastModifiedBy>
  <cp:revision>1</cp:revision>
  <dcterms:created xsi:type="dcterms:W3CDTF">2026-06-28T00:28:06Z</dcterms:created>
  <dcterms:modified xsi:type="dcterms:W3CDTF">2026-06-28T00:28:06Z</dcterms:modified>
</cp:coreProperties>
</file>