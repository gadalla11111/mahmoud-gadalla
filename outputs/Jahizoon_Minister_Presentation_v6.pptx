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الإيرادات (ألف جنيه)</c:v>
                </c:pt>
              </c:strCache>
            </c:strRef>
          </c:tx>
          <c:spPr>
            <a:solidFill>
              <a:srgbClr val="C8A24C"/>
            </a:solidFill>
            <a:ln w="38100" cap="flat">
              <a:solidFill>
                <a:srgbClr val="C8A2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A24C"/>
              </a:solidFill>
              <a:ln w="9525" cap="flat">
                <a:solidFill>
                  <a:srgbClr val="C8A2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</c:v>
                </c:pt>
                <c:pt idx="1">
                  <c:v>170</c:v>
                </c:pt>
                <c:pt idx="2">
                  <c:v>238</c:v>
                </c:pt>
                <c:pt idx="3">
                  <c:v>333</c:v>
                </c:pt>
                <c:pt idx="4">
                  <c:v>467</c:v>
                </c:pt>
                <c:pt idx="5">
                  <c:v>654</c:v>
                </c:pt>
                <c:pt idx="6">
                  <c:v>916</c:v>
                </c:pt>
                <c:pt idx="7">
                  <c:v>1282</c:v>
                </c:pt>
                <c:pt idx="8">
                  <c:v>1794</c:v>
                </c:pt>
                <c:pt idx="9">
                  <c:v>2512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التكاليف (ألف جنيه)</c:v>
                </c:pt>
              </c:strCache>
            </c:strRef>
          </c:tx>
          <c:spPr>
            <a:solidFill>
              <a:srgbClr val="FFFFFF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200</c:v>
                </c:pt>
                <c:pt idx="1">
                  <c:v>230</c:v>
                </c:pt>
                <c:pt idx="2">
                  <c:v>264</c:v>
                </c:pt>
                <c:pt idx="3">
                  <c:v>290</c:v>
                </c:pt>
                <c:pt idx="4">
                  <c:v>320</c:v>
                </c:pt>
                <c:pt idx="5">
                  <c:v>360</c:v>
                </c:pt>
                <c:pt idx="6">
                  <c:v>410</c:v>
                </c:pt>
                <c:pt idx="7">
                  <c:v>470</c:v>
                </c:pt>
                <c:pt idx="8">
                  <c:v>540</c:v>
                </c:pt>
                <c:pt idx="9">
                  <c:v>620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صافي الربح (ألف جنيه)</c:v>
                </c:pt>
              </c:strCache>
            </c:strRef>
          </c:tx>
          <c:spPr>
            <a:solidFill>
              <a:srgbClr val="2ECC71"/>
            </a:solidFill>
            <a:ln w="38100" cap="flat">
              <a:solidFill>
                <a:srgbClr val="2ECC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-80</c:v>
                </c:pt>
                <c:pt idx="1">
                  <c:v>-60</c:v>
                </c:pt>
                <c:pt idx="2">
                  <c:v>-26</c:v>
                </c:pt>
                <c:pt idx="3">
                  <c:v>43</c:v>
                </c:pt>
                <c:pt idx="4">
                  <c:v>147</c:v>
                </c:pt>
                <c:pt idx="5">
                  <c:v>294</c:v>
                </c:pt>
                <c:pt idx="6">
                  <c:v>506</c:v>
                </c:pt>
                <c:pt idx="7">
                  <c:v>812</c:v>
                </c:pt>
                <c:pt idx="8">
                  <c:v>1254</c:v>
                </c:pt>
                <c:pt idx="9">
                  <c:v>1892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"/>
          <c:min val="-3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3813" y="0"/>
            <a:ext cx="0" cy="5143500"/>
          </a:xfrm>
          <a:prstGeom prst="line">
            <a:avLst/>
          </a:prstGeom>
          <a:noFill/>
          <a:ln w="47625">
            <a:solidFill>
              <a:srgbClr val="C8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3175" y="381000"/>
            <a:ext cx="25940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MBK EDUCATION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3175" y="666750"/>
            <a:ext cx="2594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مقدَّم إلى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3175" y="866775"/>
            <a:ext cx="2594039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وزارة التضامن الاجتماعي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438400" y="1231702"/>
            <a:ext cx="507950" cy="25301"/>
          </a:xfrm>
          <a:prstGeom prst="rect">
            <a:avLst/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3175" y="1460153"/>
            <a:ext cx="2594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مقترح شراكة · ٢٠٢٦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3175" y="1660178"/>
            <a:ext cx="2594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A0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gadalla111@gmail.com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3175" y="4657725"/>
            <a:ext cx="25940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نتطلع إلى شرف تعاونكم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60602" y="1345257"/>
            <a:ext cx="4819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مبادرة وطنية لتأهيل الشباب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60602" y="1580108"/>
            <a:ext cx="481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16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جاهزون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267349" y="2697659"/>
            <a:ext cx="4404309" cy="561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C0C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قاعة الدرس إلى سوق العمل — تدريب عملي حقيقي داخل الشركات، يُختتم بامتحان مُصوَّر يُثبت جاهزية الشاب للعمل.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23299" y="3512641"/>
            <a:ext cx="762000" cy="25301"/>
          </a:xfrm>
          <a:prstGeom prst="rect">
            <a:avLst/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60602" y="3791843"/>
            <a:ext cx="4819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الجمهورية التعليمية · رؤية مصر ٢٠٤٥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61487" y="355550"/>
            <a:ext cx="0" cy="485775"/>
          </a:xfrm>
          <a:prstGeom prst="line">
            <a:avLst/>
          </a:prstGeom>
          <a:noFill/>
          <a:ln w="47625">
            <a:solidFill>
              <a:srgbClr val="C8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355550"/>
            <a:ext cx="7983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 · المشكلة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8701" y="479375"/>
            <a:ext cx="79831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الشهادة وحدها لا تصنع فرصة عمل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1069925"/>
            <a:ext cx="1892350" cy="1478756"/>
          </a:xfrm>
          <a:prstGeom prst="roundRect">
            <a:avLst>
              <a:gd name="adj" fmla="val 6871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8701" y="1088975"/>
            <a:ext cx="1892350" cy="0"/>
          </a:xfrm>
          <a:prstGeom prst="line">
            <a:avLst/>
          </a:prstGeom>
          <a:noFill/>
          <a:ln w="38100">
            <a:solidFill>
              <a:srgbClr val="C8A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851" y="1311176"/>
            <a:ext cx="151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1851" y="1844576"/>
            <a:ext cx="15157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بطالة خريجي الجامعات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1851" y="2080766"/>
            <a:ext cx="15157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CAPMAS · الربع الأول ٢٠٢٦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603450" y="1069925"/>
            <a:ext cx="1892350" cy="1478756"/>
          </a:xfrm>
          <a:prstGeom prst="roundRect">
            <a:avLst>
              <a:gd name="adj" fmla="val 6871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03450" y="1088975"/>
            <a:ext cx="1892350" cy="0"/>
          </a:xfrm>
          <a:prstGeom prst="line">
            <a:avLst/>
          </a:prstGeom>
          <a:noFill/>
          <a:ln w="38100">
            <a:solidFill>
              <a:srgbClr val="3344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6601" y="1311176"/>
            <a:ext cx="151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06601" y="1844576"/>
            <a:ext cx="15157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بطالة القوى العاملة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06601" y="2080766"/>
            <a:ext cx="15157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CAPMAS · الربع الأول ٢٠٢٦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648200" y="1069925"/>
            <a:ext cx="1892350" cy="1478756"/>
          </a:xfrm>
          <a:prstGeom prst="roundRect">
            <a:avLst>
              <a:gd name="adj" fmla="val 6871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1088975"/>
            <a:ext cx="1892350" cy="0"/>
          </a:xfrm>
          <a:prstGeom prst="line">
            <a:avLst/>
          </a:prstGeom>
          <a:noFill/>
          <a:ln w="38100">
            <a:solidFill>
              <a:srgbClr val="C8A2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1350" y="1311176"/>
            <a:ext cx="151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51350" y="1844576"/>
            <a:ext cx="151577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أصحاب عمل لا يجدون المهارات المطلوبة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51350" y="2240756"/>
            <a:ext cx="15157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Nexford · ٢٠٢٦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92950" y="1069925"/>
            <a:ext cx="1892350" cy="1478756"/>
          </a:xfrm>
          <a:prstGeom prst="roundRect">
            <a:avLst>
              <a:gd name="adj" fmla="val 6871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692950" y="1088975"/>
            <a:ext cx="1892350" cy="0"/>
          </a:xfrm>
          <a:prstGeom prst="line">
            <a:avLst/>
          </a:prstGeom>
          <a:noFill/>
          <a:ln w="38100">
            <a:solidFill>
              <a:srgbClr val="3344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6100" y="1311176"/>
            <a:ext cx="151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96100" y="1844576"/>
            <a:ext cx="15157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مستعدون لتمويل التدريب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96100" y="2080766"/>
            <a:ext cx="15157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Nexford · ٢٠٢٦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58701" y="2751832"/>
            <a:ext cx="8026598" cy="863352"/>
          </a:xfrm>
          <a:prstGeom prst="roundRect">
            <a:avLst>
              <a:gd name="adj" fmla="val 8826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7301" y="2929533"/>
            <a:ext cx="38100" cy="507950"/>
          </a:xfrm>
          <a:prstGeom prst="roundRect">
            <a:avLst>
              <a:gd name="adj" fmla="val 66667"/>
            </a:avLst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28551" y="2932658"/>
            <a:ext cx="40288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إجماع بحثي مصري: 13 دراسة من 13 (100%)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8551" y="3145334"/>
            <a:ext cx="40288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تؤكد وجود فجوة مهارات لدى الخريجين — في المهارات السلوكية والإدارية والتطبيقية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8551" y="3329434"/>
            <a:ext cx="40288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Consensus.app meta-analysis, N=13 دراسة مصرية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61487" y="355550"/>
            <a:ext cx="0" cy="485775"/>
          </a:xfrm>
          <a:prstGeom prst="line">
            <a:avLst/>
          </a:prstGeom>
          <a:noFill/>
          <a:ln w="47625">
            <a:solidFill>
              <a:srgbClr val="C8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355550"/>
            <a:ext cx="7983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 · الحل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8701" y="479375"/>
            <a:ext cx="79831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جاهزون — تدريب حقيقي، يُثبَت بالكاميرا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1095226"/>
            <a:ext cx="2550765" cy="1558826"/>
          </a:xfrm>
          <a:prstGeom prst="roundRect">
            <a:avLst>
              <a:gd name="adj" fmla="val 6518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402" y="1323826"/>
            <a:ext cx="22392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6402" y="1806327"/>
            <a:ext cx="22392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التحاق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6402" y="2063502"/>
            <a:ext cx="22392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الشباب الجامعي من ٣ كليات يلتحق بشركات مضيفة حقيقية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87167" y="1095226"/>
            <a:ext cx="2550765" cy="1558826"/>
          </a:xfrm>
          <a:prstGeom prst="roundRect">
            <a:avLst>
              <a:gd name="adj" fmla="val 6518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4868" y="1323826"/>
            <a:ext cx="22392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64868" y="1806327"/>
            <a:ext cx="22392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64868" y="2063502"/>
            <a:ext cx="22392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 من المهام الواقعية تحت إشراف مباشر داخل بيئة عمل فعلية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15633" y="1095226"/>
            <a:ext cx="2569815" cy="1558826"/>
          </a:xfrm>
          <a:prstGeom prst="roundRect">
            <a:avLst>
              <a:gd name="adj" fmla="val 6518"/>
            </a:avLst>
          </a:prstGeom>
          <a:solidFill>
            <a:srgbClr val="0E1929"/>
          </a:solidFill>
          <a:ln w="9525">
            <a:solidFill>
              <a:srgbClr val="C8A2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02859" y="1333351"/>
            <a:ext cx="22392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02859" y="1815852"/>
            <a:ext cx="22392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إثبات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02859" y="2073027"/>
            <a:ext cx="22392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امتحان مُصوَّر أمام لجنة — الأداء الفعلي يُحوَّل إلى دليل وشهادة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8701" y="2882652"/>
            <a:ext cx="8026598" cy="806351"/>
          </a:xfrm>
          <a:prstGeom prst="roundRect">
            <a:avLst>
              <a:gd name="adj" fmla="val 9450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01" y="3035052"/>
            <a:ext cx="77207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الأطراف الثلاثة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7301" y="3260378"/>
            <a:ext cx="939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الوزارة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7301" y="3403253"/>
            <a:ext cx="9392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تُمكِّن وتموِّل وترعى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2900" y="3260378"/>
            <a:ext cx="12650" cy="276225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30351" y="3260378"/>
            <a:ext cx="949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الشركات المضيفة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0351" y="3403253"/>
            <a:ext cx="9492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تُدرِّب عيانيًا وتوظِّف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5773" y="3260378"/>
            <a:ext cx="12650" cy="276225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83223" y="3260378"/>
            <a:ext cx="956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MBK Education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83223" y="3403253"/>
            <a:ext cx="9568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تُشغِّل وتنتج وتقيِّم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61487" y="355550"/>
            <a:ext cx="0" cy="485775"/>
          </a:xfrm>
          <a:prstGeom prst="line">
            <a:avLst/>
          </a:prstGeom>
          <a:noFill/>
          <a:ln w="47625">
            <a:solidFill>
              <a:srgbClr val="C8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355550"/>
            <a:ext cx="7983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٠٤ · المنهجية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8701" y="479375"/>
            <a:ext cx="79831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منهجية ٥ خطوات — ٨ أسابيع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1081" y="1146125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٠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98402" y="1222325"/>
            <a:ext cx="25301" cy="406301"/>
          </a:xfrm>
          <a:prstGeom prst="rect">
            <a:avLst/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01403" y="1146125"/>
            <a:ext cx="2007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التحضير والشراكات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01403" y="1289000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توقيع الاتفاقات · اختيار الكليات والشركات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1081" y="1755577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١–٢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98402" y="1831777"/>
            <a:ext cx="25301" cy="406301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1403" y="1755577"/>
            <a:ext cx="2156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الالتحاق والتأهيل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01403" y="1898452"/>
            <a:ext cx="21568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انضمام الشباب للشركات · بدء التهيئة المهنية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1081" y="2365028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٣–٥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98402" y="2441228"/>
            <a:ext cx="25301" cy="406301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1403" y="2365028"/>
            <a:ext cx="2645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الميداني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01403" y="2507903"/>
            <a:ext cx="2645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واقعية داخل الشركة تحت إشراف ومتابعة مستمرة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1081" y="2974479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٦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98402" y="3050679"/>
            <a:ext cx="25301" cy="406301"/>
          </a:xfrm>
          <a:prstGeom prst="rect">
            <a:avLst/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01403" y="2974479"/>
            <a:ext cx="2075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الامتحان المُصوَّر — قلب المبادرة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01403" y="3117354"/>
            <a:ext cx="2075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فعلي أمام لجنة وكاميرا · إثبات لا يُجامَل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1081" y="3583930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٧–٨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98402" y="3660130"/>
            <a:ext cx="25301" cy="406301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01403" y="3583930"/>
            <a:ext cx="23673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والنشر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01403" y="3726805"/>
            <a:ext cx="23673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الشهادات · قياس النتائج · بثّ الحلقة الختامية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61487" y="355550"/>
            <a:ext cx="0" cy="485775"/>
          </a:xfrm>
          <a:prstGeom prst="line">
            <a:avLst/>
          </a:prstGeom>
          <a:noFill/>
          <a:ln w="47625">
            <a:solidFill>
              <a:srgbClr val="C8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355550"/>
            <a:ext cx="7983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٠٥ · الأثر المتوقع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8701" y="479375"/>
            <a:ext cx="79831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٤٥ شابًا إلى برنامج وطني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8701" y="1095226"/>
            <a:ext cx="2573982" cy="1722239"/>
          </a:xfrm>
          <a:prstGeom prst="roundRect">
            <a:avLst>
              <a:gd name="adj" fmla="val 5899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8701" y="1104751"/>
            <a:ext cx="2573982" cy="0"/>
          </a:xfrm>
          <a:prstGeom prst="line">
            <a:avLst/>
          </a:prstGeom>
          <a:noFill/>
          <a:ln w="19050">
            <a:solidFill>
              <a:srgbClr val="C8A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851" y="1317427"/>
            <a:ext cx="22110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قصير المدى · ٠–٦ أشهر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1851" y="1517452"/>
            <a:ext cx="22110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التجريبية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1851" y="1780877"/>
            <a:ext cx="2167682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جامعة · ٣ كليات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شركة مضيفة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٤٥ شابًا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1851" y="2490490"/>
            <a:ext cx="22110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800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مُثبَت وقابل للتكرار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85083" y="1095226"/>
            <a:ext cx="2573982" cy="1722239"/>
          </a:xfrm>
          <a:prstGeom prst="roundRect">
            <a:avLst>
              <a:gd name="adj" fmla="val 5899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85083" y="1104751"/>
            <a:ext cx="2573982" cy="0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8234" y="1317427"/>
            <a:ext cx="22110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المدى · ٦–١٨ شهرًا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88234" y="1517452"/>
            <a:ext cx="22110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التوسّع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88234" y="1780877"/>
            <a:ext cx="2167682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 جامعات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 شركات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~٥٠٠ شاب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88234" y="2490490"/>
            <a:ext cx="22110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توظيف مقاسة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11466" y="1095226"/>
            <a:ext cx="2573982" cy="1722239"/>
          </a:xfrm>
          <a:prstGeom prst="roundRect">
            <a:avLst>
              <a:gd name="adj" fmla="val 5899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11466" y="1104751"/>
            <a:ext cx="2573982" cy="0"/>
          </a:xfrm>
          <a:prstGeom prst="line">
            <a:avLst/>
          </a:prstGeom>
          <a:noFill/>
          <a:ln w="19050">
            <a:solidFill>
              <a:srgbClr val="3344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4616" y="1317427"/>
            <a:ext cx="22110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طويل المدى · ١٨–٣٦ شهرًا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4616" y="1517452"/>
            <a:ext cx="22110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الوطني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4616" y="1780877"/>
            <a:ext cx="2167682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١٥+ جامعة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١٢+ محافظة</a:t>
            </a:r>
            <a:endParaRPr lang="en-US" sz="900" dirty="0"/>
          </a:p>
          <a:p>
            <a:pPr algn="l" marL="342900" indent="-342900">
              <a:lnSpc>
                <a:spcPts val="1530"/>
              </a:lnSpc>
              <a:buSzPct val="100000"/>
              <a:buChar char="•"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٣٠٠٠+ سنويًا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4616" y="2490490"/>
            <a:ext cx="22110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وطني مدمج مع الوزارة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8701" y="3020616"/>
            <a:ext cx="8026598" cy="695325"/>
          </a:xfrm>
          <a:prstGeom prst="roundRect">
            <a:avLst>
              <a:gd name="adj" fmla="val 10959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80351" y="3173016"/>
            <a:ext cx="7089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0351" y="3439716"/>
            <a:ext cx="708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 للتوظيف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37879" y="3173016"/>
            <a:ext cx="12650" cy="390525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98371" y="3173016"/>
            <a:ext cx="7861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198371" y="3439716"/>
            <a:ext cx="7861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عروض عمل فعلية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2411" y="3173016"/>
            <a:ext cx="12650" cy="390525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94145" y="3173016"/>
            <a:ext cx="659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94145" y="3439716"/>
            <a:ext cx="6595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إتمام الشهادة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02820" y="3173016"/>
            <a:ext cx="12650" cy="390525"/>
          </a:xfrm>
          <a:prstGeom prst="rect">
            <a:avLst/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63122" y="3173016"/>
            <a:ext cx="8056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85%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63122" y="3439716"/>
            <a:ext cx="8056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رضا جهات التشغيل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6402" y="3274516"/>
            <a:ext cx="21831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~٣.٦ مليون طالب في التعليم العالي · ٧٣ جامعة (المجلس الأعلى للجامعات)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61487" y="355550"/>
            <a:ext cx="0" cy="485775"/>
          </a:xfrm>
          <a:prstGeom prst="line">
            <a:avLst/>
          </a:prstGeom>
          <a:noFill/>
          <a:ln w="47625">
            <a:solidFill>
              <a:srgbClr val="C8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701" y="355550"/>
            <a:ext cx="79831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٠٦ · التوقعات المالية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8701" y="479375"/>
            <a:ext cx="79831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الربحية — ١٠ سنوات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98169" y="4784824"/>
            <a:ext cx="81871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0"/>
              </a:spcBef>
              <a:buNone/>
            </a:pPr>
            <a:r>
              <a:rPr lang="en-US" sz="7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التوقعات قائمة على نموذج المرحلة التجريبية (٤٥ شابًا) مع معدل نمو سنوي ٤٠٪ حتى العام العاشر</a:t>
            </a:r>
            <a:endParaRPr lang="en-US" sz="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58701" y="1069925"/>
          <a:ext cx="8026598" cy="35879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096268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9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01" y="1483519"/>
            <a:ext cx="8026598" cy="1452563"/>
          </a:xfrm>
          <a:prstGeom prst="roundRect">
            <a:avLst>
              <a:gd name="adj" fmla="val 8743"/>
            </a:avLst>
          </a:prstGeom>
          <a:solidFill>
            <a:srgbClr val="0E1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556724" y="1483519"/>
            <a:ext cx="0" cy="1452563"/>
          </a:xfrm>
          <a:prstGeom prst="line">
            <a:avLst/>
          </a:prstGeom>
          <a:noFill/>
          <a:ln w="57150">
            <a:solidFill>
              <a:srgbClr val="C8A2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002" y="1839069"/>
            <a:ext cx="7299984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رعاية الوزارة وتمويلها للمرحلة التجريبية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002" y="2336750"/>
            <a:ext cx="729998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والوصول إلى جامعة شريكة بثلاث كليات، عبر وحدات التضامن الاجتماعي بالجامعات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01" y="327258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702" y="3256657"/>
            <a:ext cx="2205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متوافق مع رؤية مصر ٢٠٣٠ والتمكين الاقتصادي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85083" y="327258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88085" y="3189982"/>
            <a:ext cx="241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امتداد طبيعي لبرنامج «فرصة» وقمة START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11466" y="327258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4467" y="3256657"/>
            <a:ext cx="1975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يبني على منظومة قائمة ولا يبدأ من الصفر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8701" y="3715345"/>
            <a:ext cx="8026598" cy="0"/>
          </a:xfrm>
          <a:prstGeom prst="line">
            <a:avLst/>
          </a:prstGeom>
          <a:noFill/>
          <a:ln w="9525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701" y="3923258"/>
            <a:ext cx="12874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MBK EDUCATION · جاهزون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37996" y="3928021"/>
            <a:ext cx="1068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gadalla111@gmail.com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جاهزون — مقترح شراكة</dc:title>
  <dc:subject>PptxGenJS Presentation</dc:subject>
  <dc:creator>MBK Education</dc:creator>
  <cp:lastModifiedBy>MBK Education</cp:lastModifiedBy>
  <cp:revision>1</cp:revision>
  <dcterms:created xsi:type="dcterms:W3CDTF">2026-06-28T02:15:21Z</dcterms:created>
  <dcterms:modified xsi:type="dcterms:W3CDTF">2026-06-28T02:15:21Z</dcterms:modified>
</cp:coreProperties>
</file>