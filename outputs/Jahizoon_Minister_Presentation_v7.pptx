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الإيرادات</c:v>
                </c:pt>
              </c:strCache>
            </c:strRef>
          </c:tx>
          <c:spPr>
            <a:solidFill>
              <a:srgbClr val="C8A24C"/>
            </a:solidFill>
            <a:ln w="38100" cap="flat">
              <a:solidFill>
                <a:srgbClr val="C8A2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A24C"/>
              </a:solidFill>
              <a:ln w="9525" cap="flat">
                <a:solidFill>
                  <a:srgbClr val="C8A2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140</c:v>
                </c:pt>
                <c:pt idx="2">
                  <c:v>196</c:v>
                </c:pt>
                <c:pt idx="3">
                  <c:v>274</c:v>
                </c:pt>
                <c:pt idx="4">
                  <c:v>384</c:v>
                </c:pt>
                <c:pt idx="5">
                  <c:v>538</c:v>
                </c:pt>
                <c:pt idx="6">
                  <c:v>753</c:v>
                </c:pt>
                <c:pt idx="7">
                  <c:v>1055</c:v>
                </c:pt>
                <c:pt idx="8">
                  <c:v>1477</c:v>
                </c:pt>
                <c:pt idx="9">
                  <c:v>2068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التكاليف</c:v>
                </c:pt>
              </c:strCache>
            </c:strRef>
          </c:tx>
          <c:spPr>
            <a:solidFill>
              <a:srgbClr val="FFFFFF"/>
            </a:solidFill>
            <a:ln w="381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180</c:v>
                </c:pt>
                <c:pt idx="1">
                  <c:v>210</c:v>
                </c:pt>
                <c:pt idx="2">
                  <c:v>245</c:v>
                </c:pt>
                <c:pt idx="3">
                  <c:v>280</c:v>
                </c:pt>
                <c:pt idx="4">
                  <c:v>316</c:v>
                </c:pt>
                <c:pt idx="5">
                  <c:v>356</c:v>
                </c:pt>
                <c:pt idx="6">
                  <c:v>400</c:v>
                </c:pt>
                <c:pt idx="7">
                  <c:v>449</c:v>
                </c:pt>
                <c:pt idx="8">
                  <c:v>500</c:v>
                </c:pt>
                <c:pt idx="9">
                  <c:v>556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صافي الربح</c:v>
                </c:pt>
              </c:strCache>
            </c:strRef>
          </c:tx>
          <c:spPr>
            <a:solidFill>
              <a:srgbClr val="4CAF8A"/>
            </a:solidFill>
            <a:ln w="38100" cap="flat">
              <a:solidFill>
                <a:srgbClr val="4CAF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AF8A"/>
              </a:solidFill>
              <a:ln w="9525" cap="flat">
                <a:solidFill>
                  <a:srgbClr val="4CAF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-80</c:v>
                </c:pt>
                <c:pt idx="1">
                  <c:v>-70</c:v>
                </c:pt>
                <c:pt idx="2">
                  <c:v>-49</c:v>
                </c:pt>
                <c:pt idx="3">
                  <c:v>-6</c:v>
                </c:pt>
                <c:pt idx="4">
                  <c:v>68</c:v>
                </c:pt>
                <c:pt idx="5">
                  <c:v>182</c:v>
                </c:pt>
                <c:pt idx="6">
                  <c:v>353</c:v>
                </c:pt>
                <c:pt idx="7">
                  <c:v>606</c:v>
                </c:pt>
                <c:pt idx="8">
                  <c:v>977</c:v>
                </c:pt>
                <c:pt idx="9">
                  <c:v>1512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0CE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-2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0CE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03599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0C1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482501"/>
            <a:ext cx="1427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MBK EDUCATION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63284" y="406301"/>
            <a:ext cx="1020366" cy="295275"/>
          </a:xfrm>
          <a:prstGeom prst="roundRect">
            <a:avLst>
              <a:gd name="adj" fmla="val 17204"/>
            </a:avLst>
          </a:prstGeom>
          <a:noFill/>
          <a:ln w="9525">
            <a:solidFill>
              <a:srgbClr val="3A507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50510" y="492026"/>
            <a:ext cx="658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شعار الوزارة 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0350" y="1107877"/>
            <a:ext cx="79797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مبادرة وطنية لتأهيل الشباب وتمكينه اقتصاديًا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0350" y="1368177"/>
            <a:ext cx="797976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1800"/>
              </a:spcAft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جاهزون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3403699" y="2511177"/>
            <a:ext cx="518154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قاعة الدرس إلى سوق العمل — تدريب عملي حقيقي داخل الشركات، يُختتم بامتحان مُصوَّر يُثبِت جاهزية الشاب للعمل.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0350" y="4664125"/>
            <a:ext cx="25138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مقدَّم إلى وزارة التضامن الاجتماعي · مقترح شراكة · ٢٠٢٦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27652" y="4664125"/>
            <a:ext cx="15871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الجمهورية التعليمية · رؤية مصر ٢٠٤٥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03599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0C1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406301"/>
            <a:ext cx="79797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٠٢ · المشكلة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0350" y="606326"/>
            <a:ext cx="79797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الشهادة وحدها لا تصنع فرصة عمل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0350" y="1330226"/>
            <a:ext cx="7823299" cy="688777"/>
          </a:xfrm>
          <a:prstGeom prst="roundRect">
            <a:avLst>
              <a:gd name="adj" fmla="val 11063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1482626"/>
            <a:ext cx="7513421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إجماع بحثي مصري: 13 دراسة من 13 (100%)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تؤكد وجود فجوة مهارات لدى الخريجين — في المهارات السلوكية والإدارية والتطبيقية.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8950" y="1761827"/>
            <a:ext cx="75134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5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Consensus.app meta-analysis, N=13 دراسة مصرية (Ghimire et al., 2022؛ Ahmed, 2020؛ Nassef, 2016)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60350" y="2272903"/>
            <a:ext cx="2489299" cy="1746052"/>
          </a:xfrm>
          <a:prstGeom prst="roundRect">
            <a:avLst>
              <a:gd name="adj" fmla="val 5819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2671" y="2501503"/>
            <a:ext cx="2124658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42671" y="3110954"/>
            <a:ext cx="21246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بطالة خريجي الجامعات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2671" y="3358604"/>
            <a:ext cx="21246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مقابل 6% إجمالي القوى العاملة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42671" y="3514130"/>
            <a:ext cx="21246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3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CAPMAS · الربع الأول ٢٠٢٦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327350" y="2272903"/>
            <a:ext cx="2489299" cy="1746052"/>
          </a:xfrm>
          <a:prstGeom prst="roundRect">
            <a:avLst>
              <a:gd name="adj" fmla="val 5819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09671" y="2501503"/>
            <a:ext cx="2124658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509671" y="3110954"/>
            <a:ext cx="21246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أصحاب عمل لا يجدون المهارات المطلوبة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9671" y="3358604"/>
            <a:ext cx="21246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ويقول 41% إنها تحدٍّ رئيسي في التوظيف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09671" y="3514130"/>
            <a:ext cx="21246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3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استطلاع Nexford · ٢٠٢٦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94350" y="2272903"/>
            <a:ext cx="2489299" cy="1746052"/>
          </a:xfrm>
          <a:prstGeom prst="roundRect">
            <a:avLst>
              <a:gd name="adj" fmla="val 5819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76671" y="2501503"/>
            <a:ext cx="2124658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176671" y="3110954"/>
            <a:ext cx="21246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Bef>
                <a:spcPts val="8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أصحاب عمل يعرضون وظائف بعد التدريب الميداني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6671" y="3530054"/>
            <a:ext cx="21246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7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و51% مستعدون لتمويل برامج التدريب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176671" y="3685580"/>
            <a:ext cx="21246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700" dirty="0">
                <a:solidFill>
                  <a:srgbClr val="3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مراجعات دولية للتعلّم المبني على العمل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03599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0C1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406301"/>
            <a:ext cx="79797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 · الحل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0350" y="606326"/>
            <a:ext cx="79797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جاهزون — تدريب حقيقي، يُثبَت بالكاميرا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0350" y="1355527"/>
            <a:ext cx="2476649" cy="1878360"/>
          </a:xfrm>
          <a:prstGeom prst="roundRect">
            <a:avLst>
              <a:gd name="adj" fmla="val 5409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1634877"/>
            <a:ext cx="2059838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8950" y="2066627"/>
            <a:ext cx="20598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التحاق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8950" y="2368153"/>
            <a:ext cx="2059838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شباب جامعي من ٣ كليات ينضمون إلى شركات مضيفة حقيقية لمدة شهر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14700" y="1355527"/>
            <a:ext cx="2476649" cy="1878360"/>
          </a:xfrm>
          <a:prstGeom prst="roundRect">
            <a:avLst>
              <a:gd name="adj" fmla="val 5409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43300" y="1634877"/>
            <a:ext cx="2059838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43300" y="2066627"/>
            <a:ext cx="20598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تدريب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3300" y="2368153"/>
            <a:ext cx="2059838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واقعية داخل بيئة عمل فعلية — تحت إشراف مباشر ومتابعة يومية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69050" y="1355527"/>
            <a:ext cx="2514749" cy="1878360"/>
          </a:xfrm>
          <a:prstGeom prst="roundRect">
            <a:avLst>
              <a:gd name="adj" fmla="val 5409"/>
            </a:avLst>
          </a:prstGeom>
          <a:solidFill>
            <a:srgbClr val="131F33"/>
          </a:solidFill>
          <a:ln w="19050">
            <a:solidFill>
              <a:srgbClr val="C8A2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6700" y="1653927"/>
            <a:ext cx="2059838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6700" y="2085677"/>
            <a:ext cx="20598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إثبات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6700" y="2387203"/>
            <a:ext cx="2059838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امتحان مُصوَّر أمام لجنة — الأداء الفعلي يُحوَّل إلى دليل وشهادة يثق بها صاحب العمل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350" y="3513237"/>
            <a:ext cx="7823299" cy="672852"/>
          </a:xfrm>
          <a:prstGeom prst="roundRect">
            <a:avLst>
              <a:gd name="adj" fmla="val 11325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19014" y="3690937"/>
            <a:ext cx="0" cy="317450"/>
          </a:xfrm>
          <a:prstGeom prst="line">
            <a:avLst/>
          </a:prstGeom>
          <a:noFill/>
          <a:ln w="9525">
            <a:solidFill>
              <a:srgbClr val="2A3F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9455" y="3690937"/>
            <a:ext cx="248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الوزارة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9455" y="3884563"/>
            <a:ext cx="2480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تُمكِّن وتموِّل وترعى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360688" y="3690937"/>
            <a:ext cx="0" cy="317450"/>
          </a:xfrm>
          <a:prstGeom prst="line">
            <a:avLst/>
          </a:prstGeom>
          <a:noFill/>
          <a:ln w="9525">
            <a:solidFill>
              <a:srgbClr val="2A3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41129" y="3690937"/>
            <a:ext cx="248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الشركات المضيفة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41129" y="3884563"/>
            <a:ext cx="2480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تُدرِّب عينيًا وتوظِّف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73278" y="3690937"/>
            <a:ext cx="248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MBK Education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73278" y="3884563"/>
            <a:ext cx="2480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تُشغِّل وتنتج وتقيِّم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03599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0C1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406301"/>
            <a:ext cx="79797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٠٤ · المنهجية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0350" y="606326"/>
            <a:ext cx="79797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2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٨ أسابيع — ٥ مراحل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99009" y="1584127"/>
            <a:ext cx="5945981" cy="25301"/>
          </a:xfrm>
          <a:prstGeom prst="rect">
            <a:avLst/>
          </a:prstGeom>
          <a:solidFill>
            <a:srgbClr val="2A3F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90340" y="14317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3F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18451" y="1531739"/>
            <a:ext cx="4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283497" y="1863477"/>
            <a:ext cx="318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٠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248430" y="2031653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التحضير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96469" y="2215753"/>
            <a:ext cx="14923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توقيع الاتفاقات · اختيار الكليات والشركات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854970" y="14317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3F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83081" y="1531739"/>
            <a:ext cx="4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96817" y="1863477"/>
            <a:ext cx="4211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١–٢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817918" y="2031653"/>
            <a:ext cx="378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الالتحاق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61100" y="2215753"/>
            <a:ext cx="14923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انضمام الشباب للشركات · بدء التهيئة المهنية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419600" y="14317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3F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47711" y="1531739"/>
            <a:ext cx="4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361447" y="1863477"/>
            <a:ext cx="4211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٣–٥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176852" y="2031653"/>
            <a:ext cx="7902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التدريب الميداني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25730" y="2215753"/>
            <a:ext cx="14923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مهام واقعية داخل الشركة · إشراف مستمر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4230" y="14317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8A2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12341" y="1531739"/>
            <a:ext cx="4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3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77387" y="1863477"/>
            <a:ext cx="318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٦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746340" y="2031653"/>
            <a:ext cx="7805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8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الامتحان المُصوَّر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90360" y="2215753"/>
            <a:ext cx="14923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أمام لجنة وكاميرا · إثبات لا يُجامَل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548860" y="14317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3F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676971" y="1531739"/>
            <a:ext cx="485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490707" y="1863477"/>
            <a:ext cx="4211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٧–٨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354690" y="2031653"/>
            <a:ext cx="6931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التقييم والنشر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54990" y="2215753"/>
            <a:ext cx="14923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منح الشهادات · قياس النتائج · بثّ الحلقة الختامية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60350" y="4013448"/>
            <a:ext cx="7823299" cy="774502"/>
          </a:xfrm>
          <a:prstGeom prst="roundRect">
            <a:avLst>
              <a:gd name="adj" fmla="val 9839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14251" y="4165848"/>
            <a:ext cx="74618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المهارات المُكتسبة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14251" y="4391174"/>
            <a:ext cx="606326" cy="244376"/>
          </a:xfrm>
          <a:prstGeom prst="roundRect">
            <a:avLst>
              <a:gd name="adj" fmla="val 20788"/>
            </a:avLst>
          </a:prstGeom>
          <a:solidFill>
            <a:srgbClr val="1C2B45"/>
          </a:solidFill>
          <a:ln w="9525">
            <a:solidFill>
              <a:srgbClr val="2A3F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50727" y="4451449"/>
            <a:ext cx="340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622078" y="4391174"/>
            <a:ext cx="872728" cy="244376"/>
          </a:xfrm>
          <a:prstGeom prst="roundRect">
            <a:avLst>
              <a:gd name="adj" fmla="val 20788"/>
            </a:avLst>
          </a:prstGeom>
          <a:solidFill>
            <a:srgbClr val="1C2B45"/>
          </a:solidFill>
          <a:ln w="9525">
            <a:solidFill>
              <a:srgbClr val="2A3F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758553" y="4451449"/>
            <a:ext cx="6117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 المشكلات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96307" y="4391174"/>
            <a:ext cx="777478" cy="244376"/>
          </a:xfrm>
          <a:prstGeom prst="roundRect">
            <a:avLst>
              <a:gd name="adj" fmla="val 20788"/>
            </a:avLst>
          </a:prstGeom>
          <a:solidFill>
            <a:srgbClr val="1C2B45"/>
          </a:solidFill>
          <a:ln w="9525">
            <a:solidFill>
              <a:srgbClr val="2A3F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732782" y="4451449"/>
            <a:ext cx="5146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الوقت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5286" y="4391174"/>
            <a:ext cx="634901" cy="244376"/>
          </a:xfrm>
          <a:prstGeom prst="roundRect">
            <a:avLst>
              <a:gd name="adj" fmla="val 20788"/>
            </a:avLst>
          </a:prstGeom>
          <a:solidFill>
            <a:srgbClr val="1C2B45"/>
          </a:solidFill>
          <a:ln w="9525">
            <a:solidFill>
              <a:srgbClr val="2A3F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611761" y="4451449"/>
            <a:ext cx="3691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التخطيط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11687" y="4391174"/>
            <a:ext cx="901303" cy="244376"/>
          </a:xfrm>
          <a:prstGeom prst="roundRect">
            <a:avLst>
              <a:gd name="adj" fmla="val 20788"/>
            </a:avLst>
          </a:prstGeom>
          <a:solidFill>
            <a:srgbClr val="1C2B45"/>
          </a:solidFill>
          <a:ln w="9525">
            <a:solidFill>
              <a:srgbClr val="2A3F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348163" y="4451449"/>
            <a:ext cx="6409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 الجماعي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14491" y="4391174"/>
            <a:ext cx="1015603" cy="244376"/>
          </a:xfrm>
          <a:prstGeom prst="roundRect">
            <a:avLst>
              <a:gd name="adj" fmla="val 20788"/>
            </a:avLst>
          </a:prstGeom>
          <a:solidFill>
            <a:srgbClr val="1C2B45"/>
          </a:solidFill>
          <a:ln w="9525">
            <a:solidFill>
              <a:srgbClr val="2A3F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350966" y="4451449"/>
            <a:ext cx="75750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المشروعات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331595" y="4391174"/>
            <a:ext cx="872728" cy="244376"/>
          </a:xfrm>
          <a:prstGeom prst="roundRect">
            <a:avLst>
              <a:gd name="adj" fmla="val 20788"/>
            </a:avLst>
          </a:prstGeom>
          <a:solidFill>
            <a:srgbClr val="1C2B45"/>
          </a:solidFill>
          <a:ln w="9525">
            <a:solidFill>
              <a:srgbClr val="2A3F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468070" y="4451449"/>
            <a:ext cx="6117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التفكير النقدي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03599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0C1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406301"/>
            <a:ext cx="79797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٠٥ · الأثر المتوقع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0350" y="606326"/>
            <a:ext cx="79797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٤٥ شابًا إلى برنامج وطني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0350" y="1330226"/>
            <a:ext cx="2489299" cy="2022277"/>
          </a:xfrm>
          <a:prstGeom prst="roundRect">
            <a:avLst>
              <a:gd name="adj" fmla="val 5024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501" y="1584127"/>
            <a:ext cx="21246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قصير المدى · ٠–٦ أشهر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3501" y="1784152"/>
            <a:ext cx="21246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التجريبية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3501" y="2136577"/>
            <a:ext cx="2082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 جامعة · ٣ كليات</a:t>
            </a:r>
            <a:endParaRPr lang="en-US" sz="9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 شركة مضيفة</a:t>
            </a:r>
            <a:endParaRPr lang="en-US" sz="9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٤٥ شابًا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3501" y="2974777"/>
            <a:ext cx="21246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8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مُثبَت وقابل للتكرار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27350" y="1330226"/>
            <a:ext cx="2489299" cy="2022277"/>
          </a:xfrm>
          <a:prstGeom prst="roundRect">
            <a:avLst>
              <a:gd name="adj" fmla="val 5024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30501" y="1584127"/>
            <a:ext cx="21246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المدى · ٦–١٨ شهرًا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30501" y="1784152"/>
            <a:ext cx="21246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التوسّع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30501" y="2136577"/>
            <a:ext cx="2082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 جامعات</a:t>
            </a:r>
            <a:endParaRPr lang="en-US" sz="9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حتى ١٠ شركات</a:t>
            </a:r>
            <a:endParaRPr lang="en-US" sz="9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~٥٠٠ شاب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30501" y="2974777"/>
            <a:ext cx="21246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8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توظيف مقاسة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94350" y="1330226"/>
            <a:ext cx="2489299" cy="2022277"/>
          </a:xfrm>
          <a:prstGeom prst="roundRect">
            <a:avLst>
              <a:gd name="adj" fmla="val 5024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7501" y="1584127"/>
            <a:ext cx="21246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طويل المدى · ١٨–٣٦ شهرًا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97501" y="1784152"/>
            <a:ext cx="21246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الوطني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7501" y="2136577"/>
            <a:ext cx="2082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١٥+ جامعة</a:t>
            </a:r>
            <a:endParaRPr lang="en-US" sz="9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١٢+ محافظة</a:t>
            </a:r>
            <a:endParaRPr lang="en-US" sz="9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 سنويًا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97501" y="2974777"/>
            <a:ext cx="212465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برنامج وطني مدمج مع الوزارة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0350" y="3606403"/>
            <a:ext cx="1948755" cy="736550"/>
          </a:xfrm>
          <a:prstGeom prst="roundRect">
            <a:avLst>
              <a:gd name="adj" fmla="val 10346"/>
            </a:avLst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6311" y="3758803"/>
            <a:ext cx="16768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60%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96311" y="4066729"/>
            <a:ext cx="16768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جاهزية للتوظيف خلال ٦ أشهر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09106" y="3606403"/>
            <a:ext cx="1958280" cy="736550"/>
          </a:xfrm>
          <a:prstGeom prst="rect">
            <a:avLst/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2613868" y="3606403"/>
            <a:ext cx="0" cy="736550"/>
          </a:xfrm>
          <a:prstGeom prst="line">
            <a:avLst/>
          </a:prstGeom>
          <a:noFill/>
          <a:ln w="9525">
            <a:solidFill>
              <a:srgbClr val="2A3F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4591" y="3758803"/>
            <a:ext cx="16768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40%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2754591" y="4066729"/>
            <a:ext cx="16768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التدريب إلى عرض عمل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67386" y="3606403"/>
            <a:ext cx="1958280" cy="736550"/>
          </a:xfrm>
          <a:prstGeom prst="rect">
            <a:avLst/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72149" y="3606403"/>
            <a:ext cx="0" cy="736550"/>
          </a:xfrm>
          <a:prstGeom prst="line">
            <a:avLst/>
          </a:prstGeom>
          <a:noFill/>
          <a:ln w="9525">
            <a:solidFill>
              <a:srgbClr val="2A3F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2872" y="3758803"/>
            <a:ext cx="16768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712872" y="4066729"/>
            <a:ext cx="16768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إتمام الشهادة المهارية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25667" y="3606403"/>
            <a:ext cx="1958280" cy="736550"/>
          </a:xfrm>
          <a:prstGeom prst="rect">
            <a:avLst/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530429" y="3606403"/>
            <a:ext cx="0" cy="736550"/>
          </a:xfrm>
          <a:prstGeom prst="line">
            <a:avLst/>
          </a:prstGeom>
          <a:noFill/>
          <a:ln w="9525">
            <a:solidFill>
              <a:srgbClr val="2A3F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1152" y="3758803"/>
            <a:ext cx="16768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85%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671152" y="4066729"/>
            <a:ext cx="16768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رضا جهات التشغيل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0350" y="4444454"/>
            <a:ext cx="79797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700" dirty="0">
                <a:solidFill>
                  <a:srgbClr val="3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المرجع: ~٣.٦ مليون طالب في التعليم العالي · ٧٣ جامعة (المجلس الأعلى للجامعات)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03599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0C1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406301"/>
            <a:ext cx="79797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٠٦ · التوقعات المالية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0350" y="606326"/>
            <a:ext cx="79797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الربحية — ١٠ سنوات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60350" y="4784824"/>
            <a:ext cx="79797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700" dirty="0">
                <a:solidFill>
                  <a:srgbClr val="3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مالي مبدئي قائم على تكلفة الدورة التجريبية (٤٥ شابًا) مع معدل نمو سنوي ٤٠٪ · للإطار التشاوري فقط</a:t>
            </a:r>
            <a:endParaRPr lang="en-US" sz="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60350" y="1254026"/>
          <a:ext cx="7823299" cy="3403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03599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0C15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584150"/>
            <a:ext cx="1427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MBK EDUCATION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63284" y="507950"/>
            <a:ext cx="1020366" cy="295275"/>
          </a:xfrm>
          <a:prstGeom prst="roundRect">
            <a:avLst>
              <a:gd name="adj" fmla="val 17204"/>
            </a:avLst>
          </a:prstGeom>
          <a:noFill/>
          <a:ln w="9525">
            <a:solidFill>
              <a:srgbClr val="3A507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50510" y="593675"/>
            <a:ext cx="6588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A5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شعار الوزارة ]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0350" y="1158776"/>
            <a:ext cx="79797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900" dirty="0">
                <a:solidFill>
                  <a:srgbClr val="80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0350" y="1495276"/>
            <a:ext cx="7823299" cy="1485602"/>
          </a:xfrm>
          <a:prstGeom prst="rect">
            <a:avLst/>
          </a:prstGeom>
          <a:solidFill>
            <a:srgbClr val="131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459837" y="1495276"/>
            <a:ext cx="0" cy="1485602"/>
          </a:xfrm>
          <a:prstGeom prst="line">
            <a:avLst/>
          </a:prstGeom>
          <a:noFill/>
          <a:ln w="47625">
            <a:solidFill>
              <a:srgbClr val="C8A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5901" y="1850827"/>
            <a:ext cx="7154100" cy="36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9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رعاية الوزارة وتمويلها للمرحلة التجريبية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15901" y="2344787"/>
            <a:ext cx="7154100" cy="28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والوصول إلى جامعة شريكة بثلاث كليات، عبر وحدات التضامن الاجتماعي بالجامعات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0350" y="3285679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251" y="3323779"/>
            <a:ext cx="1246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متوافق مع رؤية مصر ٢٠٣٠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92276" y="3285679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6177" y="3323779"/>
            <a:ext cx="2419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امتداد طبيعي لبرنامج «فرصة» وقمة START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74196" y="3285679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28097" y="3323779"/>
            <a:ext cx="2014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0C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يبني على منظومة قائمة، ولا يبدأ من الصفر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350" y="4613374"/>
            <a:ext cx="10384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نتطلع إلى شرف تعاونكم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66222" y="4613374"/>
            <a:ext cx="25677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gadalla111@gmail.com · MBK Education · جاهزون ٢٠٢٦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جاهزون — مقترح شراكة</dc:title>
  <dc:subject>PptxGenJS Presentation</dc:subject>
  <dc:creator>MBK Education</dc:creator>
  <cp:lastModifiedBy>MBK Education</cp:lastModifiedBy>
  <cp:revision>1</cp:revision>
  <dcterms:created xsi:type="dcterms:W3CDTF">2026-07-10T11:45:00Z</dcterms:created>
  <dcterms:modified xsi:type="dcterms:W3CDTF">2026-07-10T11:45:00Z</dcterms:modified>
</cp:coreProperties>
</file>