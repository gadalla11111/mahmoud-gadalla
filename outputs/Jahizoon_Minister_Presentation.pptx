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معدل البطالة %</c:v>
                </c:pt>
              </c:strCache>
            </c:strRef>
          </c:tx>
          <c:spPr>
            <a:solidFill>
              <a:srgbClr val="C8A24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A24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4232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إجمالي سوق العمل</c:v>
                  </c:pt>
                  <c:pt idx="1">
                    <c:v>خريجو الجامعات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</c:v>
                </c:pt>
                <c:pt idx="1">
                  <c:v>41.5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داخل جديد سنوياً (ألف)</c:v>
                </c:pt>
              </c:strCache>
            </c:strRef>
          </c:tx>
          <c:spPr>
            <a:solidFill>
              <a:srgbClr val="A423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2000</c:v>
                  </c:pt>
                  <c:pt idx="1">
                    <c:v>2005</c:v>
                  </c:pt>
                  <c:pt idx="2">
                    <c:v>2010</c:v>
                  </c:pt>
                  <c:pt idx="3">
                    <c:v>2015</c:v>
                  </c:pt>
                  <c:pt idx="4">
                    <c:v>2020</c:v>
                  </c:pt>
                  <c:pt idx="5">
                    <c:v>2025</c:v>
                  </c:pt>
                  <c:pt idx="6">
                    <c:v>2030</c:v>
                  </c:pt>
                  <c:pt idx="7">
                    <c:v>2035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380</c:v>
                </c:pt>
                <c:pt idx="1">
                  <c:v>420</c:v>
                </c:pt>
                <c:pt idx="2">
                  <c:v>470</c:v>
                </c:pt>
                <c:pt idx="3">
                  <c:v>510</c:v>
                </c:pt>
                <c:pt idx="4">
                  <c:v>575</c:v>
                </c:pt>
                <c:pt idx="5">
                  <c:v>620</c:v>
                </c:pt>
                <c:pt idx="6">
                  <c:v>750</c:v>
                </c:pt>
                <c:pt idx="7">
                  <c:v>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توزيع الإيرادات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A24C"/>
              </a:solidFill>
              <a:effectLst/>
            </c:spPr>
          </c:dPt>
          <c:dPt>
            <c:idx val="1"/>
            <c:bubble3D val="0"/>
            <c:spPr>
              <a:solidFill>
                <a:srgbClr val="A4232A"/>
              </a:solidFill>
              <a:effectLst/>
            </c:spPr>
          </c:dPt>
          <c:dPt>
            <c:idx val="2"/>
            <c:bubble3D val="0"/>
            <c:spPr>
              <a:solidFill>
                <a:srgbClr val="55555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شراكات مؤسسية 40%</c:v>
                </c:pt>
                <c:pt idx="1">
                  <c:v>إنتاج إعلامي 35%</c:v>
                </c:pt>
                <c:pt idx="2">
                  <c:v>عقود حكومية 25%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الإيراد (مليون ج.م.)</c:v>
                </c:pt>
              </c:strCache>
            </c:strRef>
          </c:tx>
          <c:spPr>
            <a:solidFill>
              <a:srgbClr val="C8A24C"/>
            </a:solidFill>
            <a:ln w="38100" cap="flat">
              <a:solidFill>
                <a:srgbClr val="C8A2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A24C"/>
              </a:solidFill>
              <a:ln w="9525" cap="flat">
                <a:solidFill>
                  <a:srgbClr val="C8A2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</c:v>
                </c:pt>
                <c:pt idx="1">
                  <c:v>5</c:v>
                </c:pt>
                <c:pt idx="2">
                  <c:v>9.2</c:v>
                </c:pt>
                <c:pt idx="3">
                  <c:v>15.8</c:v>
                </c:pt>
                <c:pt idx="4">
                  <c:v>24</c:v>
                </c:pt>
                <c:pt idx="5">
                  <c:v>36.5</c:v>
                </c:pt>
                <c:pt idx="6">
                  <c:v>52</c:v>
                </c:pt>
                <c:pt idx="7">
                  <c:v>71</c:v>
                </c:pt>
                <c:pt idx="8">
                  <c:v>93</c:v>
                </c:pt>
                <c:pt idx="9">
                  <c:v>115</c:v>
                </c:pt>
                <c:pt idx="10">
                  <c:v>132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(مليون ج.م.)</c:v>
                </c:pt>
              </c:strCache>
            </c:strRef>
          </c:tx>
          <c:spPr>
            <a:solidFill>
              <a:srgbClr val="A4232A"/>
            </a:solidFill>
            <a:ln w="38100" cap="flat">
              <a:solidFill>
                <a:srgbClr val="A423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4232A"/>
              </a:solidFill>
              <a:ln w="9525" cap="flat">
                <a:solidFill>
                  <a:srgbClr val="A423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-1.2</c:v>
                </c:pt>
                <c:pt idx="1">
                  <c:v>-0.5</c:v>
                </c:pt>
                <c:pt idx="2">
                  <c:v>0.8</c:v>
                </c:pt>
                <c:pt idx="3">
                  <c:v>4.2</c:v>
                </c:pt>
                <c:pt idx="4">
                  <c:v>8.5</c:v>
                </c:pt>
                <c:pt idx="5">
                  <c:v>16</c:v>
                </c:pt>
                <c:pt idx="6">
                  <c:v>26</c:v>
                </c:pt>
                <c:pt idx="7">
                  <c:v>38.5</c:v>
                </c:pt>
                <c:pt idx="8">
                  <c:v>52</c:v>
                </c:pt>
                <c:pt idx="9">
                  <c:v>68</c:v>
                </c:pt>
                <c:pt idx="10">
                  <c:v>68.6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2A2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1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457200" y="1257300"/>
          <a:ext cx="5524500" cy="25717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457200" y="1028700"/>
          <a:ext cx="5334000" cy="27622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457200" y="1028700"/>
          <a:ext cx="4762500" cy="3238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457200" y="1600200"/>
          <a:ext cx="8229600" cy="2667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JAHIZOON — Egypt National Youth Work-Readiness Programme</dc:title>
  <dc:subject>PptxGenJS Presentation</dc:subject>
  <dc:creator>YM4 Education</dc:creator>
  <cp:lastModifiedBy>YM4 Education</cp:lastModifiedBy>
  <cp:revision>1</cp:revision>
  <dcterms:created xsi:type="dcterms:W3CDTF">2026-06-28T01:29:03Z</dcterms:created>
  <dcterms:modified xsi:type="dcterms:W3CDTF">2026-06-28T01:29:03Z</dcterms:modified>
</cp:coreProperties>
</file>