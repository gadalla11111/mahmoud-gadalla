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4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Unemployment Rate (%)</c:v>
                </c:pt>
              </c:strCache>
            </c:strRef>
          </c:tx>
          <c:spPr>
            <a:solidFill>
              <a:srgbClr val="C8A24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8A24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4232A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Total Labour Force</c:v>
                  </c:pt>
                  <c:pt idx="1">
                    <c:v>Graduate (University)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</c:v>
                </c:pt>
                <c:pt idx="1">
                  <c:v>41.5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4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FFFFF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New Entrants/Year (thousands)</c:v>
                </c:pt>
              </c:strCache>
            </c:strRef>
          </c:tx>
          <c:spPr>
            <a:solidFill>
              <a:srgbClr val="A4232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2000</c:v>
                  </c:pt>
                  <c:pt idx="1">
                    <c:v>2005</c:v>
                  </c:pt>
                  <c:pt idx="2">
                    <c:v>2010</c:v>
                  </c:pt>
                  <c:pt idx="3">
                    <c:v>2015</c:v>
                  </c:pt>
                  <c:pt idx="4">
                    <c:v>2020</c:v>
                  </c:pt>
                  <c:pt idx="5">
                    <c:v>2025</c:v>
                  </c:pt>
                  <c:pt idx="6">
                    <c:v>2030</c:v>
                  </c:pt>
                  <c:pt idx="7">
                    <c:v>2035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380</c:v>
                </c:pt>
                <c:pt idx="1">
                  <c:v>420</c:v>
                </c:pt>
                <c:pt idx="2">
                  <c:v>470</c:v>
                </c:pt>
                <c:pt idx="3">
                  <c:v>510</c:v>
                </c:pt>
                <c:pt idx="4">
                  <c:v>575</c:v>
                </c:pt>
                <c:pt idx="5">
                  <c:v>620</c:v>
                </c:pt>
                <c:pt idx="6">
                  <c:v>750</c:v>
                </c:pt>
                <c:pt idx="7">
                  <c:v>800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FFFF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Revenue Mix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8A24C"/>
              </a:solidFill>
              <a:effectLst/>
            </c:spPr>
          </c:dPt>
          <c:dPt>
            <c:idx val="1"/>
            <c:bubble3D val="0"/>
            <c:spPr>
              <a:solidFill>
                <a:srgbClr val="A4232A"/>
              </a:solidFill>
              <a:effectLst/>
            </c:spPr>
          </c:dPt>
          <c:dPt>
            <c:idx val="2"/>
            <c:bubble3D val="0"/>
            <c:spPr>
              <a:solidFill>
                <a:srgbClr val="555555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4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4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4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Corporate
Partnership 40%</c:v>
                </c:pt>
                <c:pt idx="1">
                  <c:v>Media &amp;
Production 35%</c:v>
                </c:pt>
                <c:pt idx="2">
                  <c:v>Government &amp;
Institutional 25%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40</c:v>
                </c:pt>
                <c:pt idx="1">
                  <c:v>35</c:v>
                </c:pt>
                <c:pt idx="2">
                  <c:v>25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300">
              <a:solidFill>
                <a:srgbClr val="FFFFFF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(EGP M)</c:v>
                </c:pt>
              </c:strCache>
            </c:strRef>
          </c:tx>
          <c:spPr>
            <a:solidFill>
              <a:srgbClr val="C8A24C"/>
            </a:solidFill>
            <a:ln w="38100" cap="flat">
              <a:solidFill>
                <a:srgbClr val="C8A2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8A24C"/>
              </a:solidFill>
              <a:ln w="9525" cap="flat">
                <a:solidFill>
                  <a:srgbClr val="C8A24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  <c:pt idx="8">
                    <c:v>2033</c:v>
                  </c:pt>
                  <c:pt idx="9">
                    <c:v>2034</c:v>
                  </c:pt>
                  <c:pt idx="10">
                    <c:v>2035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2.5</c:v>
                </c:pt>
                <c:pt idx="1">
                  <c:v>5</c:v>
                </c:pt>
                <c:pt idx="2">
                  <c:v>9.2</c:v>
                </c:pt>
                <c:pt idx="3">
                  <c:v>15.8</c:v>
                </c:pt>
                <c:pt idx="4">
                  <c:v>24</c:v>
                </c:pt>
                <c:pt idx="5">
                  <c:v>36.5</c:v>
                </c:pt>
                <c:pt idx="6">
                  <c:v>52</c:v>
                </c:pt>
                <c:pt idx="7">
                  <c:v>71</c:v>
                </c:pt>
                <c:pt idx="8">
                  <c:v>93</c:v>
                </c:pt>
                <c:pt idx="9">
                  <c:v>115</c:v>
                </c:pt>
                <c:pt idx="10">
                  <c:v>132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EBITDA (EGP M)</c:v>
                </c:pt>
              </c:strCache>
            </c:strRef>
          </c:tx>
          <c:spPr>
            <a:solidFill>
              <a:srgbClr val="A4232A"/>
            </a:solidFill>
            <a:ln w="38100" cap="flat">
              <a:solidFill>
                <a:srgbClr val="A4232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A4232A"/>
              </a:solidFill>
              <a:ln w="9525" cap="flat">
                <a:solidFill>
                  <a:srgbClr val="A4232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  <c:pt idx="8">
                    <c:v>2033</c:v>
                  </c:pt>
                  <c:pt idx="9">
                    <c:v>2034</c:v>
                  </c:pt>
                  <c:pt idx="10">
                    <c:v>2035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-1.2</c:v>
                </c:pt>
                <c:pt idx="1">
                  <c:v>-0.5</c:v>
                </c:pt>
                <c:pt idx="2">
                  <c:v>0.8</c:v>
                </c:pt>
                <c:pt idx="3">
                  <c:v>4.2</c:v>
                </c:pt>
                <c:pt idx="4">
                  <c:v>8.5</c:v>
                </c:pt>
                <c:pt idx="5">
                  <c:v>16</c:v>
                </c:pt>
                <c:pt idx="6">
                  <c:v>26</c:v>
                </c:pt>
                <c:pt idx="7">
                  <c:v>38.5</c:v>
                </c:pt>
                <c:pt idx="8">
                  <c:v>52</c:v>
                </c:pt>
                <c:pt idx="9">
                  <c:v>68</c:v>
                </c:pt>
                <c:pt idx="10">
                  <c:v>68.6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FFFF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2A2A2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FFFF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FFFFFF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0E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7150"/>
          </a:xfrm>
          <a:prstGeom prst="rect">
            <a:avLst/>
          </a:prstGeom>
          <a:solidFill>
            <a:srgbClr val="C8A24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47625" cy="5143500"/>
          </a:xfrm>
          <a:prstGeom prst="rect">
            <a:avLst/>
          </a:prstGeom>
          <a:solidFill>
            <a:srgbClr val="A423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7620744" y="190500"/>
            <a:ext cx="124282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25" dirty="0">
                <a:solidFill>
                  <a:srgbClr val="C8A24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YM4 EDUCATION</a:t>
            </a:r>
            <a:endParaRPr lang="en-US" sz="825" dirty="0"/>
          </a:p>
        </p:txBody>
      </p:sp>
      <p:sp>
        <p:nvSpPr>
          <p:cNvPr id="5" name="Text 3"/>
          <p:cNvSpPr/>
          <p:nvPr/>
        </p:nvSpPr>
        <p:spPr>
          <a:xfrm>
            <a:off x="571500" y="1143000"/>
            <a:ext cx="5440984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C8A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JAHIZOON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571500" y="2190750"/>
            <a:ext cx="1117283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جاهزون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571500" y="2667000"/>
            <a:ext cx="305294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C8A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برنامج التأهيل الوظيفي الوطني للشباب المصري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71500" y="3238500"/>
            <a:ext cx="3810000" cy="9525"/>
          </a:xfrm>
          <a:prstGeom prst="rect">
            <a:avLst/>
          </a:prstGeom>
          <a:solidFill>
            <a:srgbClr val="C8A24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71500" y="3390900"/>
            <a:ext cx="25231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88888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تقديم إلى: وزارة التضامن الاجتماعي · يونيو 2026</a:t>
            </a:r>
            <a:endParaRPr lang="en-US" sz="975" dirty="0"/>
          </a:p>
        </p:txBody>
      </p:sp>
      <p:sp>
        <p:nvSpPr>
          <p:cNvPr id="10" name="Text 8"/>
          <p:cNvSpPr/>
          <p:nvPr/>
        </p:nvSpPr>
        <p:spPr>
          <a:xfrm>
            <a:off x="0" y="5105400"/>
            <a:ext cx="9144000" cy="38100"/>
          </a:xfrm>
          <a:prstGeom prst="rect">
            <a:avLst/>
          </a:prstGeom>
          <a:solidFill>
            <a:srgbClr val="A423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676180" y="1714500"/>
            <a:ext cx="3779937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0"/>
              </a:lnSpc>
              <a:buNone/>
            </a:pPr>
            <a:r>
              <a:rPr lang="en-US" sz="15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30M</a:t>
            </a:r>
            <a:endParaRPr lang="en-US" sz="15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0E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47625"/>
          </a:xfrm>
          <a:prstGeom prst="rect">
            <a:avLst/>
          </a:prstGeom>
          <a:solidFill>
            <a:srgbClr val="C8A24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266700"/>
            <a:ext cx="110817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C8A24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CRISIS</a:t>
            </a:r>
            <a:endParaRPr lang="en-US" sz="975" dirty="0"/>
          </a:p>
        </p:txBody>
      </p:sp>
      <p:sp>
        <p:nvSpPr>
          <p:cNvPr id="4" name="Text 2"/>
          <p:cNvSpPr/>
          <p:nvPr/>
        </p:nvSpPr>
        <p:spPr>
          <a:xfrm>
            <a:off x="457200" y="495300"/>
            <a:ext cx="658619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مصر لديها فائض من الشباب · وعجز في التوظيف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457200" y="1238250"/>
            <a:ext cx="252603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400"/>
              </a:lnSpc>
              <a:buNone/>
            </a:pPr>
            <a:r>
              <a:rPr lang="en-US" sz="5400" b="1" dirty="0">
                <a:solidFill>
                  <a:srgbClr val="C8A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30M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457200" y="2000250"/>
            <a:ext cx="252603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12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شاب مصري في سوق العمل</a:t>
            </a:r>
            <a:endParaRPr lang="en-US" sz="1125" dirty="0"/>
          </a:p>
        </p:txBody>
      </p:sp>
      <p:sp>
        <p:nvSpPr>
          <p:cNvPr id="7" name="Text 5"/>
          <p:cNvSpPr/>
          <p:nvPr/>
        </p:nvSpPr>
        <p:spPr>
          <a:xfrm>
            <a:off x="457200" y="2209800"/>
            <a:ext cx="252603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25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CAPMAS 2025</a:t>
            </a:r>
            <a:endParaRPr lang="en-US" sz="825" dirty="0"/>
          </a:p>
        </p:txBody>
      </p:sp>
      <p:sp>
        <p:nvSpPr>
          <p:cNvPr id="8" name="Text 6"/>
          <p:cNvSpPr/>
          <p:nvPr/>
        </p:nvSpPr>
        <p:spPr>
          <a:xfrm>
            <a:off x="3143250" y="1333500"/>
            <a:ext cx="9525" cy="1428750"/>
          </a:xfrm>
          <a:prstGeom prst="rect">
            <a:avLst/>
          </a:prstGeom>
          <a:solidFill>
            <a:srgbClr val="2A2A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429000" y="1238250"/>
            <a:ext cx="252603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400"/>
              </a:lnSpc>
              <a:buNone/>
            </a:pPr>
            <a:r>
              <a:rPr lang="en-US" sz="5400" b="1" dirty="0">
                <a:solidFill>
                  <a:srgbClr val="A42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41.5%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3429000" y="2000250"/>
            <a:ext cx="252603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12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معدل بطالة خريجي الجامعات</a:t>
            </a:r>
            <a:endParaRPr lang="en-US" sz="1125" dirty="0"/>
          </a:p>
        </p:txBody>
      </p:sp>
      <p:sp>
        <p:nvSpPr>
          <p:cNvPr id="11" name="Text 9"/>
          <p:cNvSpPr/>
          <p:nvPr/>
        </p:nvSpPr>
        <p:spPr>
          <a:xfrm>
            <a:off x="3429000" y="2209800"/>
            <a:ext cx="252603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25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CAPMAS Q1 2026</a:t>
            </a:r>
            <a:endParaRPr lang="en-US" sz="825" dirty="0"/>
          </a:p>
        </p:txBody>
      </p:sp>
      <p:sp>
        <p:nvSpPr>
          <p:cNvPr id="12" name="Text 10"/>
          <p:cNvSpPr/>
          <p:nvPr/>
        </p:nvSpPr>
        <p:spPr>
          <a:xfrm>
            <a:off x="6096000" y="1333500"/>
            <a:ext cx="9525" cy="1428750"/>
          </a:xfrm>
          <a:prstGeom prst="rect">
            <a:avLst/>
          </a:prstGeom>
          <a:solidFill>
            <a:srgbClr val="2A2A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362700" y="1238250"/>
            <a:ext cx="252603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400"/>
              </a:lnSpc>
              <a:buNone/>
            </a:pPr>
            <a:r>
              <a:rPr lang="en-US" sz="5400" b="1" dirty="0">
                <a:solidFill>
                  <a:srgbClr val="C8A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500K</a:t>
            </a:r>
            <a:endParaRPr lang="en-US" sz="5400" dirty="0"/>
          </a:p>
        </p:txBody>
      </p:sp>
      <p:sp>
        <p:nvSpPr>
          <p:cNvPr id="14" name="Text 12"/>
          <p:cNvSpPr/>
          <p:nvPr/>
        </p:nvSpPr>
        <p:spPr>
          <a:xfrm>
            <a:off x="6362700" y="2000250"/>
            <a:ext cx="252603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12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خريج جديد كل عام</a:t>
            </a:r>
            <a:endParaRPr lang="en-US" sz="1125" dirty="0"/>
          </a:p>
        </p:txBody>
      </p:sp>
      <p:sp>
        <p:nvSpPr>
          <p:cNvPr id="15" name="Text 13"/>
          <p:cNvSpPr/>
          <p:nvPr/>
        </p:nvSpPr>
        <p:spPr>
          <a:xfrm>
            <a:off x="6362700" y="2209800"/>
            <a:ext cx="252603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25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وزارة التعليم العالي 2025</a:t>
            </a:r>
            <a:endParaRPr lang="en-US" sz="825" dirty="0"/>
          </a:p>
        </p:txBody>
      </p:sp>
      <p:sp>
        <p:nvSpPr>
          <p:cNvPr id="16" name="Text 14"/>
          <p:cNvSpPr/>
          <p:nvPr/>
        </p:nvSpPr>
        <p:spPr>
          <a:xfrm>
            <a:off x="457200" y="4676775"/>
            <a:ext cx="8229600" cy="9525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57200" y="4772025"/>
            <a:ext cx="319108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معدل البطالة الكلية: 6% فقط · الفجوة: 6.9× مقارنة بالمتوسط العام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0" y="5114925"/>
            <a:ext cx="9144000" cy="28575"/>
          </a:xfrm>
          <a:prstGeom prst="rect">
            <a:avLst/>
          </a:prstGeom>
          <a:solidFill>
            <a:srgbClr val="A423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0E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47625"/>
          </a:xfrm>
          <a:prstGeom prst="rect">
            <a:avLst/>
          </a:prstGeom>
          <a:solidFill>
            <a:srgbClr val="C8A24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266700"/>
            <a:ext cx="219099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C8A24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RESEARCH CONSENSUS</a:t>
            </a:r>
            <a:endParaRPr lang="en-US" sz="975" dirty="0"/>
          </a:p>
        </p:txBody>
      </p:sp>
      <p:sp>
        <p:nvSpPr>
          <p:cNvPr id="4" name="Text 2"/>
          <p:cNvSpPr/>
          <p:nvPr/>
        </p:nvSpPr>
        <p:spPr>
          <a:xfrm>
            <a:off x="457200" y="495300"/>
            <a:ext cx="3000268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دراسة · نتيجة واحدة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563499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900" b="1" dirty="0">
                <a:solidFill>
                  <a:srgbClr val="C8A24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457200" y="1485900"/>
            <a:ext cx="563499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75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الخريجون يفتقرون إلى المهارات الوظيفية الأساسية التي يحتاجها سوق العمل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457200" y="2266950"/>
            <a:ext cx="563499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buNone/>
            </a:pPr>
            <a:r>
              <a:rPr lang="en-US" sz="1050" dirty="0">
                <a:solidFill>
                  <a:srgbClr val="C8A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إجماع 13/13 دراسة · Consensus.app · 2024-2026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186488" y="1028700"/>
            <a:ext cx="0" cy="390525"/>
          </a:xfrm>
          <a:prstGeom prst="line">
            <a:avLst/>
          </a:prstGeom>
          <a:noFill/>
          <a:ln w="28575">
            <a:solidFill>
              <a:srgbClr val="C8A24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53175" y="1028700"/>
            <a:ext cx="253574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8A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المهارات الناعمة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353175" y="1276350"/>
            <a:ext cx="253574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975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التواصل · العمل الجماعي · الضغط</a:t>
            </a:r>
            <a:endParaRPr lang="en-US" sz="975" dirty="0"/>
          </a:p>
        </p:txBody>
      </p:sp>
      <p:sp>
        <p:nvSpPr>
          <p:cNvPr id="11" name="Shape 9"/>
          <p:cNvSpPr/>
          <p:nvPr/>
        </p:nvSpPr>
        <p:spPr>
          <a:xfrm>
            <a:off x="6186488" y="1609725"/>
            <a:ext cx="0" cy="390525"/>
          </a:xfrm>
          <a:prstGeom prst="line">
            <a:avLst/>
          </a:prstGeom>
          <a:noFill/>
          <a:ln w="28575">
            <a:solidFill>
              <a:srgbClr val="A423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3175" y="1609725"/>
            <a:ext cx="253574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الفجوة التقنية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353175" y="1857375"/>
            <a:ext cx="253574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975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 · العرض · الكتابة المهنية</a:t>
            </a:r>
            <a:endParaRPr lang="en-US" sz="975" dirty="0"/>
          </a:p>
        </p:txBody>
      </p:sp>
      <p:sp>
        <p:nvSpPr>
          <p:cNvPr id="14" name="Shape 12"/>
          <p:cNvSpPr/>
          <p:nvPr/>
        </p:nvSpPr>
        <p:spPr>
          <a:xfrm>
            <a:off x="6186488" y="2190750"/>
            <a:ext cx="0" cy="390525"/>
          </a:xfrm>
          <a:prstGeom prst="line">
            <a:avLst/>
          </a:prstGeom>
          <a:noFill/>
          <a:ln w="28575">
            <a:solidFill>
              <a:srgbClr val="C8A24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3175" y="2190750"/>
            <a:ext cx="253574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8A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ضعف الشبكات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353175" y="2438400"/>
            <a:ext cx="253574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975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غياب المرشدين والشبكات المهنية</a:t>
            </a:r>
            <a:endParaRPr lang="en-US" sz="975" dirty="0"/>
          </a:p>
        </p:txBody>
      </p:sp>
      <p:sp>
        <p:nvSpPr>
          <p:cNvPr id="17" name="Text 15"/>
          <p:cNvSpPr/>
          <p:nvPr/>
        </p:nvSpPr>
        <p:spPr>
          <a:xfrm>
            <a:off x="457200" y="4676775"/>
            <a:ext cx="8382000" cy="9525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457200" y="4810125"/>
            <a:ext cx="39114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25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Nexford · CAPMAS · McKinsey · ILO · World Bank · OECD · وزارة التخطيط المصرية</a:t>
            </a:r>
            <a:endParaRPr lang="en-US" sz="825" dirty="0"/>
          </a:p>
        </p:txBody>
      </p:sp>
      <p:sp>
        <p:nvSpPr>
          <p:cNvPr id="19" name="Text 17"/>
          <p:cNvSpPr/>
          <p:nvPr/>
        </p:nvSpPr>
        <p:spPr>
          <a:xfrm>
            <a:off x="0" y="5114925"/>
            <a:ext cx="9144000" cy="28575"/>
          </a:xfrm>
          <a:prstGeom prst="rect">
            <a:avLst/>
          </a:prstGeom>
          <a:solidFill>
            <a:srgbClr val="A423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0E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47625"/>
          </a:xfrm>
          <a:prstGeom prst="rect">
            <a:avLst/>
          </a:prstGeom>
          <a:solidFill>
            <a:srgbClr val="C8A24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266700"/>
            <a:ext cx="139508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C8A24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DATA GAP</a:t>
            </a:r>
            <a:endParaRPr lang="en-US" sz="975" dirty="0"/>
          </a:p>
        </p:txBody>
      </p:sp>
      <p:sp>
        <p:nvSpPr>
          <p:cNvPr id="4" name="Text 2"/>
          <p:cNvSpPr/>
          <p:nvPr/>
        </p:nvSpPr>
        <p:spPr>
          <a:xfrm>
            <a:off x="457200" y="495300"/>
            <a:ext cx="5519467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فجوة البطالة: الخريجون مقابل سوق العمل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1028700"/>
            <a:ext cx="199896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معدل البطالة %  ·  CAPMAS Q1 2026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6076950" y="1257300"/>
            <a:ext cx="2762250" cy="914400"/>
          </a:xfrm>
          <a:prstGeom prst="rect">
            <a:avLst/>
          </a:prstGeom>
          <a:solidFill>
            <a:srgbClr val="A423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229350" y="1409700"/>
            <a:ext cx="250659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الخريجون</a:t>
            </a:r>
            <a:endParaRPr lang="en-US" sz="975" dirty="0"/>
          </a:p>
        </p:txBody>
      </p:sp>
      <p:sp>
        <p:nvSpPr>
          <p:cNvPr id="8" name="Text 6"/>
          <p:cNvSpPr/>
          <p:nvPr/>
        </p:nvSpPr>
        <p:spPr>
          <a:xfrm>
            <a:off x="6229350" y="1590675"/>
            <a:ext cx="250659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41.5%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076950" y="2286000"/>
            <a:ext cx="2762250" cy="914400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229350" y="2438400"/>
            <a:ext cx="250659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إجمالي سوق العمل</a:t>
            </a:r>
            <a:endParaRPr lang="en-US" sz="975" dirty="0"/>
          </a:p>
        </p:txBody>
      </p:sp>
      <p:sp>
        <p:nvSpPr>
          <p:cNvPr id="11" name="Text 9"/>
          <p:cNvSpPr/>
          <p:nvPr/>
        </p:nvSpPr>
        <p:spPr>
          <a:xfrm>
            <a:off x="6229350" y="2619375"/>
            <a:ext cx="250659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3000" b="1" dirty="0">
                <a:solidFill>
                  <a:srgbClr val="C8A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6%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076950" y="3314700"/>
            <a:ext cx="2762250" cy="733425"/>
          </a:xfrm>
          <a:prstGeom prst="rect">
            <a:avLst/>
          </a:prstGeom>
          <a:solidFill>
            <a:srgbClr val="111111"/>
          </a:solidFill>
          <a:ln w="9525">
            <a:solidFill>
              <a:srgbClr val="2A2A2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200775" y="3438525"/>
            <a:ext cx="256489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الفجوة</a:t>
            </a:r>
            <a:endParaRPr lang="en-US" sz="975" dirty="0"/>
          </a:p>
        </p:txBody>
      </p:sp>
      <p:sp>
        <p:nvSpPr>
          <p:cNvPr id="14" name="Text 12"/>
          <p:cNvSpPr/>
          <p:nvPr/>
        </p:nvSpPr>
        <p:spPr>
          <a:xfrm>
            <a:off x="6200775" y="3619500"/>
            <a:ext cx="256489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2100" b="1" dirty="0">
                <a:solidFill>
                  <a:srgbClr val="C8A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6.9×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0" y="5114925"/>
            <a:ext cx="9144000" cy="28575"/>
          </a:xfrm>
          <a:prstGeom prst="rect">
            <a:avLst/>
          </a:prstGeom>
          <a:solidFill>
            <a:srgbClr val="A423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457200" y="1257300"/>
          <a:ext cx="5524500" cy="257175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0E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47625"/>
          </a:xfrm>
          <a:prstGeom prst="rect">
            <a:avLst/>
          </a:prstGeom>
          <a:solidFill>
            <a:srgbClr val="C8A24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266700"/>
            <a:ext cx="171478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C8A24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EMPLOYER VOICE</a:t>
            </a:r>
            <a:endParaRPr lang="en-US" sz="975" dirty="0"/>
          </a:p>
        </p:txBody>
      </p:sp>
      <p:sp>
        <p:nvSpPr>
          <p:cNvPr id="4" name="Text 2"/>
          <p:cNvSpPr/>
          <p:nvPr/>
        </p:nvSpPr>
        <p:spPr>
          <a:xfrm>
            <a:off x="457200" y="495300"/>
            <a:ext cx="3232074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ماذا يقول أصحاب العمل؟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264717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Nexford Employer Survey — Egypt 2026 · N=1,200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1219200"/>
            <a:ext cx="2571750" cy="1905000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85800" y="1447800"/>
            <a:ext cx="2156841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100"/>
              </a:lnSpc>
              <a:buNone/>
            </a:pPr>
            <a:r>
              <a:rPr lang="en-US" sz="5100" b="1" dirty="0">
                <a:solidFill>
                  <a:srgbClr val="A42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78%</a:t>
            </a:r>
            <a:endParaRPr lang="en-US" sz="5100" dirty="0"/>
          </a:p>
        </p:txBody>
      </p:sp>
      <p:sp>
        <p:nvSpPr>
          <p:cNvPr id="8" name="Text 6"/>
          <p:cNvSpPr/>
          <p:nvPr/>
        </p:nvSpPr>
        <p:spPr>
          <a:xfrm>
            <a:off x="685800" y="2171700"/>
            <a:ext cx="2156841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spcBef>
                <a:spcPts val="600"/>
              </a:spcBef>
              <a:buNone/>
            </a:pPr>
            <a:r>
              <a:rPr lang="en-US" sz="112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يرون نقص الكفاءات تحدياً رئيسياً للتعيين</a:t>
            </a:r>
            <a:endParaRPr lang="en-US" sz="1125" dirty="0"/>
          </a:p>
        </p:txBody>
      </p:sp>
      <p:sp>
        <p:nvSpPr>
          <p:cNvPr id="9" name="Text 7"/>
          <p:cNvSpPr/>
          <p:nvPr/>
        </p:nvSpPr>
        <p:spPr>
          <a:xfrm>
            <a:off x="3276600" y="1219200"/>
            <a:ext cx="2571750" cy="1905000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505200" y="1447800"/>
            <a:ext cx="2156841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100"/>
              </a:lnSpc>
              <a:buNone/>
            </a:pPr>
            <a:r>
              <a:rPr lang="en-US" sz="5100" b="1" dirty="0">
                <a:solidFill>
                  <a:srgbClr val="C8A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41%</a:t>
            </a:r>
            <a:endParaRPr lang="en-US" sz="5100" dirty="0"/>
          </a:p>
        </p:txBody>
      </p:sp>
      <p:sp>
        <p:nvSpPr>
          <p:cNvPr id="11" name="Text 9"/>
          <p:cNvSpPr/>
          <p:nvPr/>
        </p:nvSpPr>
        <p:spPr>
          <a:xfrm>
            <a:off x="3505200" y="2171700"/>
            <a:ext cx="2156841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spcBef>
                <a:spcPts val="600"/>
              </a:spcBef>
              <a:buNone/>
            </a:pPr>
            <a:r>
              <a:rPr lang="en-US" sz="112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يصفون جاهزية الخريجين بـ"دون المستوى"</a:t>
            </a:r>
            <a:endParaRPr lang="en-US" sz="1125" dirty="0"/>
          </a:p>
        </p:txBody>
      </p:sp>
      <p:sp>
        <p:nvSpPr>
          <p:cNvPr id="12" name="Text 10"/>
          <p:cNvSpPr/>
          <p:nvPr/>
        </p:nvSpPr>
        <p:spPr>
          <a:xfrm>
            <a:off x="6096000" y="1219200"/>
            <a:ext cx="2571750" cy="1905000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324600" y="1447800"/>
            <a:ext cx="2156841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100"/>
              </a:lnSpc>
              <a:buNone/>
            </a:pPr>
            <a:r>
              <a:rPr lang="en-US" sz="5100" b="1" dirty="0">
                <a:solidFill>
                  <a:srgbClr val="C8A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51%</a:t>
            </a:r>
            <a:endParaRPr lang="en-US" sz="5100" dirty="0"/>
          </a:p>
        </p:txBody>
      </p:sp>
      <p:sp>
        <p:nvSpPr>
          <p:cNvPr id="14" name="Text 12"/>
          <p:cNvSpPr/>
          <p:nvPr/>
        </p:nvSpPr>
        <p:spPr>
          <a:xfrm>
            <a:off x="6324600" y="2171700"/>
            <a:ext cx="2156841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spcBef>
                <a:spcPts val="600"/>
              </a:spcBef>
              <a:buNone/>
            </a:pPr>
            <a:r>
              <a:rPr lang="en-US" sz="112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مستعدون لتمويل التدريب عبر شراكة مؤسسية</a:t>
            </a:r>
            <a:endParaRPr lang="en-US" sz="1125" dirty="0"/>
          </a:p>
        </p:txBody>
      </p:sp>
      <p:sp>
        <p:nvSpPr>
          <p:cNvPr id="15" name="Shape 13"/>
          <p:cNvSpPr/>
          <p:nvPr/>
        </p:nvSpPr>
        <p:spPr>
          <a:xfrm>
            <a:off x="457200" y="4081462"/>
            <a:ext cx="8229600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4238625"/>
            <a:ext cx="839419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C8A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"نحتاج موظفين يعرفون كيف يتصرفون · لا مجرد من يحملون شهادات"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4476750"/>
            <a:ext cx="839419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50"/>
              </a:spcBef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مدير توظيف · شركة مصرية كبرى · الاستطلاع 2026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0" y="5114925"/>
            <a:ext cx="9144000" cy="28575"/>
          </a:xfrm>
          <a:prstGeom prst="rect">
            <a:avLst/>
          </a:prstGeom>
          <a:solidFill>
            <a:srgbClr val="A423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0E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47625"/>
          </a:xfrm>
          <a:prstGeom prst="rect">
            <a:avLst/>
          </a:prstGeom>
          <a:solidFill>
            <a:srgbClr val="C8A24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266700"/>
            <a:ext cx="132707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C8A24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ROOT CAUSES</a:t>
            </a:r>
            <a:endParaRPr lang="en-US" sz="975" dirty="0"/>
          </a:p>
        </p:txBody>
      </p:sp>
      <p:sp>
        <p:nvSpPr>
          <p:cNvPr id="4" name="Text 2"/>
          <p:cNvSpPr/>
          <p:nvPr/>
        </p:nvSpPr>
        <p:spPr>
          <a:xfrm>
            <a:off x="457200" y="495300"/>
            <a:ext cx="5742012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لماذا يفشل الخريجون في الحصول على وظائف؟</a:t>
            </a:r>
            <a:endParaRPr lang="en-US" sz="2250" dirty="0"/>
          </a:p>
        </p:txBody>
      </p:sp>
      <p:sp>
        <p:nvSpPr>
          <p:cNvPr id="5" name="Text 3"/>
          <p:cNvSpPr/>
          <p:nvPr/>
        </p:nvSpPr>
        <p:spPr>
          <a:xfrm>
            <a:off x="457200" y="1104900"/>
            <a:ext cx="4000500" cy="1571625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76250" y="1104900"/>
            <a:ext cx="0" cy="1571625"/>
          </a:xfrm>
          <a:prstGeom prst="line">
            <a:avLst/>
          </a:prstGeom>
          <a:noFill/>
          <a:ln w="38100">
            <a:solidFill>
              <a:srgbClr val="C8A24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295400"/>
            <a:ext cx="365302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C8A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685800" y="1638300"/>
            <a:ext cx="365302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فجوة المهارات الناعمة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85800" y="1924050"/>
            <a:ext cx="365302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975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التواصل · ضبط الوقت · الذكاء العاطفي · حل المشكلات</a:t>
            </a:r>
            <a:endParaRPr lang="en-US" sz="975" dirty="0"/>
          </a:p>
        </p:txBody>
      </p:sp>
      <p:sp>
        <p:nvSpPr>
          <p:cNvPr id="10" name="Text 8"/>
          <p:cNvSpPr/>
          <p:nvPr/>
        </p:nvSpPr>
        <p:spPr>
          <a:xfrm>
            <a:off x="4686300" y="1104900"/>
            <a:ext cx="4000500" cy="1571625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4705350" y="1104900"/>
            <a:ext cx="0" cy="1571625"/>
          </a:xfrm>
          <a:prstGeom prst="line">
            <a:avLst/>
          </a:prstGeom>
          <a:noFill/>
          <a:ln w="38100">
            <a:solidFill>
              <a:srgbClr val="A423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14900" y="1295400"/>
            <a:ext cx="365302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A42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4914900" y="1638300"/>
            <a:ext cx="365302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غياب الخبرة العملية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914900" y="1924050"/>
            <a:ext cx="365302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975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مناهج نظرية · لا تدريب ميداني · لا مشاريع حقيقية</a:t>
            </a:r>
            <a:endParaRPr lang="en-US" sz="975" dirty="0"/>
          </a:p>
        </p:txBody>
      </p:sp>
      <p:sp>
        <p:nvSpPr>
          <p:cNvPr id="15" name="Text 13"/>
          <p:cNvSpPr/>
          <p:nvPr/>
        </p:nvSpPr>
        <p:spPr>
          <a:xfrm>
            <a:off x="457200" y="2828925"/>
            <a:ext cx="4000500" cy="1571625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476250" y="2828925"/>
            <a:ext cx="0" cy="1571625"/>
          </a:xfrm>
          <a:prstGeom prst="line">
            <a:avLst/>
          </a:prstGeom>
          <a:noFill/>
          <a:ln w="38100">
            <a:solidFill>
              <a:srgbClr val="C8A24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3019425"/>
            <a:ext cx="365302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C8A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685800" y="3362325"/>
            <a:ext cx="365302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ضعف إمكانية التحقق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85800" y="3648075"/>
            <a:ext cx="365302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975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يثق أصحاب العمل في شهادات التدريب التقليدية</a:t>
            </a:r>
            <a:endParaRPr lang="en-US" sz="975" dirty="0"/>
          </a:p>
        </p:txBody>
      </p:sp>
      <p:sp>
        <p:nvSpPr>
          <p:cNvPr id="20" name="Text 18"/>
          <p:cNvSpPr/>
          <p:nvPr/>
        </p:nvSpPr>
        <p:spPr>
          <a:xfrm>
            <a:off x="4686300" y="2828925"/>
            <a:ext cx="4000500" cy="1571625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4705350" y="2828925"/>
            <a:ext cx="0" cy="1571625"/>
          </a:xfrm>
          <a:prstGeom prst="line">
            <a:avLst/>
          </a:prstGeom>
          <a:noFill/>
          <a:ln w="38100">
            <a:solidFill>
              <a:srgbClr val="A4232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14900" y="3019425"/>
            <a:ext cx="365302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A42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4914900" y="3362325"/>
            <a:ext cx="365302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انعدام الشبكات المهنية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4914900" y="3648075"/>
            <a:ext cx="365302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975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 من الوظائف تُشغَل عبر المعارف · الشباب خارج الدائرة</a:t>
            </a:r>
            <a:endParaRPr lang="en-US" sz="975" dirty="0"/>
          </a:p>
        </p:txBody>
      </p:sp>
      <p:sp>
        <p:nvSpPr>
          <p:cNvPr id="25" name="Text 23"/>
          <p:cNvSpPr/>
          <p:nvPr/>
        </p:nvSpPr>
        <p:spPr>
          <a:xfrm>
            <a:off x="0" y="5114925"/>
            <a:ext cx="9144000" cy="28575"/>
          </a:xfrm>
          <a:prstGeom prst="rect">
            <a:avLst/>
          </a:prstGeom>
          <a:solidFill>
            <a:srgbClr val="A423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0E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47625"/>
          </a:xfrm>
          <a:prstGeom prst="rect">
            <a:avLst/>
          </a:prstGeom>
          <a:solidFill>
            <a:srgbClr val="C8A24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266700"/>
            <a:ext cx="170355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C8A24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TRAJECTORY</a:t>
            </a:r>
            <a:endParaRPr lang="en-US" sz="975" dirty="0"/>
          </a:p>
        </p:txBody>
      </p:sp>
      <p:sp>
        <p:nvSpPr>
          <p:cNvPr id="4" name="Text 2"/>
          <p:cNvSpPr/>
          <p:nvPr/>
        </p:nvSpPr>
        <p:spPr>
          <a:xfrm>
            <a:off x="457200" y="495300"/>
            <a:ext cx="5269141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المشكلة تتفاقم · كل عام يُضاف نصف مليون</a:t>
            </a:r>
            <a:endParaRPr lang="en-US" sz="2250" dirty="0"/>
          </a:p>
        </p:txBody>
      </p:sp>
      <p:sp>
        <p:nvSpPr>
          <p:cNvPr id="5" name="Shape 3"/>
          <p:cNvSpPr/>
          <p:nvPr/>
        </p:nvSpPr>
        <p:spPr>
          <a:xfrm>
            <a:off x="6091238" y="1028700"/>
            <a:ext cx="0" cy="542925"/>
          </a:xfrm>
          <a:prstGeom prst="line">
            <a:avLst/>
          </a:prstGeom>
          <a:noFill/>
          <a:ln w="28575">
            <a:solidFill>
              <a:srgbClr val="A423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257925" y="1028700"/>
            <a:ext cx="263290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C8A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800K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257925" y="1419225"/>
            <a:ext cx="263290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داخل جديد سنوياً بحلول 2035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091238" y="1762125"/>
            <a:ext cx="0" cy="542925"/>
          </a:xfrm>
          <a:prstGeom prst="line">
            <a:avLst/>
          </a:prstGeom>
          <a:noFill/>
          <a:ln w="28575">
            <a:solidFill>
              <a:srgbClr val="C8A24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57925" y="1762125"/>
            <a:ext cx="263290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+110%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257925" y="2152650"/>
            <a:ext cx="263290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0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نمو في الضغط على سوق العمل منذ 2000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091238" y="2495550"/>
            <a:ext cx="0" cy="200025"/>
          </a:xfrm>
          <a:prstGeom prst="line">
            <a:avLst/>
          </a:prstGeom>
          <a:noFill/>
          <a:ln w="28575">
            <a:solidFill>
              <a:srgbClr val="5555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7925" y="2495550"/>
            <a:ext cx="263290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بدون تدخل هيكلي · ستتضاعف الفجوة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7200" y="4562475"/>
            <a:ext cx="544068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25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المصدر: وزارة التعليم العالي · CAPMAS · ILO Labour Market Outlook 2025</a:t>
            </a:r>
            <a:endParaRPr lang="en-US" sz="825" dirty="0"/>
          </a:p>
        </p:txBody>
      </p:sp>
      <p:sp>
        <p:nvSpPr>
          <p:cNvPr id="14" name="Text 12"/>
          <p:cNvSpPr/>
          <p:nvPr/>
        </p:nvSpPr>
        <p:spPr>
          <a:xfrm>
            <a:off x="0" y="5114925"/>
            <a:ext cx="9144000" cy="28575"/>
          </a:xfrm>
          <a:prstGeom prst="rect">
            <a:avLst/>
          </a:prstGeom>
          <a:solidFill>
            <a:srgbClr val="A423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457200" y="1028700"/>
          <a:ext cx="5334000" cy="276225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0E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47625"/>
          </a:xfrm>
          <a:prstGeom prst="rect">
            <a:avLst/>
          </a:prstGeom>
          <a:solidFill>
            <a:srgbClr val="C8A24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47625"/>
            <a:ext cx="3810000" cy="5095875"/>
          </a:xfrm>
          <a:prstGeom prst="rect">
            <a:avLst/>
          </a:prstGeom>
          <a:solidFill>
            <a:srgbClr val="08080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381000" y="342900"/>
            <a:ext cx="123447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C8A24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ANSWER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381000" y="857250"/>
            <a:ext cx="392536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400"/>
              </a:lnSpc>
              <a:buNone/>
            </a:pPr>
            <a:r>
              <a:rPr lang="en-US" sz="5400" b="1" dirty="0">
                <a:solidFill>
                  <a:srgbClr val="C8A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JAHIZOON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381000" y="1762125"/>
            <a:ext cx="69951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جاهزون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381000" y="2114550"/>
            <a:ext cx="2667000" cy="19050"/>
          </a:xfrm>
          <a:prstGeom prst="rect">
            <a:avLst/>
          </a:prstGeom>
          <a:solidFill>
            <a:srgbClr val="C8A24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381000" y="2247900"/>
            <a:ext cx="3206115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برنامج وطني يحوّل الخريجين</a:t>
            </a:r>
            <a:endParaRPr lang="en-US" sz="1050" dirty="0"/>
          </a:p>
          <a:p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إلى كفاءات موثّقة · جاهزة للتوظيف الفوري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210050" y="571500"/>
            <a:ext cx="0" cy="619125"/>
          </a:xfrm>
          <a:prstGeom prst="line">
            <a:avLst/>
          </a:prstGeom>
          <a:noFill/>
          <a:ln w="38100">
            <a:solidFill>
              <a:srgbClr val="C8A24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19600" y="571500"/>
            <a:ext cx="443026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A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419600" y="762000"/>
            <a:ext cx="44302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تدريب مكثف · 12 أسبوعاً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419600" y="1047750"/>
            <a:ext cx="44302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50"/>
              </a:spcBef>
              <a:buNone/>
            </a:pPr>
            <a:r>
              <a:rPr lang="en-US" sz="975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مهارات العمل الفعلية · مدربون معتمدون · مناهج مرتبطة بسوق العمل</a:t>
            </a:r>
            <a:endParaRPr lang="en-US" sz="975" dirty="0"/>
          </a:p>
        </p:txBody>
      </p:sp>
      <p:sp>
        <p:nvSpPr>
          <p:cNvPr id="13" name="Shape 11"/>
          <p:cNvSpPr/>
          <p:nvPr/>
        </p:nvSpPr>
        <p:spPr>
          <a:xfrm>
            <a:off x="4210050" y="1495425"/>
            <a:ext cx="0" cy="619125"/>
          </a:xfrm>
          <a:prstGeom prst="line">
            <a:avLst/>
          </a:prstGeom>
          <a:noFill/>
          <a:ln w="38100">
            <a:solidFill>
              <a:srgbClr val="A423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19600" y="1495425"/>
            <a:ext cx="443026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42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419600" y="1685925"/>
            <a:ext cx="44302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تقييم مصوّر · موثّق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419600" y="1971675"/>
            <a:ext cx="44302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50"/>
              </a:spcBef>
              <a:buNone/>
            </a:pPr>
            <a:r>
              <a:rPr lang="en-US" sz="975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امتحان نهائي مسجّل · يراه أصحاب العمل مباشرة</a:t>
            </a:r>
            <a:endParaRPr lang="en-US" sz="975" dirty="0"/>
          </a:p>
        </p:txBody>
      </p:sp>
      <p:sp>
        <p:nvSpPr>
          <p:cNvPr id="17" name="Shape 15"/>
          <p:cNvSpPr/>
          <p:nvPr/>
        </p:nvSpPr>
        <p:spPr>
          <a:xfrm>
            <a:off x="4210050" y="2419350"/>
            <a:ext cx="0" cy="619125"/>
          </a:xfrm>
          <a:prstGeom prst="line">
            <a:avLst/>
          </a:prstGeom>
          <a:noFill/>
          <a:ln w="38100">
            <a:solidFill>
              <a:srgbClr val="C8A24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19600" y="2419350"/>
            <a:ext cx="443026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A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419600" y="2609850"/>
            <a:ext cx="44302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توظيف مضمون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419600" y="2895600"/>
            <a:ext cx="44302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50"/>
              </a:spcBef>
              <a:buNone/>
            </a:pPr>
            <a:r>
              <a:rPr lang="en-US" sz="975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شبكة شركاء مؤسسيين · ربط مباشر بالفرص الوظيفية</a:t>
            </a:r>
            <a:endParaRPr lang="en-US" sz="975" dirty="0"/>
          </a:p>
        </p:txBody>
      </p:sp>
      <p:sp>
        <p:nvSpPr>
          <p:cNvPr id="21" name="Text 19"/>
          <p:cNvSpPr/>
          <p:nvPr/>
        </p:nvSpPr>
        <p:spPr>
          <a:xfrm>
            <a:off x="0" y="5114925"/>
            <a:ext cx="9144000" cy="28575"/>
          </a:xfrm>
          <a:prstGeom prst="rect">
            <a:avLst/>
          </a:prstGeom>
          <a:solidFill>
            <a:srgbClr val="A423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0E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47625"/>
          </a:xfrm>
          <a:prstGeom prst="rect">
            <a:avLst/>
          </a:prstGeom>
          <a:solidFill>
            <a:srgbClr val="C8A24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266700"/>
            <a:ext cx="167349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C8A24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PROGRAMME</a:t>
            </a:r>
            <a:endParaRPr lang="en-US" sz="975" dirty="0"/>
          </a:p>
        </p:txBody>
      </p:sp>
      <p:sp>
        <p:nvSpPr>
          <p:cNvPr id="4" name="Text 2"/>
          <p:cNvSpPr/>
          <p:nvPr/>
        </p:nvSpPr>
        <p:spPr>
          <a:xfrm>
            <a:off x="457200" y="495300"/>
            <a:ext cx="4873993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منهجية جاهزون: من الفجوة إلى التوظيف</a:t>
            </a:r>
            <a:endParaRPr lang="en-US" sz="2250" dirty="0"/>
          </a:p>
        </p:txBody>
      </p:sp>
      <p:sp>
        <p:nvSpPr>
          <p:cNvPr id="5" name="Text 3"/>
          <p:cNvSpPr/>
          <p:nvPr/>
        </p:nvSpPr>
        <p:spPr>
          <a:xfrm>
            <a:off x="304800" y="1238250"/>
            <a:ext cx="1524000" cy="2095500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45008" y="1390650"/>
            <a:ext cx="124358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C8A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445008" y="1771650"/>
            <a:ext cx="124358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11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التقييم</a:t>
            </a:r>
            <a:endParaRPr lang="en-US" sz="1125" dirty="0"/>
          </a:p>
        </p:txBody>
      </p:sp>
      <p:sp>
        <p:nvSpPr>
          <p:cNvPr id="8" name="Text 6"/>
          <p:cNvSpPr/>
          <p:nvPr/>
        </p:nvSpPr>
        <p:spPr>
          <a:xfrm>
            <a:off x="445008" y="2019300"/>
            <a:ext cx="1243584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spcBef>
                <a:spcPts val="600"/>
              </a:spcBef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تحديد الفجوات الفردية عبر أداة تشخيص رقمية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905000" y="2171700"/>
            <a:ext cx="266700" cy="28575"/>
          </a:xfrm>
          <a:prstGeom prst="rect">
            <a:avLst/>
          </a:prstGeom>
          <a:solidFill>
            <a:srgbClr val="C8A24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2114550" y="2152650"/>
            <a:ext cx="114300" cy="0"/>
          </a:xfrm>
          <a:prstGeom prst="line">
            <a:avLst/>
          </a:prstGeom>
          <a:noFill/>
          <a:ln w="762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114550" y="2228850"/>
            <a:ext cx="114300" cy="0"/>
          </a:xfrm>
          <a:prstGeom prst="line">
            <a:avLst/>
          </a:prstGeom>
          <a:noFill/>
          <a:ln w="762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71700" y="2114550"/>
            <a:ext cx="0" cy="152400"/>
          </a:xfrm>
          <a:prstGeom prst="line">
            <a:avLst/>
          </a:prstGeom>
          <a:noFill/>
          <a:ln w="114300">
            <a:solidFill>
              <a:srgbClr val="C8A24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286000" y="1238250"/>
            <a:ext cx="1524000" cy="2095500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2426208" y="1390650"/>
            <a:ext cx="124358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C8A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2426208" y="1771650"/>
            <a:ext cx="124358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11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التدريب</a:t>
            </a:r>
            <a:endParaRPr lang="en-US" sz="1125" dirty="0"/>
          </a:p>
        </p:txBody>
      </p:sp>
      <p:sp>
        <p:nvSpPr>
          <p:cNvPr id="16" name="Text 14"/>
          <p:cNvSpPr/>
          <p:nvPr/>
        </p:nvSpPr>
        <p:spPr>
          <a:xfrm>
            <a:off x="2426208" y="2019300"/>
            <a:ext cx="1243584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spcBef>
                <a:spcPts val="600"/>
              </a:spcBef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أسبوعاً مكثفاً · مهارات ناعمة وتقنية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886200" y="2171700"/>
            <a:ext cx="266700" cy="28575"/>
          </a:xfrm>
          <a:prstGeom prst="rect">
            <a:avLst/>
          </a:prstGeom>
          <a:solidFill>
            <a:srgbClr val="C8A24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4095750" y="2152650"/>
            <a:ext cx="114300" cy="0"/>
          </a:xfrm>
          <a:prstGeom prst="line">
            <a:avLst/>
          </a:prstGeom>
          <a:noFill/>
          <a:ln w="762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095750" y="2228850"/>
            <a:ext cx="114300" cy="0"/>
          </a:xfrm>
          <a:prstGeom prst="line">
            <a:avLst/>
          </a:prstGeom>
          <a:noFill/>
          <a:ln w="762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52900" y="2114550"/>
            <a:ext cx="0" cy="152400"/>
          </a:xfrm>
          <a:prstGeom prst="line">
            <a:avLst/>
          </a:prstGeom>
          <a:noFill/>
          <a:ln w="114300">
            <a:solidFill>
              <a:srgbClr val="C8A24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67200" y="1238250"/>
            <a:ext cx="1524000" cy="2095500"/>
          </a:xfrm>
          <a:prstGeom prst="rect">
            <a:avLst/>
          </a:prstGeom>
          <a:solidFill>
            <a:srgbClr val="A423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4407408" y="1390650"/>
            <a:ext cx="124358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4407408" y="1771650"/>
            <a:ext cx="124358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11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الامتحان المصوّر</a:t>
            </a:r>
            <a:endParaRPr lang="en-US" sz="1125" dirty="0"/>
          </a:p>
        </p:txBody>
      </p:sp>
      <p:sp>
        <p:nvSpPr>
          <p:cNvPr id="24" name="Text 22"/>
          <p:cNvSpPr/>
          <p:nvPr/>
        </p:nvSpPr>
        <p:spPr>
          <a:xfrm>
            <a:off x="4407408" y="2019300"/>
            <a:ext cx="1243584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spcBef>
                <a:spcPts val="600"/>
              </a:spcBef>
              <a:buNone/>
            </a:pPr>
            <a:r>
              <a:rPr lang="en-US" sz="900" dirty="0">
                <a:solidFill>
                  <a:srgbClr val="FFDD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تقييم أداء مسجّل · معتمد من أصحاب العمل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867400" y="2171700"/>
            <a:ext cx="266700" cy="28575"/>
          </a:xfrm>
          <a:prstGeom prst="rect">
            <a:avLst/>
          </a:prstGeom>
          <a:solidFill>
            <a:srgbClr val="C8A24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Shape 24"/>
          <p:cNvSpPr/>
          <p:nvPr/>
        </p:nvSpPr>
        <p:spPr>
          <a:xfrm>
            <a:off x="6076950" y="2152650"/>
            <a:ext cx="114300" cy="0"/>
          </a:xfrm>
          <a:prstGeom prst="line">
            <a:avLst/>
          </a:prstGeom>
          <a:noFill/>
          <a:ln w="762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76950" y="2228850"/>
            <a:ext cx="114300" cy="0"/>
          </a:xfrm>
          <a:prstGeom prst="line">
            <a:avLst/>
          </a:prstGeom>
          <a:noFill/>
          <a:ln w="762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34100" y="2114550"/>
            <a:ext cx="0" cy="152400"/>
          </a:xfrm>
          <a:prstGeom prst="line">
            <a:avLst/>
          </a:prstGeom>
          <a:noFill/>
          <a:ln w="114300">
            <a:solidFill>
              <a:srgbClr val="C8A24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248400" y="1238250"/>
            <a:ext cx="1333500" cy="2095500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390513" y="1390650"/>
            <a:ext cx="104927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C8A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100" dirty="0"/>
          </a:p>
        </p:txBody>
      </p:sp>
      <p:sp>
        <p:nvSpPr>
          <p:cNvPr id="31" name="Text 29"/>
          <p:cNvSpPr/>
          <p:nvPr/>
        </p:nvSpPr>
        <p:spPr>
          <a:xfrm>
            <a:off x="6390513" y="1771650"/>
            <a:ext cx="104927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11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التوظيف</a:t>
            </a:r>
            <a:endParaRPr lang="en-US" sz="1125" dirty="0"/>
          </a:p>
        </p:txBody>
      </p:sp>
      <p:sp>
        <p:nvSpPr>
          <p:cNvPr id="32" name="Text 30"/>
          <p:cNvSpPr/>
          <p:nvPr/>
        </p:nvSpPr>
        <p:spPr>
          <a:xfrm>
            <a:off x="6390513" y="2019300"/>
            <a:ext cx="1049274" cy="479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spcBef>
                <a:spcPts val="600"/>
              </a:spcBef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ربط مع شركاء مؤسسيين وفرص وظيفية حقيقية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658100" y="2171700"/>
            <a:ext cx="228600" cy="28575"/>
          </a:xfrm>
          <a:prstGeom prst="rect">
            <a:avLst/>
          </a:prstGeom>
          <a:solidFill>
            <a:srgbClr val="C8A24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Shape 32"/>
          <p:cNvSpPr/>
          <p:nvPr/>
        </p:nvSpPr>
        <p:spPr>
          <a:xfrm>
            <a:off x="7829550" y="2152650"/>
            <a:ext cx="114300" cy="0"/>
          </a:xfrm>
          <a:prstGeom prst="line">
            <a:avLst/>
          </a:prstGeom>
          <a:noFill/>
          <a:ln w="762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829550" y="2228850"/>
            <a:ext cx="114300" cy="0"/>
          </a:xfrm>
          <a:prstGeom prst="line">
            <a:avLst/>
          </a:prstGeom>
          <a:noFill/>
          <a:ln w="762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886700" y="2114550"/>
            <a:ext cx="0" cy="152400"/>
          </a:xfrm>
          <a:prstGeom prst="line">
            <a:avLst/>
          </a:prstGeom>
          <a:noFill/>
          <a:ln w="114300">
            <a:solidFill>
              <a:srgbClr val="C8A24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001000" y="1238250"/>
            <a:ext cx="952500" cy="2095500"/>
          </a:xfrm>
          <a:prstGeom prst="rect">
            <a:avLst/>
          </a:prstGeom>
          <a:solidFill>
            <a:srgbClr val="111111"/>
          </a:solidFill>
          <a:ln w="9525">
            <a:solidFill>
              <a:srgbClr val="C8A24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8117776" y="1362075"/>
            <a:ext cx="71894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8A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8117776" y="1704975"/>
            <a:ext cx="71894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9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المتابعة</a:t>
            </a:r>
            <a:endParaRPr lang="en-US" sz="975" dirty="0"/>
          </a:p>
        </p:txBody>
      </p:sp>
      <p:sp>
        <p:nvSpPr>
          <p:cNvPr id="40" name="Text 38"/>
          <p:cNvSpPr/>
          <p:nvPr/>
        </p:nvSpPr>
        <p:spPr>
          <a:xfrm>
            <a:off x="8117776" y="1924050"/>
            <a:ext cx="718947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55"/>
              </a:lnSpc>
              <a:spcBef>
                <a:spcPts val="600"/>
              </a:spcBef>
              <a:buNone/>
            </a:pPr>
            <a:r>
              <a:rPr lang="en-US" sz="825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أشهر دعم بعد التوظيف</a:t>
            </a:r>
            <a:endParaRPr lang="en-US" sz="825" dirty="0"/>
          </a:p>
        </p:txBody>
      </p:sp>
      <p:sp>
        <p:nvSpPr>
          <p:cNvPr id="41" name="Text 39"/>
          <p:cNvSpPr/>
          <p:nvPr/>
        </p:nvSpPr>
        <p:spPr>
          <a:xfrm>
            <a:off x="457200" y="4724400"/>
            <a:ext cx="368612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C8A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هدف التوظيف: 75% من المتدربين خلال 90 يوماً من إتمام البرنامج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0" y="5114925"/>
            <a:ext cx="9144000" cy="28575"/>
          </a:xfrm>
          <a:prstGeom prst="rect">
            <a:avLst/>
          </a:prstGeom>
          <a:solidFill>
            <a:srgbClr val="A423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0E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47625"/>
          </a:xfrm>
          <a:prstGeom prst="rect">
            <a:avLst/>
          </a:prstGeom>
          <a:solidFill>
            <a:srgbClr val="A423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47625"/>
            <a:ext cx="4000500" cy="5095875"/>
          </a:xfrm>
          <a:prstGeom prst="rect">
            <a:avLst/>
          </a:prstGeom>
          <a:solidFill>
            <a:srgbClr val="08080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381000" y="304800"/>
            <a:ext cx="101299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A4232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UNIQUE IP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381000" y="609600"/>
            <a:ext cx="1097851" cy="77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60"/>
              </a:lnSpc>
              <a:buNone/>
            </a:pPr>
            <a:r>
              <a:rPr lang="en-US" sz="2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الامتحان</a:t>
            </a:r>
            <a:endParaRPr lang="en-US" sz="2550" dirty="0"/>
          </a:p>
          <a:p>
            <a:pPr algn="l" indent="0" marL="0">
              <a:lnSpc>
                <a:spcPts val="3060"/>
              </a:lnSpc>
              <a:buNone/>
            </a:pPr>
            <a:r>
              <a:rPr lang="en-US" sz="2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المصوّر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381000" y="1504950"/>
            <a:ext cx="2476500" cy="19050"/>
          </a:xfrm>
          <a:prstGeom prst="rect">
            <a:avLst/>
          </a:prstGeom>
          <a:solidFill>
            <a:srgbClr val="A423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381000" y="1638300"/>
            <a:ext cx="3400425" cy="6799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85"/>
              </a:lnSpc>
              <a:buNone/>
            </a:pPr>
            <a:r>
              <a:rPr lang="en-US" sz="10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بدلاً من شهادة ورقية لا يثق بها أحد:</a:t>
            </a:r>
            <a:endParaRPr lang="en-US" sz="1050" dirty="0"/>
          </a:p>
          <a:p>
            <a:pPr algn="l" indent="0" marL="0">
              <a:lnSpc>
                <a:spcPts val="1785"/>
              </a:lnSpc>
              <a:buNone/>
            </a:pPr>
            <a:r>
              <a:rPr lang="en-US" sz="10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متدرب يُقيَّم أداؤه في موقف عمل حقيقي</a:t>
            </a:r>
            <a:endParaRPr lang="en-US" sz="1050" dirty="0"/>
          </a:p>
          <a:p>
            <a:pPr algn="l" indent="0" marL="0">
              <a:lnSpc>
                <a:spcPts val="1785"/>
              </a:lnSpc>
              <a:buNone/>
            </a:pPr>
            <a:r>
              <a:rPr lang="en-US" sz="10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ويُسجَّل ويُبثّ لأصحاب العمل مباشرة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95288" y="2857500"/>
            <a:ext cx="0" cy="352425"/>
          </a:xfrm>
          <a:prstGeom prst="line">
            <a:avLst/>
          </a:prstGeom>
          <a:noFill/>
          <a:ln w="28575">
            <a:solidFill>
              <a:srgbClr val="A423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1975" y="2857500"/>
            <a:ext cx="321583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موثوقية لا سابق لها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561975" y="3067050"/>
            <a:ext cx="321583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975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أصحاب العمل يرون الأداء · لا يقرؤون السيرة</a:t>
            </a:r>
            <a:endParaRPr lang="en-US" sz="975" dirty="0"/>
          </a:p>
        </p:txBody>
      </p:sp>
      <p:sp>
        <p:nvSpPr>
          <p:cNvPr id="11" name="Shape 9"/>
          <p:cNvSpPr/>
          <p:nvPr/>
        </p:nvSpPr>
        <p:spPr>
          <a:xfrm>
            <a:off x="395288" y="3362325"/>
            <a:ext cx="0" cy="352425"/>
          </a:xfrm>
          <a:prstGeom prst="line">
            <a:avLst/>
          </a:prstGeom>
          <a:noFill/>
          <a:ln w="28575">
            <a:solidFill>
              <a:srgbClr val="C8A24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1975" y="3362325"/>
            <a:ext cx="321583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محتوى قابل للتوزيع</a:t>
            </a:r>
            <a:endParaRPr lang="en-US" sz="1125" dirty="0"/>
          </a:p>
        </p:txBody>
      </p:sp>
      <p:sp>
        <p:nvSpPr>
          <p:cNvPr id="13" name="Text 11"/>
          <p:cNvSpPr/>
          <p:nvPr/>
        </p:nvSpPr>
        <p:spPr>
          <a:xfrm>
            <a:off x="561975" y="3571875"/>
            <a:ext cx="321583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975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فيديوهات النجاح تخدم الإعلام والشراكات</a:t>
            </a:r>
            <a:endParaRPr lang="en-US" sz="975" dirty="0"/>
          </a:p>
        </p:txBody>
      </p:sp>
      <p:sp>
        <p:nvSpPr>
          <p:cNvPr id="14" name="Text 12"/>
          <p:cNvSpPr/>
          <p:nvPr/>
        </p:nvSpPr>
        <p:spPr>
          <a:xfrm>
            <a:off x="5098852" y="571500"/>
            <a:ext cx="1143000" cy="495300"/>
          </a:xfrm>
          <a:prstGeom prst="rect">
            <a:avLst/>
          </a:prstGeom>
          <a:solidFill>
            <a:srgbClr val="A423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204008" y="685800"/>
            <a:ext cx="932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سيناريو عمل حقيقي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69584" y="704850"/>
            <a:ext cx="1143000" cy="361950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774740" y="819150"/>
            <a:ext cx="93268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أداء مسجّل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000750" y="1066800"/>
            <a:ext cx="1143000" cy="361950"/>
          </a:xfrm>
          <a:prstGeom prst="rect">
            <a:avLst/>
          </a:prstGeom>
          <a:solidFill>
            <a:srgbClr val="C8A24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105906" y="1181100"/>
            <a:ext cx="93268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E0E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توظيف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381500" y="1619250"/>
            <a:ext cx="4381500" cy="1171575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4572000" y="1809750"/>
            <a:ext cx="408051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900"/>
              </a:spcAft>
              <a:buNone/>
            </a:pPr>
            <a:r>
              <a:rPr lang="en-US" sz="975" dirty="0">
                <a:solidFill>
                  <a:srgbClr val="C8A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نتائج التجربة التجريبية</a:t>
            </a:r>
            <a:endParaRPr lang="en-US" sz="975" dirty="0"/>
          </a:p>
        </p:txBody>
      </p:sp>
      <p:sp>
        <p:nvSpPr>
          <p:cNvPr id="22" name="Text 20"/>
          <p:cNvSpPr/>
          <p:nvPr/>
        </p:nvSpPr>
        <p:spPr>
          <a:xfrm>
            <a:off x="4559902" y="2066925"/>
            <a:ext cx="123402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4559902" y="2466975"/>
            <a:ext cx="123402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متدرب في المرحلة الأولى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388645" y="2066925"/>
            <a:ext cx="890638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C8A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87%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6388645" y="2466975"/>
            <a:ext cx="89063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رضا أصحاب العمل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879241" y="2066925"/>
            <a:ext cx="700123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A42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68%</a:t>
            </a:r>
            <a:endParaRPr lang="en-US" sz="2700" dirty="0"/>
          </a:p>
        </p:txBody>
      </p:sp>
      <p:sp>
        <p:nvSpPr>
          <p:cNvPr id="27" name="Text 25"/>
          <p:cNvSpPr/>
          <p:nvPr/>
        </p:nvSpPr>
        <p:spPr>
          <a:xfrm>
            <a:off x="7879241" y="2466975"/>
            <a:ext cx="70012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توظيف فعلي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381500" y="2905125"/>
            <a:ext cx="446913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buNone/>
            </a:pPr>
            <a:r>
              <a:rPr lang="en-US" sz="825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أرقام المرحلة التجريبية — نموذج قابل للتوسع</a:t>
            </a:r>
            <a:endParaRPr lang="en-US" sz="825" dirty="0"/>
          </a:p>
        </p:txBody>
      </p:sp>
      <p:sp>
        <p:nvSpPr>
          <p:cNvPr id="29" name="Text 27"/>
          <p:cNvSpPr/>
          <p:nvPr/>
        </p:nvSpPr>
        <p:spPr>
          <a:xfrm>
            <a:off x="0" y="5114925"/>
            <a:ext cx="9144000" cy="28575"/>
          </a:xfrm>
          <a:prstGeom prst="rect">
            <a:avLst/>
          </a:prstGeom>
          <a:solidFill>
            <a:srgbClr val="A423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0E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47625"/>
          </a:xfrm>
          <a:prstGeom prst="rect">
            <a:avLst/>
          </a:prstGeom>
          <a:solidFill>
            <a:srgbClr val="C8A24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266700"/>
            <a:ext cx="114293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C8A24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ECOSYSTEM</a:t>
            </a:r>
            <a:endParaRPr lang="en-US" sz="975" dirty="0"/>
          </a:p>
        </p:txBody>
      </p:sp>
      <p:sp>
        <p:nvSpPr>
          <p:cNvPr id="4" name="Text 2"/>
          <p:cNvSpPr/>
          <p:nvPr/>
        </p:nvSpPr>
        <p:spPr>
          <a:xfrm>
            <a:off x="457200" y="495300"/>
            <a:ext cx="5032629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منظومة الشركاء: ثلاثة محاور · نموذج واحد</a:t>
            </a:r>
            <a:endParaRPr lang="en-US" sz="225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2590800" cy="2857500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1371600"/>
            <a:ext cx="381000" cy="38100"/>
          </a:xfrm>
          <a:prstGeom prst="rect">
            <a:avLst/>
          </a:prstGeom>
          <a:solidFill>
            <a:srgbClr val="C8A24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85800" y="1562100"/>
            <a:ext cx="217627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8A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CORPORATE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1809750"/>
            <a:ext cx="217627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الشركاء المؤسسيون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85800" y="2133600"/>
            <a:ext cx="21336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950"/>
              </a:lnSpc>
              <a:buSzPct val="100000"/>
              <a:buChar char="•"/>
            </a:pPr>
            <a:r>
              <a:rPr lang="en-US" sz="975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تمويل التدريب</a:t>
            </a:r>
            <a:endParaRPr lang="en-US" sz="975" dirty="0"/>
          </a:p>
          <a:p>
            <a:pPr algn="l" marL="342900" indent="-342900">
              <a:lnSpc>
                <a:spcPts val="1950"/>
              </a:lnSpc>
              <a:buSzPct val="100000"/>
              <a:buChar char="•"/>
            </a:pPr>
            <a:r>
              <a:rPr lang="en-US" sz="975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استقبال الخريجين</a:t>
            </a:r>
            <a:endParaRPr lang="en-US" sz="975" dirty="0"/>
          </a:p>
          <a:p>
            <a:pPr algn="l" marL="342900" indent="-342900">
              <a:lnSpc>
                <a:spcPts val="1950"/>
              </a:lnSpc>
              <a:buSzPct val="100000"/>
              <a:buChar char="•"/>
            </a:pPr>
            <a:r>
              <a:rPr lang="en-US" sz="975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تحديد المهارات المطلوبة</a:t>
            </a:r>
            <a:endParaRPr lang="en-US" sz="975" dirty="0"/>
          </a:p>
          <a:p>
            <a:pPr algn="l" marL="342900" indent="-342900">
              <a:lnSpc>
                <a:spcPts val="1950"/>
              </a:lnSpc>
              <a:buSzPct val="100000"/>
              <a:buChar char="•"/>
            </a:pPr>
            <a:r>
              <a:rPr lang="en-US" sz="975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محتوى إعلامي للعلامة التجارية</a:t>
            </a:r>
            <a:endParaRPr lang="en-US" sz="975" dirty="0"/>
          </a:p>
        </p:txBody>
      </p:sp>
      <p:sp>
        <p:nvSpPr>
          <p:cNvPr id="10" name="Text 8"/>
          <p:cNvSpPr/>
          <p:nvPr/>
        </p:nvSpPr>
        <p:spPr>
          <a:xfrm>
            <a:off x="685800" y="3276600"/>
            <a:ext cx="217627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الشركات الكبرى · البنوك · التجزئة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200400" y="1333500"/>
            <a:ext cx="9525" cy="2476500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352800" y="1143000"/>
            <a:ext cx="2590800" cy="2857500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581400" y="1371600"/>
            <a:ext cx="381000" cy="38100"/>
          </a:xfrm>
          <a:prstGeom prst="rect">
            <a:avLst/>
          </a:prstGeom>
          <a:solidFill>
            <a:srgbClr val="A423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81400" y="1562100"/>
            <a:ext cx="217627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42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GOVERNMENT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581400" y="1809750"/>
            <a:ext cx="217627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الشركاء الحكوميون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3581400" y="2133600"/>
            <a:ext cx="21336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950"/>
              </a:lnSpc>
              <a:buSzPct val="100000"/>
              <a:buChar char="•"/>
            </a:pPr>
            <a:r>
              <a:rPr lang="en-US" sz="975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وزارة التضامن الاجتماعي</a:t>
            </a:r>
            <a:endParaRPr lang="en-US" sz="975" dirty="0"/>
          </a:p>
          <a:p>
            <a:pPr algn="l" marL="342900" indent="-342900">
              <a:lnSpc>
                <a:spcPts val="1950"/>
              </a:lnSpc>
              <a:buSzPct val="100000"/>
              <a:buChar char="•"/>
            </a:pPr>
            <a:r>
              <a:rPr lang="en-US" sz="975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وزارة التعليم العالي</a:t>
            </a:r>
            <a:endParaRPr lang="en-US" sz="975" dirty="0"/>
          </a:p>
          <a:p>
            <a:pPr algn="l" marL="342900" indent="-342900">
              <a:lnSpc>
                <a:spcPts val="1950"/>
              </a:lnSpc>
              <a:buSzPct val="100000"/>
              <a:buChar char="•"/>
            </a:pPr>
            <a:r>
              <a:rPr lang="en-US" sz="975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الجهاز القومي للتشغيل</a:t>
            </a:r>
            <a:endParaRPr lang="en-US" sz="975" dirty="0"/>
          </a:p>
          <a:p>
            <a:pPr algn="l" marL="342900" indent="-342900">
              <a:lnSpc>
                <a:spcPts val="1950"/>
              </a:lnSpc>
              <a:buSzPct val="100000"/>
              <a:buChar char="•"/>
            </a:pPr>
            <a:r>
              <a:rPr lang="en-US" sz="975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شبكة مراكز الشباب الوطنية</a:t>
            </a:r>
            <a:endParaRPr lang="en-US" sz="975" dirty="0"/>
          </a:p>
        </p:txBody>
      </p:sp>
      <p:sp>
        <p:nvSpPr>
          <p:cNvPr id="17" name="Text 15"/>
          <p:cNvSpPr/>
          <p:nvPr/>
        </p:nvSpPr>
        <p:spPr>
          <a:xfrm>
            <a:off x="3581400" y="3276600"/>
            <a:ext cx="217627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الوصول · التوسع · الشرعية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096000" y="1333500"/>
            <a:ext cx="9525" cy="2476500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248400" y="1143000"/>
            <a:ext cx="2590800" cy="2857500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477000" y="1371600"/>
            <a:ext cx="381000" cy="38100"/>
          </a:xfrm>
          <a:prstGeom prst="rect">
            <a:avLst/>
          </a:prstGeom>
          <a:solidFill>
            <a:srgbClr val="C8A24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477000" y="1562100"/>
            <a:ext cx="217627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8A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77000" y="1809750"/>
            <a:ext cx="217627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شركاء الإعلام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477000" y="2133600"/>
            <a:ext cx="21336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950"/>
              </a:lnSpc>
              <a:buSzPct val="100000"/>
              <a:buChar char="•"/>
            </a:pPr>
            <a:r>
              <a:rPr lang="en-US" sz="975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بث امتحانات النجاح</a:t>
            </a:r>
            <a:endParaRPr lang="en-US" sz="975" dirty="0"/>
          </a:p>
          <a:p>
            <a:pPr algn="l" marL="342900" indent="-342900">
              <a:lnSpc>
                <a:spcPts val="1950"/>
              </a:lnSpc>
              <a:buSzPct val="100000"/>
              <a:buChar char="•"/>
            </a:pPr>
            <a:r>
              <a:rPr lang="en-US" sz="975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قصص تحول حقيقية</a:t>
            </a:r>
            <a:endParaRPr lang="en-US" sz="975" dirty="0"/>
          </a:p>
          <a:p>
            <a:pPr algn="l" marL="342900" indent="-342900">
              <a:lnSpc>
                <a:spcPts val="1950"/>
              </a:lnSpc>
              <a:buSzPct val="100000"/>
              <a:buChar char="•"/>
            </a:pPr>
            <a:r>
              <a:rPr lang="en-US" sz="975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محتوى وطني ملهم</a:t>
            </a:r>
            <a:endParaRPr lang="en-US" sz="975" dirty="0"/>
          </a:p>
          <a:p>
            <a:pPr algn="l" marL="342900" indent="-342900">
              <a:lnSpc>
                <a:spcPts val="1950"/>
              </a:lnSpc>
              <a:buSzPct val="100000"/>
              <a:buChar char="•"/>
            </a:pPr>
            <a:r>
              <a:rPr lang="en-US" sz="975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وصول لملايين الشباب</a:t>
            </a:r>
            <a:endParaRPr lang="en-US" sz="975" dirty="0"/>
          </a:p>
        </p:txBody>
      </p:sp>
      <p:sp>
        <p:nvSpPr>
          <p:cNvPr id="24" name="Text 22"/>
          <p:cNvSpPr/>
          <p:nvPr/>
        </p:nvSpPr>
        <p:spPr>
          <a:xfrm>
            <a:off x="6477000" y="3276600"/>
            <a:ext cx="217627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تلفزيون · يوتيوب · منصات رقمية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" y="4762500"/>
            <a:ext cx="266644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C8A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شريك يربح · جاهزون يُنسّق · الشباب يوظَّف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0" y="5114925"/>
            <a:ext cx="9144000" cy="28575"/>
          </a:xfrm>
          <a:prstGeom prst="rect">
            <a:avLst/>
          </a:prstGeom>
          <a:solidFill>
            <a:srgbClr val="A423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0E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47625"/>
          </a:xfrm>
          <a:prstGeom prst="rect">
            <a:avLst/>
          </a:prstGeom>
          <a:solidFill>
            <a:srgbClr val="C8A24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266700"/>
            <a:ext cx="16636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C8A24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BUSINESS MODEL</a:t>
            </a:r>
            <a:endParaRPr lang="en-US" sz="975" dirty="0"/>
          </a:p>
        </p:txBody>
      </p:sp>
      <p:sp>
        <p:nvSpPr>
          <p:cNvPr id="4" name="Text 2"/>
          <p:cNvSpPr/>
          <p:nvPr/>
        </p:nvSpPr>
        <p:spPr>
          <a:xfrm>
            <a:off x="457200" y="495300"/>
            <a:ext cx="513950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نموذج إيرادات متعدد المصادر · مستدام ذاتياً</a:t>
            </a:r>
            <a:endParaRPr lang="en-US" sz="2250" dirty="0"/>
          </a:p>
        </p:txBody>
      </p:sp>
      <p:sp>
        <p:nvSpPr>
          <p:cNvPr id="5" name="Text 3"/>
          <p:cNvSpPr/>
          <p:nvPr/>
        </p:nvSpPr>
        <p:spPr>
          <a:xfrm>
            <a:off x="457200" y="1104900"/>
            <a:ext cx="4000500" cy="1143000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57200" y="1119188"/>
            <a:ext cx="4000500" cy="0"/>
          </a:xfrm>
          <a:prstGeom prst="line">
            <a:avLst/>
          </a:prstGeom>
          <a:noFill/>
          <a:ln w="28575">
            <a:solidFill>
              <a:srgbClr val="C8A24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7700" y="1323975"/>
            <a:ext cx="36918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C8A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 01 · 40%</a:t>
            </a:r>
            <a:endParaRPr lang="en-US" sz="975" dirty="0"/>
          </a:p>
        </p:txBody>
      </p:sp>
      <p:sp>
        <p:nvSpPr>
          <p:cNvPr id="8" name="Text 6"/>
          <p:cNvSpPr/>
          <p:nvPr/>
        </p:nvSpPr>
        <p:spPr>
          <a:xfrm>
            <a:off x="647700" y="1524000"/>
            <a:ext cx="36918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50"/>
              </a:spcBef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رسوم الشراكة المؤسسية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7700" y="1809750"/>
            <a:ext cx="36918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50"/>
              </a:spcBef>
              <a:buNone/>
            </a:pPr>
            <a:r>
              <a:rPr lang="en-US" sz="975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الشركات تدفع مقابل الوصول إلى الكفاءات المدرّبة والمحتوى الإعلامي</a:t>
            </a:r>
            <a:endParaRPr lang="en-US" sz="975" dirty="0"/>
          </a:p>
        </p:txBody>
      </p:sp>
      <p:sp>
        <p:nvSpPr>
          <p:cNvPr id="10" name="Text 8"/>
          <p:cNvSpPr/>
          <p:nvPr/>
        </p:nvSpPr>
        <p:spPr>
          <a:xfrm>
            <a:off x="457200" y="2362200"/>
            <a:ext cx="4000500" cy="1143000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457200" y="2376488"/>
            <a:ext cx="4000500" cy="0"/>
          </a:xfrm>
          <a:prstGeom prst="line">
            <a:avLst/>
          </a:prstGeom>
          <a:noFill/>
          <a:ln w="28575">
            <a:solidFill>
              <a:srgbClr val="A423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700" y="2581275"/>
            <a:ext cx="36918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A42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 02 · 35%</a:t>
            </a:r>
            <a:endParaRPr lang="en-US" sz="975" dirty="0"/>
          </a:p>
        </p:txBody>
      </p:sp>
      <p:sp>
        <p:nvSpPr>
          <p:cNvPr id="13" name="Text 11"/>
          <p:cNvSpPr/>
          <p:nvPr/>
        </p:nvSpPr>
        <p:spPr>
          <a:xfrm>
            <a:off x="647700" y="2781300"/>
            <a:ext cx="36918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50"/>
              </a:spcBef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إنتاج وتوزيع إعلامي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7700" y="3067050"/>
            <a:ext cx="36918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50"/>
              </a:spcBef>
              <a:buNone/>
            </a:pPr>
            <a:r>
              <a:rPr lang="en-US" sz="975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محتوى قصص النجاح · حقوق البث · الإعلان المرتبط</a:t>
            </a:r>
            <a:endParaRPr lang="en-US" sz="975" dirty="0"/>
          </a:p>
        </p:txBody>
      </p:sp>
      <p:sp>
        <p:nvSpPr>
          <p:cNvPr id="15" name="Text 13"/>
          <p:cNvSpPr/>
          <p:nvPr/>
        </p:nvSpPr>
        <p:spPr>
          <a:xfrm>
            <a:off x="4686300" y="1104900"/>
            <a:ext cx="4000500" cy="1143000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4686300" y="1119188"/>
            <a:ext cx="4000500" cy="0"/>
          </a:xfrm>
          <a:prstGeom prst="line">
            <a:avLst/>
          </a:prstGeom>
          <a:noFill/>
          <a:ln w="28575">
            <a:solidFill>
              <a:srgbClr val="C8A24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76800" y="1323975"/>
            <a:ext cx="36918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C8A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 03 · 25%</a:t>
            </a:r>
            <a:endParaRPr lang="en-US" sz="975" dirty="0"/>
          </a:p>
        </p:txBody>
      </p:sp>
      <p:sp>
        <p:nvSpPr>
          <p:cNvPr id="18" name="Text 16"/>
          <p:cNvSpPr/>
          <p:nvPr/>
        </p:nvSpPr>
        <p:spPr>
          <a:xfrm>
            <a:off x="4876800" y="1524000"/>
            <a:ext cx="36918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50"/>
              </a:spcBef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العقود الحكومية والمؤسسية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876800" y="1809750"/>
            <a:ext cx="36918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50"/>
              </a:spcBef>
              <a:buNone/>
            </a:pPr>
            <a:r>
              <a:rPr lang="en-US" sz="975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برامج مموّلة حكومياً · مخرجات موثّقة · تقارير مستقلة</a:t>
            </a:r>
            <a:endParaRPr lang="en-US" sz="975" dirty="0"/>
          </a:p>
        </p:txBody>
      </p:sp>
      <p:sp>
        <p:nvSpPr>
          <p:cNvPr id="20" name="Text 18"/>
          <p:cNvSpPr/>
          <p:nvPr/>
        </p:nvSpPr>
        <p:spPr>
          <a:xfrm>
            <a:off x="4686300" y="2362200"/>
            <a:ext cx="4000500" cy="1143000"/>
          </a:xfrm>
          <a:prstGeom prst="rect">
            <a:avLst/>
          </a:prstGeom>
          <a:solidFill>
            <a:srgbClr val="C8A24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4876800" y="2552700"/>
            <a:ext cx="36918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0E0E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اقتصاديات الوحدة</a:t>
            </a:r>
            <a:endParaRPr lang="en-US" sz="975" dirty="0"/>
          </a:p>
        </p:txBody>
      </p:sp>
      <p:sp>
        <p:nvSpPr>
          <p:cNvPr id="22" name="Text 20"/>
          <p:cNvSpPr/>
          <p:nvPr/>
        </p:nvSpPr>
        <p:spPr>
          <a:xfrm>
            <a:off x="4876800" y="2809875"/>
            <a:ext cx="103971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E0E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3,200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876800" y="3076575"/>
            <a:ext cx="103971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تكلفة المتدرب (EGP)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370588" y="2809875"/>
            <a:ext cx="99113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E0E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5,800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370588" y="3076575"/>
            <a:ext cx="99113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إيراد المتدرب (EGP)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816751" y="2809875"/>
            <a:ext cx="69314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E0E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81%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7816751" y="3076575"/>
            <a:ext cx="6931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هامش الإسهام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0" y="5114925"/>
            <a:ext cx="9144000" cy="28575"/>
          </a:xfrm>
          <a:prstGeom prst="rect">
            <a:avLst/>
          </a:prstGeom>
          <a:solidFill>
            <a:srgbClr val="A423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0E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47625"/>
          </a:xfrm>
          <a:prstGeom prst="rect">
            <a:avLst/>
          </a:prstGeom>
          <a:solidFill>
            <a:srgbClr val="C8A24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266700"/>
            <a:ext cx="133633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C8A24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REVENUE MIX</a:t>
            </a:r>
            <a:endParaRPr lang="en-US" sz="975" dirty="0"/>
          </a:p>
        </p:txBody>
      </p:sp>
      <p:sp>
        <p:nvSpPr>
          <p:cNvPr id="4" name="Text 2"/>
          <p:cNvSpPr/>
          <p:nvPr/>
        </p:nvSpPr>
        <p:spPr>
          <a:xfrm>
            <a:off x="457200" y="495300"/>
            <a:ext cx="3792385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توزيع الإيرادات · محفظة متوازنة</a:t>
            </a:r>
            <a:endParaRPr lang="en-US" sz="2250" dirty="0"/>
          </a:p>
        </p:txBody>
      </p:sp>
      <p:sp>
        <p:nvSpPr>
          <p:cNvPr id="5" name="Text 3"/>
          <p:cNvSpPr/>
          <p:nvPr/>
        </p:nvSpPr>
        <p:spPr>
          <a:xfrm>
            <a:off x="5505450" y="1028700"/>
            <a:ext cx="3333750" cy="990600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5524500" y="1028700"/>
            <a:ext cx="0" cy="990600"/>
          </a:xfrm>
          <a:prstGeom prst="line">
            <a:avLst/>
          </a:prstGeom>
          <a:noFill/>
          <a:ln w="38100">
            <a:solidFill>
              <a:srgbClr val="C8A24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95950" y="1181100"/>
            <a:ext cx="305066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C8A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5695950" y="1524000"/>
            <a:ext cx="305066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12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الشراكات المؤسسية</a:t>
            </a:r>
            <a:endParaRPr lang="en-US" sz="1125" dirty="0"/>
          </a:p>
        </p:txBody>
      </p:sp>
      <p:sp>
        <p:nvSpPr>
          <p:cNvPr id="9" name="Text 7"/>
          <p:cNvSpPr/>
          <p:nvPr/>
        </p:nvSpPr>
        <p:spPr>
          <a:xfrm>
            <a:off x="5695950" y="1733550"/>
            <a:ext cx="305066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أكثر تنبؤاً · عقود سنوية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505450" y="2133600"/>
            <a:ext cx="3333750" cy="990600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5524500" y="2133600"/>
            <a:ext cx="0" cy="990600"/>
          </a:xfrm>
          <a:prstGeom prst="line">
            <a:avLst/>
          </a:prstGeom>
          <a:noFill/>
          <a:ln w="38100">
            <a:solidFill>
              <a:srgbClr val="A423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95950" y="2286000"/>
            <a:ext cx="305066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A42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5695950" y="2628900"/>
            <a:ext cx="305066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12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الإنتاج الإعلامي</a:t>
            </a:r>
            <a:endParaRPr lang="en-US" sz="1125" dirty="0"/>
          </a:p>
        </p:txBody>
      </p:sp>
      <p:sp>
        <p:nvSpPr>
          <p:cNvPr id="14" name="Text 12"/>
          <p:cNvSpPr/>
          <p:nvPr/>
        </p:nvSpPr>
        <p:spPr>
          <a:xfrm>
            <a:off x="5695950" y="2838450"/>
            <a:ext cx="305066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 فريد · قابل للتوسع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505450" y="3238500"/>
            <a:ext cx="3333750" cy="990600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5524500" y="3238500"/>
            <a:ext cx="0" cy="990600"/>
          </a:xfrm>
          <a:prstGeom prst="line">
            <a:avLst/>
          </a:prstGeom>
          <a:noFill/>
          <a:ln w="38100">
            <a:solidFill>
              <a:srgbClr val="5555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95950" y="3390900"/>
            <a:ext cx="305066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5695950" y="3733800"/>
            <a:ext cx="305066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12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العقود الحكومية</a:t>
            </a:r>
            <a:endParaRPr lang="en-US" sz="1125" dirty="0"/>
          </a:p>
        </p:txBody>
      </p:sp>
      <p:sp>
        <p:nvSpPr>
          <p:cNvPr id="19" name="Text 17"/>
          <p:cNvSpPr/>
          <p:nvPr/>
        </p:nvSpPr>
        <p:spPr>
          <a:xfrm>
            <a:off x="5695950" y="3943350"/>
            <a:ext cx="305066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مضمون · مدعوم بمخرجات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0" y="5114925"/>
            <a:ext cx="9144000" cy="28575"/>
          </a:xfrm>
          <a:prstGeom prst="rect">
            <a:avLst/>
          </a:prstGeom>
          <a:solidFill>
            <a:srgbClr val="A423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57200" y="1028700"/>
          <a:ext cx="4762500" cy="32385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0E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47625"/>
          </a:xfrm>
          <a:prstGeom prst="rect">
            <a:avLst/>
          </a:prstGeom>
          <a:solidFill>
            <a:srgbClr val="C8A24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266700"/>
            <a:ext cx="247229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C8A24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10-YEAR P&amp;L DASHBOARD</a:t>
            </a:r>
            <a:endParaRPr lang="en-US" sz="975" dirty="0"/>
          </a:p>
        </p:txBody>
      </p:sp>
      <p:sp>
        <p:nvSpPr>
          <p:cNvPr id="4" name="Text 2"/>
          <p:cNvSpPr/>
          <p:nvPr/>
        </p:nvSpPr>
        <p:spPr>
          <a:xfrm>
            <a:off x="457200" y="495300"/>
            <a:ext cx="6107406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توقعات الأداء المالي · 2025–2035 (مليون جنيه مصري)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2000250" cy="571500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09600" y="1009650"/>
            <a:ext cx="172935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25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الإيراد عام 2035</a:t>
            </a:r>
            <a:endParaRPr lang="en-US" sz="825" dirty="0"/>
          </a:p>
        </p:txBody>
      </p:sp>
      <p:sp>
        <p:nvSpPr>
          <p:cNvPr id="7" name="Text 5"/>
          <p:cNvSpPr/>
          <p:nvPr/>
        </p:nvSpPr>
        <p:spPr>
          <a:xfrm>
            <a:off x="609600" y="1133475"/>
            <a:ext cx="172935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C8A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132M EGP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590800" y="914400"/>
            <a:ext cx="2000250" cy="571500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2743200" y="1009650"/>
            <a:ext cx="172935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25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EBITDA عام 2035</a:t>
            </a:r>
            <a:endParaRPr lang="en-US" sz="825" dirty="0"/>
          </a:p>
        </p:txBody>
      </p:sp>
      <p:sp>
        <p:nvSpPr>
          <p:cNvPr id="10" name="Text 8"/>
          <p:cNvSpPr/>
          <p:nvPr/>
        </p:nvSpPr>
        <p:spPr>
          <a:xfrm>
            <a:off x="2743200" y="1133475"/>
            <a:ext cx="172935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C8A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68.6M EGP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724400" y="914400"/>
            <a:ext cx="2000250" cy="571500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876800" y="1009650"/>
            <a:ext cx="172935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25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متدربون عام 2035</a:t>
            </a:r>
            <a:endParaRPr lang="en-US" sz="825" dirty="0"/>
          </a:p>
        </p:txBody>
      </p:sp>
      <p:sp>
        <p:nvSpPr>
          <p:cNvPr id="13" name="Text 11"/>
          <p:cNvSpPr/>
          <p:nvPr/>
        </p:nvSpPr>
        <p:spPr>
          <a:xfrm>
            <a:off x="4876800" y="1133475"/>
            <a:ext cx="172935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C8A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30,000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858000" y="914400"/>
            <a:ext cx="2000250" cy="571500"/>
          </a:xfrm>
          <a:prstGeom prst="rect">
            <a:avLst/>
          </a:prstGeom>
          <a:solidFill>
            <a:srgbClr val="A423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7010400" y="1009650"/>
            <a:ext cx="172935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25" dirty="0">
                <a:solidFill>
                  <a:srgbClr val="FF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التعادل</a:t>
            </a:r>
            <a:endParaRPr lang="en-US" sz="825" dirty="0"/>
          </a:p>
        </p:txBody>
      </p:sp>
      <p:sp>
        <p:nvSpPr>
          <p:cNvPr id="16" name="Text 14"/>
          <p:cNvSpPr/>
          <p:nvPr/>
        </p:nvSpPr>
        <p:spPr>
          <a:xfrm>
            <a:off x="7010400" y="1133475"/>
            <a:ext cx="172935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0" y="5114925"/>
            <a:ext cx="9144000" cy="28575"/>
          </a:xfrm>
          <a:prstGeom prst="rect">
            <a:avLst/>
          </a:prstGeom>
          <a:solidFill>
            <a:srgbClr val="A423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graphicFrame>
        <p:nvGraphicFramePr>
          <p:cNvPr id="18" name="Chart 0" descr=""/>
          <p:cNvGraphicFramePr/>
          <p:nvPr/>
        </p:nvGraphicFramePr>
        <p:xfrm>
          <a:off x="457200" y="1600200"/>
          <a:ext cx="8229600" cy="2667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E0E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47625"/>
          </a:xfrm>
          <a:prstGeom prst="rect">
            <a:avLst/>
          </a:prstGeom>
          <a:solidFill>
            <a:srgbClr val="C8A24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266700"/>
            <a:ext cx="118529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C8A24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SCALE PLAN</a:t>
            </a:r>
            <a:endParaRPr lang="en-US" sz="975" dirty="0"/>
          </a:p>
        </p:txBody>
      </p:sp>
      <p:sp>
        <p:nvSpPr>
          <p:cNvPr id="4" name="Text 2"/>
          <p:cNvSpPr/>
          <p:nvPr/>
        </p:nvSpPr>
        <p:spPr>
          <a:xfrm>
            <a:off x="457200" y="495300"/>
            <a:ext cx="3459325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45 شاباً إلى برنامج وطني</a:t>
            </a:r>
            <a:endParaRPr lang="en-US" sz="225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2552700" cy="2857500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57200" y="1162050"/>
            <a:ext cx="2552700" cy="0"/>
          </a:xfrm>
          <a:prstGeom prst="line">
            <a:avLst/>
          </a:prstGeom>
          <a:noFill/>
          <a:ln w="38100">
            <a:solidFill>
              <a:srgbClr val="C8A24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409700"/>
            <a:ext cx="213741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C8A24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PHASE 01</a:t>
            </a:r>
            <a:endParaRPr lang="en-US" sz="975" dirty="0"/>
          </a:p>
        </p:txBody>
      </p:sp>
      <p:sp>
        <p:nvSpPr>
          <p:cNvPr id="8" name="Text 6"/>
          <p:cNvSpPr/>
          <p:nvPr/>
        </p:nvSpPr>
        <p:spPr>
          <a:xfrm>
            <a:off x="685800" y="1638300"/>
            <a:ext cx="21374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التجريبية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85800" y="1905000"/>
            <a:ext cx="213741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975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0–6 أشهر</a:t>
            </a:r>
            <a:endParaRPr lang="en-US" sz="975" dirty="0"/>
          </a:p>
        </p:txBody>
      </p:sp>
      <p:sp>
        <p:nvSpPr>
          <p:cNvPr id="10" name="Text 8"/>
          <p:cNvSpPr/>
          <p:nvPr/>
        </p:nvSpPr>
        <p:spPr>
          <a:xfrm>
            <a:off x="685800" y="2238375"/>
            <a:ext cx="213741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C8A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85800" y="2667000"/>
            <a:ext cx="213741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متدرب · مركزان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685800" y="2962275"/>
            <a:ext cx="2137410" cy="5482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القاهرة · الإسكندرية</a:t>
            </a:r>
            <a:endParaRPr lang="en-US" sz="900" dirty="0"/>
          </a:p>
          <a:p>
            <a:pPr algn="l" indent="0" marL="0">
              <a:lnSpc>
                <a:spcPts val="1440"/>
              </a:lnSpc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اختبار النموذج والأدوات</a:t>
            </a:r>
            <a:endParaRPr lang="en-US" sz="900" dirty="0"/>
          </a:p>
          <a:p>
            <a:pPr algn="l" indent="0" marL="0">
              <a:lnSpc>
                <a:spcPts val="1440"/>
              </a:lnSpc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بناء الشراكات الأولى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85800" y="3662958"/>
            <a:ext cx="213741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buNone/>
            </a:pPr>
            <a:r>
              <a:rPr lang="en-US" sz="1050" b="1" dirty="0">
                <a:solidFill>
                  <a:srgbClr val="C8A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3.6M EGP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143250" y="2428875"/>
            <a:ext cx="190500" cy="0"/>
          </a:xfrm>
          <a:prstGeom prst="line">
            <a:avLst/>
          </a:prstGeom>
          <a:noFill/>
          <a:ln w="1333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143250" y="2562225"/>
            <a:ext cx="190500" cy="0"/>
          </a:xfrm>
          <a:prstGeom prst="line">
            <a:avLst/>
          </a:prstGeom>
          <a:noFill/>
          <a:ln w="1333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38500" y="2362200"/>
            <a:ext cx="0" cy="266700"/>
          </a:xfrm>
          <a:prstGeom prst="line">
            <a:avLst/>
          </a:prstGeom>
          <a:noFill/>
          <a:ln w="190500">
            <a:solidFill>
              <a:srgbClr val="C8A24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48050" y="1143000"/>
            <a:ext cx="2552700" cy="2857500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3448050" y="1162050"/>
            <a:ext cx="2552700" cy="0"/>
          </a:xfrm>
          <a:prstGeom prst="line">
            <a:avLst/>
          </a:prstGeom>
          <a:noFill/>
          <a:ln w="38100">
            <a:solidFill>
              <a:srgbClr val="C8A24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76650" y="1409700"/>
            <a:ext cx="213741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C8A24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PHASE 02</a:t>
            </a:r>
            <a:endParaRPr lang="en-US" sz="975" dirty="0"/>
          </a:p>
        </p:txBody>
      </p:sp>
      <p:sp>
        <p:nvSpPr>
          <p:cNvPr id="20" name="Text 18"/>
          <p:cNvSpPr/>
          <p:nvPr/>
        </p:nvSpPr>
        <p:spPr>
          <a:xfrm>
            <a:off x="3676650" y="1638300"/>
            <a:ext cx="21374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التوسع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676650" y="1905000"/>
            <a:ext cx="213741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975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6–18 شهراً</a:t>
            </a:r>
            <a:endParaRPr lang="en-US" sz="975" dirty="0"/>
          </a:p>
        </p:txBody>
      </p:sp>
      <p:sp>
        <p:nvSpPr>
          <p:cNvPr id="22" name="Text 20"/>
          <p:cNvSpPr/>
          <p:nvPr/>
        </p:nvSpPr>
        <p:spPr>
          <a:xfrm>
            <a:off x="3676650" y="2238375"/>
            <a:ext cx="213741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C8A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3676650" y="2667000"/>
            <a:ext cx="213741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متدرب · 8 مراكز</a:t>
            </a:r>
            <a:endParaRPr lang="en-US" sz="975" dirty="0"/>
          </a:p>
        </p:txBody>
      </p:sp>
      <p:sp>
        <p:nvSpPr>
          <p:cNvPr id="24" name="Text 22"/>
          <p:cNvSpPr/>
          <p:nvPr/>
        </p:nvSpPr>
        <p:spPr>
          <a:xfrm>
            <a:off x="3676650" y="2962275"/>
            <a:ext cx="2137410" cy="5482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محافظات كبرى</a:t>
            </a:r>
            <a:endParaRPr lang="en-US" sz="900" dirty="0"/>
          </a:p>
          <a:p>
            <a:pPr algn="l" indent="0" marL="0">
              <a:lnSpc>
                <a:spcPts val="1440"/>
              </a:lnSpc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إطلاق المحتوى الإعلامي</a:t>
            </a:r>
            <a:endParaRPr lang="en-US" sz="900" dirty="0"/>
          </a:p>
          <a:p>
            <a:pPr algn="l" indent="0" marL="0">
              <a:lnSpc>
                <a:spcPts val="1440"/>
              </a:lnSpc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اتفاقيات مؤسسية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676650" y="3662958"/>
            <a:ext cx="213741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buNone/>
            </a:pPr>
            <a:r>
              <a:rPr lang="en-US" sz="1050" b="1" dirty="0">
                <a:solidFill>
                  <a:srgbClr val="C8A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15M EGP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134100" y="2428875"/>
            <a:ext cx="190500" cy="0"/>
          </a:xfrm>
          <a:prstGeom prst="line">
            <a:avLst/>
          </a:prstGeom>
          <a:noFill/>
          <a:ln w="1333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134100" y="2562225"/>
            <a:ext cx="190500" cy="0"/>
          </a:xfrm>
          <a:prstGeom prst="line">
            <a:avLst/>
          </a:prstGeom>
          <a:noFill/>
          <a:ln w="13335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29350" y="2362200"/>
            <a:ext cx="0" cy="266700"/>
          </a:xfrm>
          <a:prstGeom prst="line">
            <a:avLst/>
          </a:prstGeom>
          <a:noFill/>
          <a:ln w="190500">
            <a:solidFill>
              <a:srgbClr val="A4232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134100" y="1143000"/>
            <a:ext cx="2552700" cy="2857500"/>
          </a:xfrm>
          <a:prstGeom prst="rect">
            <a:avLst/>
          </a:prstGeom>
          <a:solidFill>
            <a:srgbClr val="A423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362700" y="1371600"/>
            <a:ext cx="213741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FFAAA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PHASE 03</a:t>
            </a:r>
            <a:endParaRPr lang="en-US" sz="975" dirty="0"/>
          </a:p>
        </p:txBody>
      </p:sp>
      <p:sp>
        <p:nvSpPr>
          <p:cNvPr id="31" name="Text 29"/>
          <p:cNvSpPr/>
          <p:nvPr/>
        </p:nvSpPr>
        <p:spPr>
          <a:xfrm>
            <a:off x="6362700" y="1600200"/>
            <a:ext cx="21374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الوطني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362700" y="1866900"/>
            <a:ext cx="213741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975" dirty="0">
                <a:solidFill>
                  <a:srgbClr val="FF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18–36 شهراً</a:t>
            </a:r>
            <a:endParaRPr lang="en-US" sz="975" dirty="0"/>
          </a:p>
        </p:txBody>
      </p:sp>
      <p:sp>
        <p:nvSpPr>
          <p:cNvPr id="33" name="Text 31"/>
          <p:cNvSpPr/>
          <p:nvPr/>
        </p:nvSpPr>
        <p:spPr>
          <a:xfrm>
            <a:off x="6362700" y="2200275"/>
            <a:ext cx="213741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3,000+</a:t>
            </a:r>
            <a:endParaRPr lang="en-US" sz="3000" dirty="0"/>
          </a:p>
        </p:txBody>
      </p:sp>
      <p:sp>
        <p:nvSpPr>
          <p:cNvPr id="34" name="Text 32"/>
          <p:cNvSpPr/>
          <p:nvPr/>
        </p:nvSpPr>
        <p:spPr>
          <a:xfrm>
            <a:off x="6362700" y="2628900"/>
            <a:ext cx="213741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FFDD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متدرب سنوياً</a:t>
            </a:r>
            <a:endParaRPr lang="en-US" sz="975" dirty="0"/>
          </a:p>
        </p:txBody>
      </p:sp>
      <p:sp>
        <p:nvSpPr>
          <p:cNvPr id="35" name="Text 33"/>
          <p:cNvSpPr/>
          <p:nvPr/>
        </p:nvSpPr>
        <p:spPr>
          <a:xfrm>
            <a:off x="6362700" y="2924175"/>
            <a:ext cx="2137410" cy="5482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00" dirty="0">
                <a:solidFill>
                  <a:srgbClr val="FFDD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جميع المحافظات</a:t>
            </a:r>
            <a:endParaRPr lang="en-US" sz="900" dirty="0"/>
          </a:p>
          <a:p>
            <a:pPr algn="l" indent="0" marL="0">
              <a:lnSpc>
                <a:spcPts val="1440"/>
              </a:lnSpc>
              <a:buNone/>
            </a:pPr>
            <a:r>
              <a:rPr lang="en-US" sz="900" dirty="0">
                <a:solidFill>
                  <a:srgbClr val="FFDD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شراكة مع شبكة مراكز الشباب</a:t>
            </a:r>
            <a:endParaRPr lang="en-US" sz="900" dirty="0"/>
          </a:p>
          <a:p>
            <a:pPr algn="l" indent="0" marL="0">
              <a:lnSpc>
                <a:spcPts val="1440"/>
              </a:lnSpc>
              <a:buNone/>
            </a:pPr>
            <a:r>
              <a:rPr lang="en-US" sz="900" dirty="0">
                <a:solidFill>
                  <a:srgbClr val="FFDD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برنامج وطني معتمد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362700" y="3624858"/>
            <a:ext cx="213741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52M EGP إيراد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0" y="5114925"/>
            <a:ext cx="9144000" cy="28575"/>
          </a:xfrm>
          <a:prstGeom prst="rect">
            <a:avLst/>
          </a:prstGeom>
          <a:solidFill>
            <a:srgbClr val="A423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E0E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47625"/>
          </a:xfrm>
          <a:prstGeom prst="rect">
            <a:avLst/>
          </a:prstGeom>
          <a:solidFill>
            <a:srgbClr val="C8A24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81500" y="571500"/>
            <a:ext cx="3458111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0"/>
              </a:lnSpc>
              <a:buNone/>
            </a:pPr>
            <a:r>
              <a:rPr lang="en-US" sz="12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457200" y="266700"/>
            <a:ext cx="218158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C8A24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NATIONAL ALIGNMENT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457200" y="495300"/>
            <a:ext cx="4175388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رؤية مصر 2030 · جاهزون في قلبها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457200" y="1143000"/>
            <a:ext cx="457200" cy="457200"/>
          </a:xfrm>
          <a:prstGeom prst="rect">
            <a:avLst/>
          </a:prstGeom>
          <a:solidFill>
            <a:srgbClr val="C8A24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52628" y="1143000"/>
            <a:ext cx="466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600"/>
              </a:lnSpc>
              <a:buNone/>
            </a:pPr>
            <a:r>
              <a:rPr lang="en-US" sz="1650" b="1" dirty="0">
                <a:solidFill>
                  <a:srgbClr val="0E0E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457200" y="1714500"/>
            <a:ext cx="18945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C8A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التنمية البشرية</a:t>
            </a:r>
            <a:endParaRPr lang="en-US" sz="1125" dirty="0"/>
          </a:p>
        </p:txBody>
      </p:sp>
      <p:sp>
        <p:nvSpPr>
          <p:cNvPr id="9" name="Text 7"/>
          <p:cNvSpPr/>
          <p:nvPr/>
        </p:nvSpPr>
        <p:spPr>
          <a:xfrm>
            <a:off x="457200" y="1943100"/>
            <a:ext cx="1894523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3"/>
              </a:lnSpc>
              <a:spcBef>
                <a:spcPts val="450"/>
              </a:spcBef>
              <a:buNone/>
            </a:pPr>
            <a:r>
              <a:rPr lang="en-US" sz="975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رفع قابلية التوظيف للشباب المصري</a:t>
            </a:r>
            <a:endParaRPr lang="en-US" sz="975" dirty="0"/>
          </a:p>
        </p:txBody>
      </p:sp>
      <p:sp>
        <p:nvSpPr>
          <p:cNvPr id="10" name="Text 8"/>
          <p:cNvSpPr/>
          <p:nvPr/>
        </p:nvSpPr>
        <p:spPr>
          <a:xfrm>
            <a:off x="2571750" y="1143000"/>
            <a:ext cx="457200" cy="457200"/>
          </a:xfrm>
          <a:prstGeom prst="rect">
            <a:avLst/>
          </a:prstGeom>
          <a:solidFill>
            <a:srgbClr val="A423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567178" y="1143000"/>
            <a:ext cx="466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6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2571750" y="1714500"/>
            <a:ext cx="18945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A42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التنويع الاقتصادي</a:t>
            </a:r>
            <a:endParaRPr lang="en-US" sz="1125" dirty="0"/>
          </a:p>
        </p:txBody>
      </p:sp>
      <p:sp>
        <p:nvSpPr>
          <p:cNvPr id="13" name="Text 11"/>
          <p:cNvSpPr/>
          <p:nvPr/>
        </p:nvSpPr>
        <p:spPr>
          <a:xfrm>
            <a:off x="2571750" y="1943100"/>
            <a:ext cx="1894523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3"/>
              </a:lnSpc>
              <a:spcBef>
                <a:spcPts val="450"/>
              </a:spcBef>
              <a:buNone/>
            </a:pPr>
            <a:r>
              <a:rPr lang="en-US" sz="975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خلق قوى عاملة ماهرة ومتنوعة</a:t>
            </a:r>
            <a:endParaRPr lang="en-US" sz="975" dirty="0"/>
          </a:p>
        </p:txBody>
      </p:sp>
      <p:sp>
        <p:nvSpPr>
          <p:cNvPr id="14" name="Text 12"/>
          <p:cNvSpPr/>
          <p:nvPr/>
        </p:nvSpPr>
        <p:spPr>
          <a:xfrm>
            <a:off x="4686300" y="1143000"/>
            <a:ext cx="457200" cy="457200"/>
          </a:xfrm>
          <a:prstGeom prst="rect">
            <a:avLst/>
          </a:prstGeom>
          <a:solidFill>
            <a:srgbClr val="C8A24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681728" y="1143000"/>
            <a:ext cx="466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600"/>
              </a:lnSpc>
              <a:buNone/>
            </a:pPr>
            <a:r>
              <a:rPr lang="en-US" sz="1650" b="1" dirty="0">
                <a:solidFill>
                  <a:srgbClr val="0E0E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4686300" y="1714500"/>
            <a:ext cx="18945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C8A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التحول الرقمي</a:t>
            </a:r>
            <a:endParaRPr lang="en-US" sz="1125" dirty="0"/>
          </a:p>
        </p:txBody>
      </p:sp>
      <p:sp>
        <p:nvSpPr>
          <p:cNvPr id="17" name="Text 15"/>
          <p:cNvSpPr/>
          <p:nvPr/>
        </p:nvSpPr>
        <p:spPr>
          <a:xfrm>
            <a:off x="4686300" y="1943100"/>
            <a:ext cx="1894523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3"/>
              </a:lnSpc>
              <a:spcBef>
                <a:spcPts val="450"/>
              </a:spcBef>
              <a:buNone/>
            </a:pPr>
            <a:r>
              <a:rPr lang="en-US" sz="975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بناء كفاءات رقمية</a:t>
            </a:r>
            <a:endParaRPr lang="en-US" sz="975" dirty="0"/>
          </a:p>
        </p:txBody>
      </p:sp>
      <p:sp>
        <p:nvSpPr>
          <p:cNvPr id="18" name="Text 16"/>
          <p:cNvSpPr/>
          <p:nvPr/>
        </p:nvSpPr>
        <p:spPr>
          <a:xfrm>
            <a:off x="6800850" y="1143000"/>
            <a:ext cx="457200" cy="457200"/>
          </a:xfrm>
          <a:prstGeom prst="rect">
            <a:avLst/>
          </a:prstGeom>
          <a:solidFill>
            <a:srgbClr val="1A1A1A"/>
          </a:solidFill>
          <a:ln w="19050">
            <a:solidFill>
              <a:srgbClr val="C8A24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815709" y="1162050"/>
            <a:ext cx="427482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300"/>
              </a:lnSpc>
              <a:buNone/>
            </a:pPr>
            <a:r>
              <a:rPr lang="en-US" sz="1650" b="1" dirty="0">
                <a:solidFill>
                  <a:srgbClr val="C8A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6800850" y="1714500"/>
            <a:ext cx="18945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التماسك المجتمعي</a:t>
            </a:r>
            <a:endParaRPr lang="en-US" sz="1125" dirty="0"/>
          </a:p>
        </p:txBody>
      </p:sp>
      <p:sp>
        <p:nvSpPr>
          <p:cNvPr id="21" name="Text 19"/>
          <p:cNvSpPr/>
          <p:nvPr/>
        </p:nvSpPr>
        <p:spPr>
          <a:xfrm>
            <a:off x="6800850" y="1943100"/>
            <a:ext cx="1894523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3"/>
              </a:lnSpc>
              <a:spcBef>
                <a:spcPts val="450"/>
              </a:spcBef>
              <a:buNone/>
            </a:pPr>
            <a:r>
              <a:rPr lang="en-US" sz="975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الحد من البطالة والاستقرار</a:t>
            </a:r>
            <a:endParaRPr lang="en-US" sz="975" dirty="0"/>
          </a:p>
        </p:txBody>
      </p:sp>
      <p:sp>
        <p:nvSpPr>
          <p:cNvPr id="22" name="Shape 20"/>
          <p:cNvSpPr/>
          <p:nvPr/>
        </p:nvSpPr>
        <p:spPr>
          <a:xfrm>
            <a:off x="457200" y="2957513"/>
            <a:ext cx="6667500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3152775"/>
            <a:ext cx="680085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350" dirty="0">
                <a:solidFill>
                  <a:srgbClr val="C8A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جاهزون ليس برنامج تدريب · هو استثمار وطني في مستقبل مصر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457200" y="3503265"/>
            <a:ext cx="68008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975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يُقدَّر الأثر الاقتصادي المتراكم بـ 2.1 مليار جنيه مصري بحلول 2035</a:t>
            </a:r>
            <a:endParaRPr lang="en-US" sz="975" dirty="0"/>
          </a:p>
        </p:txBody>
      </p:sp>
      <p:sp>
        <p:nvSpPr>
          <p:cNvPr id="25" name="Text 23"/>
          <p:cNvSpPr/>
          <p:nvPr/>
        </p:nvSpPr>
        <p:spPr>
          <a:xfrm>
            <a:off x="0" y="5114925"/>
            <a:ext cx="9144000" cy="28575"/>
          </a:xfrm>
          <a:prstGeom prst="rect">
            <a:avLst/>
          </a:prstGeom>
          <a:solidFill>
            <a:srgbClr val="A423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E0E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47625"/>
          </a:xfrm>
          <a:prstGeom prst="rect">
            <a:avLst/>
          </a:prstGeom>
          <a:solidFill>
            <a:srgbClr val="C8A24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266700"/>
            <a:ext cx="82308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C8A24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ASK</a:t>
            </a:r>
            <a:endParaRPr lang="en-US" sz="975" dirty="0"/>
          </a:p>
        </p:txBody>
      </p:sp>
      <p:sp>
        <p:nvSpPr>
          <p:cNvPr id="4" name="Text 2"/>
          <p:cNvSpPr/>
          <p:nvPr/>
        </p:nvSpPr>
        <p:spPr>
          <a:xfrm>
            <a:off x="457200" y="495300"/>
            <a:ext cx="3947833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التجريبية · الطلب المحدد</a:t>
            </a:r>
            <a:endParaRPr lang="en-US" sz="2250" dirty="0"/>
          </a:p>
        </p:txBody>
      </p:sp>
      <p:sp>
        <p:nvSpPr>
          <p:cNvPr id="5" name="Text 3"/>
          <p:cNvSpPr/>
          <p:nvPr/>
        </p:nvSpPr>
        <p:spPr>
          <a:xfrm>
            <a:off x="457200" y="1066800"/>
            <a:ext cx="4095750" cy="847725"/>
          </a:xfrm>
          <a:prstGeom prst="rect">
            <a:avLst/>
          </a:prstGeom>
          <a:solidFill>
            <a:srgbClr val="C8A24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47700" y="1219200"/>
            <a:ext cx="37890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0E0E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إجمالي الميزانية التجريبية</a:t>
            </a:r>
            <a:endParaRPr lang="en-US" sz="975" dirty="0"/>
          </a:p>
        </p:txBody>
      </p:sp>
      <p:sp>
        <p:nvSpPr>
          <p:cNvPr id="7" name="Text 5"/>
          <p:cNvSpPr/>
          <p:nvPr/>
        </p:nvSpPr>
        <p:spPr>
          <a:xfrm>
            <a:off x="647700" y="1362075"/>
            <a:ext cx="378904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E0E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3,600,000 جنيه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457200" y="1933575"/>
            <a:ext cx="4095750" cy="371475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47700" y="2047875"/>
            <a:ext cx="8124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رواتب المدربين</a:t>
            </a:r>
            <a:endParaRPr lang="en-US" sz="975" dirty="0"/>
          </a:p>
        </p:txBody>
      </p:sp>
      <p:sp>
        <p:nvSpPr>
          <p:cNvPr id="10" name="Text 8"/>
          <p:cNvSpPr/>
          <p:nvPr/>
        </p:nvSpPr>
        <p:spPr>
          <a:xfrm>
            <a:off x="4011216" y="2047875"/>
            <a:ext cx="3582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33.3%</a:t>
            </a:r>
            <a:endParaRPr lang="en-US" sz="975" dirty="0"/>
          </a:p>
        </p:txBody>
      </p:sp>
      <p:sp>
        <p:nvSpPr>
          <p:cNvPr id="11" name="Text 9"/>
          <p:cNvSpPr/>
          <p:nvPr/>
        </p:nvSpPr>
        <p:spPr>
          <a:xfrm>
            <a:off x="457200" y="2314575"/>
            <a:ext cx="4095750" cy="371475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47700" y="2428875"/>
            <a:ext cx="105155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إيجار وتجهيز المراكز</a:t>
            </a:r>
            <a:endParaRPr lang="en-US" sz="975" dirty="0"/>
          </a:p>
        </p:txBody>
      </p:sp>
      <p:sp>
        <p:nvSpPr>
          <p:cNvPr id="13" name="Text 11"/>
          <p:cNvSpPr/>
          <p:nvPr/>
        </p:nvSpPr>
        <p:spPr>
          <a:xfrm>
            <a:off x="4011216" y="2428875"/>
            <a:ext cx="3582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25.0%</a:t>
            </a:r>
            <a:endParaRPr lang="en-US" sz="975" dirty="0"/>
          </a:p>
        </p:txBody>
      </p:sp>
      <p:sp>
        <p:nvSpPr>
          <p:cNvPr id="14" name="Text 12"/>
          <p:cNvSpPr/>
          <p:nvPr/>
        </p:nvSpPr>
        <p:spPr>
          <a:xfrm>
            <a:off x="457200" y="2695575"/>
            <a:ext cx="4095750" cy="371475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47700" y="2809875"/>
            <a:ext cx="12944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إدارة المشروع والتشغيل</a:t>
            </a:r>
            <a:endParaRPr lang="en-US" sz="975" dirty="0"/>
          </a:p>
        </p:txBody>
      </p:sp>
      <p:sp>
        <p:nvSpPr>
          <p:cNvPr id="16" name="Text 14"/>
          <p:cNvSpPr/>
          <p:nvPr/>
        </p:nvSpPr>
        <p:spPr>
          <a:xfrm>
            <a:off x="4011216" y="2809875"/>
            <a:ext cx="3582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18.1%</a:t>
            </a:r>
            <a:endParaRPr lang="en-US" sz="975" dirty="0"/>
          </a:p>
        </p:txBody>
      </p:sp>
      <p:sp>
        <p:nvSpPr>
          <p:cNvPr id="17" name="Text 15"/>
          <p:cNvSpPr/>
          <p:nvPr/>
        </p:nvSpPr>
        <p:spPr>
          <a:xfrm>
            <a:off x="457200" y="3076575"/>
            <a:ext cx="4095750" cy="371475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47700" y="3190875"/>
            <a:ext cx="134301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التقييم المستقل والتقارير</a:t>
            </a:r>
            <a:endParaRPr lang="en-US" sz="975" dirty="0"/>
          </a:p>
        </p:txBody>
      </p:sp>
      <p:sp>
        <p:nvSpPr>
          <p:cNvPr id="19" name="Text 17"/>
          <p:cNvSpPr/>
          <p:nvPr/>
        </p:nvSpPr>
        <p:spPr>
          <a:xfrm>
            <a:off x="4080123" y="3190875"/>
            <a:ext cx="28797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6.9%</a:t>
            </a:r>
            <a:endParaRPr lang="en-US" sz="975" dirty="0"/>
          </a:p>
        </p:txBody>
      </p:sp>
      <p:sp>
        <p:nvSpPr>
          <p:cNvPr id="20" name="Text 18"/>
          <p:cNvSpPr/>
          <p:nvPr/>
        </p:nvSpPr>
        <p:spPr>
          <a:xfrm>
            <a:off x="457200" y="3457575"/>
            <a:ext cx="4095750" cy="371475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47700" y="3571875"/>
            <a:ext cx="73473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تطوير المناهج</a:t>
            </a:r>
            <a:endParaRPr lang="en-US" sz="975" dirty="0"/>
          </a:p>
        </p:txBody>
      </p:sp>
      <p:sp>
        <p:nvSpPr>
          <p:cNvPr id="22" name="Text 20"/>
          <p:cNvSpPr/>
          <p:nvPr/>
        </p:nvSpPr>
        <p:spPr>
          <a:xfrm>
            <a:off x="4011216" y="3571875"/>
            <a:ext cx="3582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12.5%</a:t>
            </a:r>
            <a:endParaRPr lang="en-US" sz="975" dirty="0"/>
          </a:p>
        </p:txBody>
      </p:sp>
      <p:sp>
        <p:nvSpPr>
          <p:cNvPr id="23" name="Text 21"/>
          <p:cNvSpPr/>
          <p:nvPr/>
        </p:nvSpPr>
        <p:spPr>
          <a:xfrm>
            <a:off x="457200" y="3838575"/>
            <a:ext cx="4095750" cy="371475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47700" y="3952875"/>
            <a:ext cx="14013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مستلزمات ودعم المتدربين</a:t>
            </a:r>
            <a:endParaRPr lang="en-US" sz="975" dirty="0"/>
          </a:p>
        </p:txBody>
      </p:sp>
      <p:sp>
        <p:nvSpPr>
          <p:cNvPr id="25" name="Text 23"/>
          <p:cNvSpPr/>
          <p:nvPr/>
        </p:nvSpPr>
        <p:spPr>
          <a:xfrm>
            <a:off x="4080123" y="3952875"/>
            <a:ext cx="28797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4.2%</a:t>
            </a:r>
            <a:endParaRPr lang="en-US" sz="975" dirty="0"/>
          </a:p>
        </p:txBody>
      </p:sp>
      <p:sp>
        <p:nvSpPr>
          <p:cNvPr id="26" name="Text 24"/>
          <p:cNvSpPr/>
          <p:nvPr/>
        </p:nvSpPr>
        <p:spPr>
          <a:xfrm>
            <a:off x="4667250" y="1066800"/>
            <a:ext cx="417766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050" dirty="0">
                <a:solidFill>
                  <a:srgbClr val="C8A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نطلب من الوزارة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681538" y="1371600"/>
            <a:ext cx="0" cy="381000"/>
          </a:xfrm>
          <a:prstGeom prst="line">
            <a:avLst/>
          </a:prstGeom>
          <a:noFill/>
          <a:ln w="28575">
            <a:solidFill>
              <a:srgbClr val="C8A24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48225" y="1371600"/>
            <a:ext cx="399307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تمويل تجريبي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848225" y="1609725"/>
            <a:ext cx="399307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50"/>
              </a:spcBef>
              <a:buNone/>
            </a:pPr>
            <a:r>
              <a:rPr lang="en-US" sz="975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 مليون جنيه مصري لـ 45 متدرباً في مرحلة 6 أشهر</a:t>
            </a:r>
            <a:endParaRPr lang="en-US" sz="975" dirty="0"/>
          </a:p>
        </p:txBody>
      </p:sp>
      <p:sp>
        <p:nvSpPr>
          <p:cNvPr id="30" name="Shape 28"/>
          <p:cNvSpPr/>
          <p:nvPr/>
        </p:nvSpPr>
        <p:spPr>
          <a:xfrm>
            <a:off x="4681538" y="1943100"/>
            <a:ext cx="0" cy="381000"/>
          </a:xfrm>
          <a:prstGeom prst="line">
            <a:avLst/>
          </a:prstGeom>
          <a:noFill/>
          <a:ln w="28575">
            <a:solidFill>
              <a:srgbClr val="C8A24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48225" y="1943100"/>
            <a:ext cx="399307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وصول للمراكز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848225" y="2181225"/>
            <a:ext cx="399307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50"/>
              </a:spcBef>
              <a:buNone/>
            </a:pPr>
            <a:r>
              <a:rPr lang="en-US" sz="975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مراكز الشباب والجهات الحكومية للتدريب والتجنيد</a:t>
            </a:r>
            <a:endParaRPr lang="en-US" sz="975" dirty="0"/>
          </a:p>
        </p:txBody>
      </p:sp>
      <p:sp>
        <p:nvSpPr>
          <p:cNvPr id="33" name="Shape 31"/>
          <p:cNvSpPr/>
          <p:nvPr/>
        </p:nvSpPr>
        <p:spPr>
          <a:xfrm>
            <a:off x="4681538" y="2514600"/>
            <a:ext cx="0" cy="381000"/>
          </a:xfrm>
          <a:prstGeom prst="line">
            <a:avLst/>
          </a:prstGeom>
          <a:noFill/>
          <a:ln w="28575">
            <a:solidFill>
              <a:srgbClr val="A4232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48225" y="2514600"/>
            <a:ext cx="399307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اعتماد رسمي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848225" y="2752725"/>
            <a:ext cx="399307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50"/>
              </a:spcBef>
              <a:buNone/>
            </a:pPr>
            <a:r>
              <a:rPr lang="en-US" sz="975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شهادة معتمدة حكومياً تُعزز ثقة أصحاب العمل</a:t>
            </a:r>
            <a:endParaRPr lang="en-US" sz="975" dirty="0"/>
          </a:p>
        </p:txBody>
      </p:sp>
      <p:sp>
        <p:nvSpPr>
          <p:cNvPr id="36" name="Shape 34"/>
          <p:cNvSpPr/>
          <p:nvPr/>
        </p:nvSpPr>
        <p:spPr>
          <a:xfrm>
            <a:off x="4681538" y="3086100"/>
            <a:ext cx="0" cy="381000"/>
          </a:xfrm>
          <a:prstGeom prst="line">
            <a:avLst/>
          </a:prstGeom>
          <a:noFill/>
          <a:ln w="28575">
            <a:solidFill>
              <a:srgbClr val="C8A24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48225" y="3086100"/>
            <a:ext cx="399307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رعاية إعلامية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848225" y="3324225"/>
            <a:ext cx="399307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50"/>
              </a:spcBef>
              <a:buNone/>
            </a:pPr>
            <a:r>
              <a:rPr lang="en-US" sz="975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دعم إطلاق البرنامج وقصص النجاح الأولى</a:t>
            </a:r>
            <a:endParaRPr lang="en-US" sz="975" dirty="0"/>
          </a:p>
        </p:txBody>
      </p:sp>
      <p:sp>
        <p:nvSpPr>
          <p:cNvPr id="39" name="Text 37"/>
          <p:cNvSpPr/>
          <p:nvPr/>
        </p:nvSpPr>
        <p:spPr>
          <a:xfrm>
            <a:off x="0" y="5114925"/>
            <a:ext cx="9144000" cy="28575"/>
          </a:xfrm>
          <a:prstGeom prst="rect">
            <a:avLst/>
          </a:prstGeom>
          <a:solidFill>
            <a:srgbClr val="A423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E0E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7150"/>
          </a:xfrm>
          <a:prstGeom prst="rect">
            <a:avLst/>
          </a:prstGeom>
          <a:solidFill>
            <a:srgbClr val="C8A24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9096375" y="0"/>
            <a:ext cx="47625" cy="5143500"/>
          </a:xfrm>
          <a:prstGeom prst="rect">
            <a:avLst/>
          </a:prstGeom>
          <a:solidFill>
            <a:srgbClr val="A423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-95250" y="762000"/>
            <a:ext cx="5625275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0"/>
              </a:lnSpc>
              <a:buNone/>
            </a:pPr>
            <a:r>
              <a:rPr lang="en-US" sz="13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جاهزون</a:t>
            </a:r>
            <a:endParaRPr lang="en-US" sz="13500" dirty="0"/>
          </a:p>
        </p:txBody>
      </p:sp>
      <p:sp>
        <p:nvSpPr>
          <p:cNvPr id="5" name="Text 3"/>
          <p:cNvSpPr/>
          <p:nvPr/>
        </p:nvSpPr>
        <p:spPr>
          <a:xfrm>
            <a:off x="762000" y="1333500"/>
            <a:ext cx="2921329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b="1" dirty="0">
                <a:solidFill>
                  <a:srgbClr val="C8A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JAHIZOON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762000" y="2000250"/>
            <a:ext cx="5829300" cy="670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الشباب المصري جاهز للعمل</a:t>
            </a:r>
            <a:endParaRPr lang="en-US" sz="1650" dirty="0"/>
          </a:p>
          <a:p>
            <a:pPr algn="l" indent="0" marL="0">
              <a:lnSpc>
                <a:spcPts val="264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نحتاج فقط من يُعدّهم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762000" y="2781300"/>
            <a:ext cx="3810000" cy="19050"/>
          </a:xfrm>
          <a:prstGeom prst="rect">
            <a:avLst/>
          </a:prstGeom>
          <a:solidFill>
            <a:srgbClr val="C8A24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62000" y="3028950"/>
            <a:ext cx="268922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125" dirty="0">
                <a:solidFill>
                  <a:srgbClr val="C8A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YM4 Education · www.ym4education.com</a:t>
            </a:r>
            <a:endParaRPr lang="en-US" sz="1125" dirty="0"/>
          </a:p>
        </p:txBody>
      </p:sp>
      <p:sp>
        <p:nvSpPr>
          <p:cNvPr id="9" name="Text 7"/>
          <p:cNvSpPr/>
          <p:nvPr/>
        </p:nvSpPr>
        <p:spPr>
          <a:xfrm>
            <a:off x="762000" y="3200400"/>
            <a:ext cx="22098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info@ym4education.com · القاهرة، مصر</a:t>
            </a:r>
            <a:endParaRPr lang="en-US" sz="975" dirty="0"/>
          </a:p>
        </p:txBody>
      </p:sp>
      <p:sp>
        <p:nvSpPr>
          <p:cNvPr id="10" name="Shape 8"/>
          <p:cNvSpPr/>
          <p:nvPr/>
        </p:nvSpPr>
        <p:spPr>
          <a:xfrm>
            <a:off x="762000" y="4386263"/>
            <a:ext cx="7620000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62000" y="4543425"/>
            <a:ext cx="777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معاً نستطيع تحويل 500,000 خريج سنوياً من عبء إلى قوة دافعة للاقتصاد المصري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0" y="5105400"/>
            <a:ext cx="9144000" cy="38100"/>
          </a:xfrm>
          <a:prstGeom prst="rect">
            <a:avLst/>
          </a:prstGeom>
          <a:solidFill>
            <a:srgbClr val="A423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JAHIZOON — Egypt National Youth Work-Readiness Programme</dc:title>
  <dc:subject>PptxGenJS Presentation</dc:subject>
  <dc:creator>YM4 Education</dc:creator>
  <cp:lastModifiedBy>YM4 Education</cp:lastModifiedBy>
  <cp:revision>1</cp:revision>
  <dcterms:created xsi:type="dcterms:W3CDTF">2026-06-28T00:46:36Z</dcterms:created>
  <dcterms:modified xsi:type="dcterms:W3CDTF">2026-06-28T00:46:36Z</dcterms:modified>
</cp:coreProperties>
</file>