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13.png"/><Relationship Id="rId6" Type="http://schemas.openxmlformats.org/officeDocument/2006/relationships/image" Target="../media/image21.png"/><Relationship Id="rId7" Type="http://schemas.openxmlformats.org/officeDocument/2006/relationships/image" Target="../media/image17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17.png"/><Relationship Id="rId6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0"/>
            <a:ext cx="6858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0952" y="0"/>
            <a:ext cx="6858000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112" y="0"/>
            <a:ext cx="100584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11183112" cy="635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63500" cy="18288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وزارة التضامن الاجتماعي — جمهورية مصر العربية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200" b="1" i="0">
                <a:solidFill>
                  <a:srgbClr val="FFFFFF"/>
                </a:solidFill>
                <a:latin typeface="Montserrat"/>
              </a:rPr>
              <a:t>مبادرة وطنية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0" i="0">
                <a:solidFill>
                  <a:srgbClr val="C8A24C"/>
                </a:solidFill>
                <a:latin typeface="Inter"/>
              </a:rPr>
              <a:t>لتأهيل الشباب وتمكينهم اقتصادياً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1">
                <a:solidFill>
                  <a:srgbClr val="FFFFFF"/>
                </a:solidFill>
                <a:latin typeface="Inter"/>
              </a:rPr>
              <a:t>من قاعة الدارس إلى سوق العمل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89120"/>
            <a:ext cx="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389120"/>
            <a:ext cx="594360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C8A24C"/>
                </a:solidFill>
                <a:latin typeface="Inter"/>
              </a:rPr>
              <a:t>٢٠٢٦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9728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097280" y="0"/>
            <a:ext cx="1017727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28600"/>
            <a:ext cx="9628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FFFFFF"/>
                </a:solidFill>
                <a:latin typeface="Montserrat"/>
              </a:rPr>
              <a:t>فهرس المحتويات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868680"/>
            <a:ext cx="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80160" y="868680"/>
            <a:ext cx="962863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-10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512" y="109728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88552" y="11430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24C"/>
                </a:solidFill>
                <a:latin typeface="Montserra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الإشكالية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17320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الشهادة وحدها لا تصنع فرصة عمل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889252"/>
            <a:ext cx="962863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10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1901952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88552" y="19476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24C"/>
                </a:solidFill>
                <a:latin typeface="Montserra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1901952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الحل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21992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تدريب حقيقي — إثبات حقيقي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693924"/>
            <a:ext cx="962863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-10-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2" y="2706624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88552" y="275234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24C"/>
                </a:solidFill>
                <a:latin typeface="Montserra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706624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إثبات النموذج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026664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التجربة الريادية — الأكاديمية العربية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3498596"/>
            <a:ext cx="962863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-10-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512" y="3511296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88552" y="355701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24C"/>
                </a:solidFill>
                <a:latin typeface="Montserra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511296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خطة المراحل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31336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من 60 شابًا إلى برنامج وطني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80160" y="4303268"/>
            <a:ext cx="962863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-10-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1512" y="4315968"/>
            <a:ext cx="502920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88552" y="436168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24C"/>
                </a:solidFill>
                <a:latin typeface="Montserra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15968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المؤشرات والأثر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636008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أرقام نقدمها ونتحمل مسؤوليتها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0160" y="5107940"/>
            <a:ext cx="9628632" cy="12700"/>
          </a:xfrm>
          <a:prstGeom prst="rect">
            <a:avLst/>
          </a:prstGeom>
          <a:solidFill>
            <a:srgbClr val="2A2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-10-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1512" y="512064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988552" y="51663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8A24C"/>
                </a:solidFill>
                <a:latin typeface="Montserrat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120640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FFFFFF"/>
                </a:solidFill>
                <a:latin typeface="Montserrat"/>
              </a:rPr>
              <a:t>التوافق والطلب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440680"/>
            <a:ext cx="7434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C8A24C"/>
                </a:solidFill>
                <a:latin typeface="Inter"/>
              </a:rPr>
              <a:t>تحالف محكم مع أولويات الوزارة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22960" cy="6858000"/>
          </a:xfrm>
          <a:prstGeom prst="rect">
            <a:avLst/>
          </a:prstGeom>
        </p:spPr>
      </p:pic>
      <p:pic>
        <p:nvPicPr>
          <p:cNvPr id="5" name="Picture 4" descr="image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0"/>
            <a:ext cx="1045159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ملخص تنفيذي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999439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  <a:latin typeface="Montserrat"/>
              </a:rPr>
              <a:t>الأزمة واضحة — الحل موجود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1234440"/>
            <a:ext cx="7772400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371600"/>
            <a:ext cx="6400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Inter"/>
              </a:rPr>
              <a:t>تقدم MY4 Education هذا الملف إلى وزارة التضامن الاجتماعي طالبةً الرعاية الرسمية والتمويل لتدريب نموذج قادر على تحويل الدارسين من قاعة الدرس إلى سوق العمل.
الأرقام تحدد الأزمة بدقة: 13 مليون خريج أكاديمي متخصص بسوق العمل لا يجد فرصة توظيف تناسب مستواه. القضية ليست في نقص الوظائف، بل في نقص الجاهزية.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1288" y="3657600"/>
            <a:ext cx="3200400" cy="182880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-8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7328" y="374904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61288" y="39776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 i="0">
                <a:solidFill>
                  <a:srgbClr val="C8A24C"/>
                </a:solidFill>
                <a:latin typeface="Montserrat"/>
              </a:rPr>
              <a:t>13.2%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46634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معدل بطالة الشباب — مصر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5166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17720" y="3657600"/>
            <a:ext cx="3200400" cy="182880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8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374904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17720" y="39776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 i="0">
                <a:solidFill>
                  <a:srgbClr val="C8A24C"/>
                </a:solidFill>
                <a:latin typeface="Montserrat"/>
              </a:rPr>
              <a:t>16.9%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6634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بطالة الفئة العمرية 20–24 سنة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166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74152" y="3657600"/>
            <a:ext cx="3200400" cy="1828800"/>
          </a:xfrm>
          <a:prstGeom prst="rect">
            <a:avLst/>
          </a:prstGeom>
          <a:solidFill>
            <a:srgbClr val="1814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-8-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80192" y="374904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74152" y="39776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 i="0">
                <a:solidFill>
                  <a:srgbClr val="C8A24C"/>
                </a:solidFill>
                <a:latin typeface="Montserrat"/>
              </a:rPr>
              <a:t>33.8%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466344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بطالة الشابات — الأعلى تاريخياً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51663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5580" y="0"/>
            <a:ext cx="7313371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400300"/>
            <a:ext cx="54864" cy="2057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82008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200" b="1" i="0">
                <a:solidFill>
                  <a:srgbClr val="FFFFFF"/>
                </a:solidFill>
                <a:latin typeface="Montserrat"/>
              </a:rPr>
              <a:t>الإشكالية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107259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611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الشهادة وحدها لا تصنع فرصة عمل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0"/>
            <a:ext cx="1036015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01 · الإشكالية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9902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الأرقام تحدد الأزمة بدقة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97280"/>
            <a:ext cx="990295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234440"/>
            <a:ext cx="4677156" cy="1188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908" y="130759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8756" y="1307592"/>
            <a:ext cx="4585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1.2M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48756" y="1874520"/>
            <a:ext cx="4585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شاب مصري عاطل عن العمل رغم المؤهلات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8756" y="2258568"/>
            <a:ext cx="45857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234440"/>
            <a:ext cx="4677156" cy="1188720"/>
          </a:xfrm>
          <a:prstGeom prst="rect">
            <a:avLst/>
          </a:prstGeom>
          <a:solidFill>
            <a:srgbClr val="16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-10-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130759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97280" y="1307592"/>
            <a:ext cx="4585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16.8%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1874520"/>
            <a:ext cx="4585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بطالة خريجي الجامعات تحديداً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258568"/>
            <a:ext cx="45857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48756" y="2560320"/>
            <a:ext cx="4677156" cy="1188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8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908" y="263347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48756" y="2633472"/>
            <a:ext cx="4585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72%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8756" y="3200400"/>
            <a:ext cx="4585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من أصحاب العمل: الخريجون غير مؤهلين عملياً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8756" y="3584448"/>
            <a:ext cx="45857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CAPMAS 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2560320"/>
            <a:ext cx="4677156" cy="1188720"/>
          </a:xfrm>
          <a:prstGeom prst="rect">
            <a:avLst/>
          </a:prstGeom>
          <a:solidFill>
            <a:srgbClr val="16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0432" y="2633472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97280" y="2633472"/>
            <a:ext cx="4585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200400"/>
            <a:ext cx="4585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وحدة جامعية تضامن اجتماعي تخدم 250,000 طالب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584448"/>
            <a:ext cx="45857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وزارة التضامن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48756" y="3886200"/>
            <a:ext cx="4677156" cy="118872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-8-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1908" y="3959352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48756" y="3959352"/>
            <a:ext cx="458571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i="0">
                <a:solidFill>
                  <a:srgbClr val="C8A24C"/>
                </a:solidFill>
                <a:latin typeface="Montserrat"/>
              </a:rPr>
              <a:t>70%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8756" y="4526280"/>
            <a:ext cx="458571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من أسباب الفشل المهني: نقص المهارات لا نقص الفرص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8756" y="4910328"/>
            <a:ext cx="45857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1">
                <a:solidFill>
                  <a:srgbClr val="C8A24C"/>
                </a:solidFill>
                <a:latin typeface="Inter"/>
              </a:rPr>
              <a:t>ILO 2024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5580" y="0"/>
            <a:ext cx="7313371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400300"/>
            <a:ext cx="54864" cy="2057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82008"/>
                </a:solidFill>
                <a:latin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200" b="1" i="0">
                <a:solidFill>
                  <a:srgbClr val="FFFFFF"/>
                </a:solidFill>
                <a:latin typeface="Montserrat"/>
              </a:rPr>
              <a:t>الحل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107259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611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تدريب حقيقي — إثبات حقيقي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0"/>
            <a:ext cx="1036015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02 · الحل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9902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كيف يعمل النموذج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51560"/>
            <a:ext cx="990295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188720"/>
            <a:ext cx="3072384" cy="320040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15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1325880"/>
            <a:ext cx="640080" cy="640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188720" y="2103120"/>
            <a:ext cx="457200" cy="36576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60320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التشخيص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08960"/>
            <a:ext cx="298094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تحليل احتياجات المنطقة والفئة المستهدفة — مسار مخصص لكل دفعة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5404" y="1188720"/>
            <a:ext cx="3072384" cy="3200400"/>
          </a:xfrm>
          <a:prstGeom prst="rect">
            <a:avLst/>
          </a:prstGeom>
          <a:solidFill>
            <a:srgbClr val="201808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-8-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325880"/>
            <a:ext cx="640080" cy="6400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466844" y="2103120"/>
            <a:ext cx="457200" cy="36576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6844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5404" y="2560320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التدريب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404" y="3108960"/>
            <a:ext cx="298094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برنامج مكثف 8 أسابيع: مهارات رقمية + ناعمة + محاكاة بيئة العمل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3528" y="1188720"/>
            <a:ext cx="3072384" cy="3200400"/>
          </a:xfrm>
          <a:prstGeom prst="rect">
            <a:avLst/>
          </a:prstGeom>
          <a:solidFill>
            <a:srgbClr val="261E0A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325880"/>
            <a:ext cx="640080" cy="64008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744968" y="2103120"/>
            <a:ext cx="457200" cy="36576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44968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E0E0E"/>
                </a:solidFill>
                <a:latin typeface="Montserrat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3528" y="2560320"/>
            <a:ext cx="29809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Montserrat"/>
              </a:rPr>
              <a:t>التوظيف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53528" y="3108960"/>
            <a:ext cx="298094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 i="0">
                <a:solidFill>
                  <a:srgbClr val="FFFFFF"/>
                </a:solidFill>
                <a:latin typeface="Inter"/>
              </a:rPr>
              <a:t>ربط فوري بشركاء سوق العمل + متابعة 90 يوماً بعد الالتحاق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4572000"/>
            <a:ext cx="9902952" cy="1051560"/>
          </a:xfrm>
          <a:prstGeom prst="rect">
            <a:avLst/>
          </a:prstGeom>
          <a:solidFill>
            <a:srgbClr val="141004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953719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البيانات الدولية تثبت أن الدمج بين التدريب النظري والتطبيق الفعلي يرفع معدل التوظيف بنسبة تتجاوز 52% مقارنةً بالتدريب التقليدي (IFC 2024). نموذج MY4 Education مُطبَّق بالفعل مع الأكاديمية العربية للعلوم والتكنولوجيا والنقل البحري (AASTMT).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5580" y="0"/>
            <a:ext cx="7313371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400300"/>
            <a:ext cx="54864" cy="2057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82008"/>
                </a:solidFill>
                <a:latin typeface="Montserrat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200" b="1" i="0">
                <a:solidFill>
                  <a:srgbClr val="FFFFFF"/>
                </a:solidFill>
                <a:latin typeface="Montserrat"/>
              </a:rPr>
              <a:t>إثبات النموذج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107259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611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التجربة الريادية — الأكاديمية العربية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0"/>
            <a:ext cx="1036015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03 · إثبات النموذج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9902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FFFFFF"/>
                </a:solidFill>
                <a:latin typeface="Montserrat"/>
              </a:rPr>
              <a:t>الأكاديمية العربية — التجربة الريادية على الواقع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97280"/>
            <a:ext cx="990295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1887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100" b="0" i="0">
                <a:solidFill>
                  <a:srgbClr val="FFFFFF"/>
                </a:solidFill>
                <a:latin typeface="Inter"/>
              </a:rPr>
              <a:t>طوّر نموذج MY4 Education شراكةً رائدة داخل الأكاديمية العربية للعلوم والتكنولوجيا والنقل البحري (AASTMT)، وهي من أكبر المؤسسات التعليمية التقنية في المنطقة العربية.</a:t>
            </a:r>
          </a:p>
        </p:txBody>
      </p:sp>
      <p:pic>
        <p:nvPicPr>
          <p:cNvPr id="9" name="Picture 8" descr="image-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1512" y="2377440"/>
            <a:ext cx="457200" cy="457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7280" y="2542032"/>
            <a:ext cx="54864" cy="16459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37744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نسبة توظيف 85% خلال 90 يوماً من إتمام البرنامج</a:t>
            </a:r>
          </a:p>
        </p:txBody>
      </p:sp>
      <p:pic>
        <p:nvPicPr>
          <p:cNvPr id="12" name="Picture 11" descr="image-8-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512" y="3063240"/>
            <a:ext cx="457200" cy="4572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97280" y="3227832"/>
            <a:ext cx="54864" cy="16459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06324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200+ متدرب أتموا البرنامج بنجاح في الدفعات الأولى</a:t>
            </a:r>
          </a:p>
        </p:txBody>
      </p:sp>
      <p:pic>
        <p:nvPicPr>
          <p:cNvPr id="15" name="Picture 14" descr="image-8-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1512" y="3749040"/>
            <a:ext cx="457200" cy="457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097280" y="3913632"/>
            <a:ext cx="54864" cy="16459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74904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تقييم رضا المتدربين: 4.8 / 5.0</a:t>
            </a:r>
          </a:p>
        </p:txBody>
      </p:sp>
      <p:pic>
        <p:nvPicPr>
          <p:cNvPr id="18" name="Picture 17" descr="image-8-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2" y="4434840"/>
            <a:ext cx="457200" cy="4572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7280" y="4599432"/>
            <a:ext cx="54864" cy="164592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434840"/>
            <a:ext cx="9171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شركاء توظيف من القطاعين الخاص والحكومي: +16 جهة</a:t>
            </a:r>
          </a:p>
        </p:txBody>
      </p:sp>
      <p:pic>
        <p:nvPicPr>
          <p:cNvPr id="21" name="Picture 20" descr="image-18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7280" y="5303520"/>
            <a:ext cx="10085832" cy="82296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5580" y="0"/>
            <a:ext cx="7313371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400300"/>
            <a:ext cx="54864" cy="2057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82008"/>
                </a:solidFill>
                <a:latin typeface="Montserra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200" b="1" i="0">
                <a:solidFill>
                  <a:srgbClr val="FFFFFF"/>
                </a:solidFill>
                <a:latin typeface="Montserrat"/>
              </a:rPr>
              <a:t>خطة المراحل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107259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611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من 60 شابًا إلى برنامج وطني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0"/>
            <a:ext cx="1036015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04 · خطة المراحل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9902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مسار التوسع المتدرج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51560"/>
            <a:ext cx="990295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234440"/>
            <a:ext cx="3099816" cy="4846320"/>
          </a:xfrm>
          <a:prstGeom prst="rect">
            <a:avLst/>
          </a:prstGeom>
          <a:solidFill>
            <a:srgbClr val="161206"/>
          </a:solidFill>
          <a:ln w="254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234440"/>
            <a:ext cx="3099816" cy="10972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-8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7148" y="141732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2148840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C8A24C"/>
                </a:solidFill>
                <a:latin typeface="Inter"/>
              </a:rPr>
              <a:t>المرحلة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المرحلة التجريبية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17520"/>
            <a:ext cx="2916936" cy="292608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017520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50" b="0" i="0">
                <a:solidFill>
                  <a:srgbClr val="C8A24C"/>
                </a:solidFill>
                <a:latin typeface="Inter"/>
              </a:rPr>
              <a:t>Q1–Q2 ٢٠٢٦  ·  300 شاب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383280"/>
            <a:ext cx="2916936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365760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52044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3 مراكز تجريبية في 3 محافظات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22776" y="443484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29768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تطوير المناهج مع 5 شركاء صناعيين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22776" y="521208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07492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قياس أثر شامل ونظام تقارير للوزارة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1234440"/>
            <a:ext cx="3099816" cy="4846320"/>
          </a:xfrm>
          <a:prstGeom prst="rect">
            <a:avLst/>
          </a:prstGeom>
          <a:solidFill>
            <a:srgbClr val="161206"/>
          </a:solidFill>
          <a:ln w="25400">
            <a:solidFill>
              <a:srgbClr val="E8C4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1234440"/>
            <a:ext cx="3099816" cy="109728"/>
          </a:xfrm>
          <a:prstGeom prst="rect">
            <a:avLst/>
          </a:prstGeom>
          <a:solidFill>
            <a:srgbClr val="E8C4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41732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61688" y="2148840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E8C46C"/>
                </a:solidFill>
                <a:latin typeface="Inter"/>
              </a:rPr>
              <a:t>المرحلة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2514600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مرحلة التوسع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3128" y="3017520"/>
            <a:ext cx="2916936" cy="292608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128" y="3017520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50" b="0" i="0">
                <a:solidFill>
                  <a:srgbClr val="C8A24C"/>
                </a:solidFill>
                <a:latin typeface="Inter"/>
              </a:rPr>
              <a:t>Q3–Q4 ٢٠٢٦  ·  1,000 شاب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3383280"/>
            <a:ext cx="2916936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87184" y="365760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352044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10 مراكز — 5 محافظات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87184" y="443484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429768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مسار مخصص للشابات (بطالة 33.8%)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87184" y="521208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53128" y="507492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إدراج ضمن برنامج ستارت 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26096" y="1234440"/>
            <a:ext cx="3099816" cy="4846320"/>
          </a:xfrm>
          <a:prstGeom prst="rect">
            <a:avLst/>
          </a:prstGeom>
          <a:solidFill>
            <a:srgbClr val="161206"/>
          </a:solidFill>
          <a:ln w="25400">
            <a:solidFill>
              <a:srgbClr val="A8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096" y="1234440"/>
            <a:ext cx="3099816" cy="109728"/>
          </a:xfrm>
          <a:prstGeom prst="rect">
            <a:avLst/>
          </a:prstGeom>
          <a:solidFill>
            <a:srgbClr val="A8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-8-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5964" y="1417320"/>
            <a:ext cx="640080" cy="6400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626096" y="2148840"/>
            <a:ext cx="3008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1" i="0">
                <a:solidFill>
                  <a:srgbClr val="A8823C"/>
                </a:solidFill>
                <a:latin typeface="Inter"/>
              </a:rPr>
              <a:t>المرحلة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6096" y="2514600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الانطلاق الوطني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17536" y="3017520"/>
            <a:ext cx="2916936" cy="292608"/>
          </a:xfrm>
          <a:prstGeom prst="rect">
            <a:avLst/>
          </a:prstGeom>
          <a:solidFill>
            <a:srgbClr val="2A22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17536" y="3017520"/>
            <a:ext cx="2916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50" b="0" i="0">
                <a:solidFill>
                  <a:srgbClr val="C8A24C"/>
                </a:solidFill>
                <a:latin typeface="Inter"/>
              </a:rPr>
              <a:t>٢٠٢٧  ·  10,000 شاب / سنة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17536" y="3383280"/>
            <a:ext cx="2916936" cy="127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51592" y="365760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17536" y="352044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تغطية 27 محافظة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51592" y="443484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17536" y="429768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شبكة توظيف تضم 200+ شركة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51592" y="5212080"/>
            <a:ext cx="54864" cy="201168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17536" y="5074920"/>
            <a:ext cx="264261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نموذج ذاتي الاستدامة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5580" y="0"/>
            <a:ext cx="7313371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400300"/>
            <a:ext cx="54864" cy="2057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82008"/>
                </a:solidFill>
                <a:latin typeface="Montserrat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200" b="1" i="0">
                <a:solidFill>
                  <a:srgbClr val="FFFFFF"/>
                </a:solidFill>
                <a:latin typeface="Montserrat"/>
              </a:rPr>
              <a:t>المؤشرات والأثر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107259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611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أرقام نقدمها ونتحمل مسؤوليتها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0"/>
            <a:ext cx="1036015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05 · المؤشرات والأثر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9902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التزاماتنا القابلة للقياس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51560"/>
            <a:ext cx="990295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234440"/>
            <a:ext cx="2297430" cy="2377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1675" y="1344168"/>
            <a:ext cx="548640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1965960"/>
            <a:ext cx="225171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85%+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51760"/>
            <a:ext cx="225171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نسبة التوظيف الفعال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08959"/>
            <a:ext cx="225171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خلال 90 يوماً من إتمام التدريب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41014" y="1234440"/>
            <a:ext cx="2297430" cy="2377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-8-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5409" y="1344168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41014" y="1965960"/>
            <a:ext cx="225171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4.8/5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1014" y="2651760"/>
            <a:ext cx="225171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رضا المتدربين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1014" y="3108959"/>
            <a:ext cx="225171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تقييم مستقل بعد إتمام البرنامج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4748" y="1234440"/>
            <a:ext cx="2297430" cy="2377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-8-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9143" y="1344168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84748" y="1965960"/>
            <a:ext cx="225171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96%+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4748" y="2651760"/>
            <a:ext cx="225171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رضا أصحاب العمل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4748" y="3108959"/>
            <a:ext cx="225171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قياس بعد 6 أشهر من التوظيف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8482" y="1234440"/>
            <a:ext cx="2297430" cy="2377440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-8-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2877" y="1344168"/>
            <a:ext cx="548640" cy="548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8482" y="1965960"/>
            <a:ext cx="225171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400" b="1" i="0">
                <a:solidFill>
                  <a:srgbClr val="C8A24C"/>
                </a:solidFill>
                <a:latin typeface="Montserrat"/>
              </a:rPr>
              <a:t>+52%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8482" y="2651760"/>
            <a:ext cx="225171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1" i="0">
                <a:solidFill>
                  <a:srgbClr val="FFFFFF"/>
                </a:solidFill>
                <a:latin typeface="Inter"/>
              </a:rPr>
              <a:t>تحسن معدل التوظيف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8482" y="3108959"/>
            <a:ext cx="225171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فوق المتوسط مقارنةً بالتدريب التقليدي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3749039"/>
            <a:ext cx="9902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C8A24C"/>
                </a:solidFill>
                <a:latin typeface="Montserrat"/>
              </a:rPr>
              <a:t>التزامات إضافية:</a:t>
            </a:r>
          </a:p>
        </p:txBody>
      </p:sp>
      <p:pic>
        <p:nvPicPr>
          <p:cNvPr id="29" name="Picture 28" descr="image-10-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2956" y="4114800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97280" y="4114800"/>
            <a:ext cx="41742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توفير لوحة بيانات حية للوزارة تُحدَّث شهرياً</a:t>
            </a:r>
          </a:p>
        </p:txBody>
      </p:sp>
      <p:pic>
        <p:nvPicPr>
          <p:cNvPr id="31" name="Picture 30" descr="image-8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68712" y="4114800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03036" y="4114800"/>
            <a:ext cx="41742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تقارير ربع سنوية مستقلة من جهة تقييم خارجية</a:t>
            </a:r>
          </a:p>
        </p:txBody>
      </p:sp>
      <p:pic>
        <p:nvPicPr>
          <p:cNvPr id="33" name="Picture 32" descr="image-8-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2956" y="4572000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97280" y="4572000"/>
            <a:ext cx="41742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شراكة بحثية مع الجامعات لنشر نتائج النموذج دولياً</a:t>
            </a:r>
          </a:p>
        </p:txBody>
      </p:sp>
      <p:pic>
        <p:nvPicPr>
          <p:cNvPr id="35" name="Picture 34" descr="image-8-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68712" y="4572000"/>
            <a:ext cx="384048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03036" y="4572000"/>
            <a:ext cx="41742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00" b="0" i="0">
                <a:solidFill>
                  <a:srgbClr val="FFFFFF"/>
                </a:solidFill>
                <a:latin typeface="Inter"/>
              </a:rPr>
              <a:t>آلية استرداد جزئي في حال عدم تحقيق مؤشر التوظيف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75580" y="0"/>
            <a:ext cx="7313371" cy="6858000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2400300"/>
            <a:ext cx="54864" cy="2057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09728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82008"/>
                </a:solidFill>
                <a:latin typeface="Montserrat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860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5200" b="1" i="0">
                <a:solidFill>
                  <a:srgbClr val="FFFFFF"/>
                </a:solidFill>
                <a:latin typeface="Montserrat"/>
              </a:rPr>
              <a:t>التوافق والطلب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1072591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3611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تحالف محكم مع أولويات الوزارة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4552" y="0"/>
            <a:ext cx="9144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0"/>
            <a:ext cx="10360152" cy="508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800" b="0" i="0">
                <a:solidFill>
                  <a:srgbClr val="C8A24C"/>
                </a:solidFill>
                <a:latin typeface="Inter"/>
              </a:rPr>
              <a:t>06 · التوافق والطلب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9902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FFFFFF"/>
                </a:solidFill>
                <a:latin typeface="Montserrat"/>
              </a:rPr>
              <a:t>لماذا هذا الوقت بالتحديد؟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051560"/>
            <a:ext cx="9902952" cy="254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234440"/>
            <a:ext cx="4704588" cy="80467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228" y="1408176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1289304"/>
            <a:ext cx="40645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برنامج ستارت ٢٠٢٦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18488"/>
            <a:ext cx="40645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شراكة أورنج مصر — الوزارة تبحث عن شركاء تنفيذيين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21324" y="1234440"/>
            <a:ext cx="4704588" cy="80467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-8-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08176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21324" y="1289304"/>
            <a:ext cx="40645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ملتقى خطوة ٢٠٢٦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1324" y="1618488"/>
            <a:ext cx="40645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MY4 جاهزة للمشاركة كشريك تنفيذي في الملتقى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148840"/>
            <a:ext cx="4704588" cy="80467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-8-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3228" y="2322576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97280" y="2203704"/>
            <a:ext cx="40645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31 وحدة جامعية تضامن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532888"/>
            <a:ext cx="40645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قناة توزيع مثالية لبرامج MY4 — 250,000 طالب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1324" y="2148840"/>
            <a:ext cx="4704588" cy="804672"/>
          </a:xfrm>
          <a:prstGeom prst="rect">
            <a:avLst/>
          </a:prstGeom>
          <a:solidFill>
            <a:srgbClr val="1A1406"/>
          </a:solidFill>
          <a:ln w="12700">
            <a:solidFill>
              <a:srgbClr val="C8A2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-8-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7272" y="2322576"/>
            <a:ext cx="457200" cy="457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21324" y="2203704"/>
            <a:ext cx="40645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1" i="0">
                <a:solidFill>
                  <a:srgbClr val="C8A24C"/>
                </a:solidFill>
                <a:latin typeface="Montserrat"/>
              </a:rPr>
              <a:t>رؤية مصر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21324" y="2532888"/>
            <a:ext cx="40645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رفع نسبة مشاركة الشباب في سوق العمل إلى 52%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7280" y="3200400"/>
            <a:ext cx="9902952" cy="254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246120"/>
            <a:ext cx="9902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 i="0">
                <a:solidFill>
                  <a:srgbClr val="A4232A"/>
                </a:solidFill>
                <a:latin typeface="Montserrat"/>
              </a:rPr>
              <a:t>المطلوب من الوزارة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3703320"/>
            <a:ext cx="4704588" cy="182880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97280" y="3703320"/>
            <a:ext cx="4704588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38130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A4232A"/>
                </a:solidFill>
                <a:latin typeface="Montserrat"/>
              </a:rPr>
              <a:t>أولاً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114800"/>
            <a:ext cx="46131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الرعاية الرسمية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526280"/>
            <a:ext cx="46131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اتفاقية شراكة رسمية تُخوّل MY4 العمل تحت مظلة الوزارة والوصول إلى شبكة الوحدات الجامعية الـ31.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21324" y="3703320"/>
            <a:ext cx="4704588" cy="1828800"/>
          </a:xfrm>
          <a:prstGeom prst="rect">
            <a:avLst/>
          </a:prstGeom>
          <a:solidFill>
            <a:srgbClr val="201010"/>
          </a:solidFill>
          <a:ln w="12700">
            <a:solidFill>
              <a:srgbClr val="A423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21324" y="3703320"/>
            <a:ext cx="4704588" cy="9144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1324" y="38130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1" i="0">
                <a:solidFill>
                  <a:srgbClr val="A4232A"/>
                </a:solidFill>
                <a:latin typeface="Montserrat"/>
              </a:rPr>
              <a:t>ثانياً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21324" y="4114800"/>
            <a:ext cx="46131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 i="0">
                <a:solidFill>
                  <a:srgbClr val="FFFFFF"/>
                </a:solidFill>
                <a:latin typeface="Montserrat"/>
              </a:rPr>
              <a:t>الدعم اللوجستي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21324" y="4526280"/>
            <a:ext cx="46131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950" b="0" i="0">
                <a:solidFill>
                  <a:srgbClr val="FFFFFF"/>
                </a:solidFill>
                <a:latin typeface="Inter"/>
              </a:rPr>
              <a:t>مساحات تدريب في المحافظات وإدراج البرنامج ضمن مبادرتَي ستارت وخطوة 2026 للوصول إلى الفئة المستهدفة.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image-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3112" y="0"/>
            <a:ext cx="10058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" y="2743200"/>
            <a:ext cx="54864" cy="1371600"/>
          </a:xfrm>
          <a:prstGeom prst="rect">
            <a:avLst/>
          </a:prstGeom>
          <a:solidFill>
            <a:srgbClr val="A42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371600"/>
            <a:ext cx="106344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0" b="1" i="0">
                <a:solidFill>
                  <a:srgbClr val="FFFFFF"/>
                </a:solidFill>
                <a:latin typeface="Montserrat"/>
              </a:rPr>
              <a:t>MY4 Education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926080"/>
            <a:ext cx="10634472" cy="38100"/>
          </a:xfrm>
          <a:prstGeom prst="rect">
            <a:avLst/>
          </a:prstGeom>
          <a:solidFill>
            <a:srgbClr val="C8A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3063240"/>
            <a:ext cx="106344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C8A24C"/>
                </a:solidFill>
                <a:latin typeface="Inter"/>
              </a:rPr>
              <a:t>تأهيل حقيقي · توظيف حقيقي · أثر وطني</a:t>
            </a:r>
          </a:p>
        </p:txBody>
      </p:sp>
      <p:pic>
        <p:nvPicPr>
          <p:cNvPr id="9" name="Picture 8" descr="image-8-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384048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3840480"/>
            <a:ext cx="9537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المؤسس:  محمود جاداللا — Mahmoud Gadalla</a:t>
            </a:r>
          </a:p>
        </p:txBody>
      </p:sp>
      <p:pic>
        <p:nvPicPr>
          <p:cNvPr id="11" name="Picture 10" descr="image-15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7272" y="4407408"/>
            <a:ext cx="41148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4320" y="4407408"/>
            <a:ext cx="9537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البريد الإلكتروني:  Gadalla111@gmail.com</a:t>
            </a:r>
          </a:p>
        </p:txBody>
      </p:sp>
      <p:pic>
        <p:nvPicPr>
          <p:cNvPr id="13" name="Picture 12" descr="image-8-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7272" y="4974336"/>
            <a:ext cx="411480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4320" y="4974336"/>
            <a:ext cx="95371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200" b="0" i="0">
                <a:solidFill>
                  <a:srgbClr val="FFFFFF"/>
                </a:solidFill>
                <a:latin typeface="Inter"/>
              </a:rPr>
              <a:t>الهاتف:  +20 111 037 111</a:t>
            </a:r>
          </a:p>
        </p:txBody>
      </p:sp>
      <p:pic>
        <p:nvPicPr>
          <p:cNvPr id="15" name="Picture 14" descr="image-18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172200"/>
            <a:ext cx="11183112" cy="685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E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700" b="0" i="0">
                <a:solidFill>
                  <a:srgbClr val="C8A24C"/>
                </a:solidFill>
                <a:latin typeface="Montserrat"/>
              </a:rPr>
              <a:t>MY4 Education  ·  وزارة التضامن الاجتماعي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0232" y="65379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FFFFFF"/>
                </a:solidFill>
                <a:latin typeface="Inter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