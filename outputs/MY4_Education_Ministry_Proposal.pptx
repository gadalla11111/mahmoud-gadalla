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10543032"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Rectangle 2"/>
          <p:cNvSpPr/>
          <p:nvPr/>
        </p:nvSpPr>
        <p:spPr>
          <a:xfrm>
            <a:off x="0" y="0"/>
            <a:ext cx="12188952" cy="508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82880"/>
            <a:ext cx="9902952" cy="365760"/>
          </a:xfrm>
          <a:prstGeom prst="rect">
            <a:avLst/>
          </a:prstGeom>
          <a:noFill/>
        </p:spPr>
        <p:txBody>
          <a:bodyPr wrap="square">
            <a:spAutoFit/>
          </a:bodyPr>
          <a:lstStyle/>
          <a:p>
            <a:pPr algn="r" rtl="1"/>
            <a:r>
              <a:rPr sz="1000" b="0">
                <a:solidFill>
                  <a:srgbClr val="C8A24C"/>
                </a:solidFill>
                <a:latin typeface="Montserrat"/>
              </a:rPr>
              <a:t>وزارة التضامن الاجتماعي — جمهورية مصر العربية</a:t>
            </a:r>
          </a:p>
        </p:txBody>
      </p:sp>
      <p:sp>
        <p:nvSpPr>
          <p:cNvPr id="5" name="TextBox 4"/>
          <p:cNvSpPr txBox="1"/>
          <p:nvPr/>
        </p:nvSpPr>
        <p:spPr>
          <a:xfrm>
            <a:off x="457200" y="1097280"/>
            <a:ext cx="9902952" cy="1280160"/>
          </a:xfrm>
          <a:prstGeom prst="rect">
            <a:avLst/>
          </a:prstGeom>
          <a:noFill/>
        </p:spPr>
        <p:txBody>
          <a:bodyPr wrap="square">
            <a:spAutoFit/>
          </a:bodyPr>
          <a:lstStyle/>
          <a:p>
            <a:pPr algn="r" rtl="1"/>
            <a:r>
              <a:rPr sz="6000" b="1">
                <a:solidFill>
                  <a:srgbClr val="FFFFFF"/>
                </a:solidFill>
                <a:latin typeface="Montserrat"/>
              </a:rPr>
              <a:t>مبادرة وطنية</a:t>
            </a:r>
          </a:p>
        </p:txBody>
      </p:sp>
      <p:sp>
        <p:nvSpPr>
          <p:cNvPr id="6" name="TextBox 5"/>
          <p:cNvSpPr txBox="1"/>
          <p:nvPr/>
        </p:nvSpPr>
        <p:spPr>
          <a:xfrm>
            <a:off x="457200" y="2286000"/>
            <a:ext cx="9902952" cy="914400"/>
          </a:xfrm>
          <a:prstGeom prst="rect">
            <a:avLst/>
          </a:prstGeom>
          <a:noFill/>
        </p:spPr>
        <p:txBody>
          <a:bodyPr wrap="square">
            <a:spAutoFit/>
          </a:bodyPr>
          <a:lstStyle/>
          <a:p>
            <a:pPr algn="r" rtl="1"/>
            <a:r>
              <a:rPr sz="3200" b="1">
                <a:solidFill>
                  <a:srgbClr val="C8A24C"/>
                </a:solidFill>
                <a:latin typeface="Montserrat"/>
              </a:rPr>
              <a:t>لتأهيل الشباب وتمكينهم اقتصادياً</a:t>
            </a:r>
          </a:p>
        </p:txBody>
      </p:sp>
      <p:sp>
        <p:nvSpPr>
          <p:cNvPr id="7" name="TextBox 6"/>
          <p:cNvSpPr txBox="1"/>
          <p:nvPr/>
        </p:nvSpPr>
        <p:spPr>
          <a:xfrm>
            <a:off x="457200" y="3383280"/>
            <a:ext cx="9902952" cy="548640"/>
          </a:xfrm>
          <a:prstGeom prst="rect">
            <a:avLst/>
          </a:prstGeom>
          <a:noFill/>
        </p:spPr>
        <p:txBody>
          <a:bodyPr wrap="square">
            <a:spAutoFit/>
          </a:bodyPr>
          <a:lstStyle/>
          <a:p>
            <a:pPr algn="r" rtl="1"/>
            <a:r>
              <a:rPr sz="1600" b="0">
                <a:solidFill>
                  <a:srgbClr val="FFFFFF"/>
                </a:solidFill>
                <a:latin typeface="Montserrat"/>
              </a:rPr>
              <a:t>من قاعة الدارس إلى سوق العمل</a:t>
            </a:r>
          </a:p>
        </p:txBody>
      </p:sp>
      <p:sp>
        <p:nvSpPr>
          <p:cNvPr id="8" name="Rectangle 7"/>
          <p:cNvSpPr/>
          <p:nvPr/>
        </p:nvSpPr>
        <p:spPr>
          <a:xfrm>
            <a:off x="365760" y="5029200"/>
            <a:ext cx="1828800" cy="109728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5074920"/>
            <a:ext cx="731520" cy="914400"/>
          </a:xfrm>
          <a:prstGeom prst="rect">
            <a:avLst/>
          </a:prstGeom>
          <a:noFill/>
        </p:spPr>
        <p:txBody>
          <a:bodyPr wrap="square">
            <a:spAutoFit/>
          </a:bodyPr>
          <a:lstStyle/>
          <a:p>
            <a:pPr algn="ctr"/>
            <a:r>
              <a:rPr sz="4000" b="1">
                <a:solidFill>
                  <a:srgbClr val="0E0E0E"/>
                </a:solidFill>
                <a:latin typeface="Montserrat"/>
              </a:rPr>
              <a:t>M</a:t>
            </a:r>
          </a:p>
        </p:txBody>
      </p:sp>
      <p:sp>
        <p:nvSpPr>
          <p:cNvPr id="10" name="TextBox 9"/>
          <p:cNvSpPr txBox="1"/>
          <p:nvPr/>
        </p:nvSpPr>
        <p:spPr>
          <a:xfrm>
            <a:off x="1143000" y="5212080"/>
            <a:ext cx="1188720" cy="457200"/>
          </a:xfrm>
          <a:prstGeom prst="rect">
            <a:avLst/>
          </a:prstGeom>
          <a:noFill/>
        </p:spPr>
        <p:txBody>
          <a:bodyPr wrap="square">
            <a:spAutoFit/>
          </a:bodyPr>
          <a:lstStyle/>
          <a:p>
            <a:pPr algn="l"/>
            <a:r>
              <a:rPr sz="1100" b="1">
                <a:solidFill>
                  <a:srgbClr val="0E0E0E"/>
                </a:solidFill>
                <a:latin typeface="Montserrat"/>
              </a:rPr>
              <a:t>MY4 Education</a:t>
            </a:r>
          </a:p>
        </p:txBody>
      </p:sp>
      <p:sp>
        <p:nvSpPr>
          <p:cNvPr id="11" name="Rectangle 10"/>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13" name="TextBox 12"/>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01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74552" cy="731520"/>
          </a:xfrm>
          <a:prstGeom prst="rect">
            <a:avLst/>
          </a:prstGeom>
          <a:noFill/>
        </p:spPr>
        <p:txBody>
          <a:bodyPr wrap="square">
            <a:spAutoFit/>
          </a:bodyPr>
          <a:lstStyle/>
          <a:p>
            <a:pPr algn="r" rtl="1"/>
            <a:r>
              <a:rPr sz="3200" b="1">
                <a:solidFill>
                  <a:srgbClr val="0E0E0E"/>
                </a:solidFill>
                <a:latin typeface="Montserrat"/>
              </a:rPr>
              <a:t>فهرس المحتويات</a:t>
            </a:r>
          </a:p>
        </p:txBody>
      </p:sp>
      <p:sp>
        <p:nvSpPr>
          <p:cNvPr id="4" name="Rectangle 3"/>
          <p:cNvSpPr/>
          <p:nvPr/>
        </p:nvSpPr>
        <p:spPr>
          <a:xfrm>
            <a:off x="1462582" y="96012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19288" y="1188720"/>
            <a:ext cx="3648456" cy="15087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65008" y="1280160"/>
            <a:ext cx="548640" cy="548640"/>
          </a:xfrm>
          <a:prstGeom prst="rect">
            <a:avLst/>
          </a:prstGeom>
          <a:noFill/>
        </p:spPr>
        <p:txBody>
          <a:bodyPr wrap="square">
            <a:spAutoFit/>
          </a:bodyPr>
          <a:lstStyle/>
          <a:p>
            <a:pPr algn="r"/>
            <a:r>
              <a:rPr sz="2400" b="1">
                <a:solidFill>
                  <a:srgbClr val="C8A24C"/>
                </a:solidFill>
                <a:latin typeface="Montserrat"/>
              </a:rPr>
              <a:t>01</a:t>
            </a:r>
          </a:p>
        </p:txBody>
      </p:sp>
      <p:sp>
        <p:nvSpPr>
          <p:cNvPr id="7" name="Rectangle 6"/>
          <p:cNvSpPr/>
          <p:nvPr/>
        </p:nvSpPr>
        <p:spPr>
          <a:xfrm>
            <a:off x="1462582" y="187452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65008" y="1938528"/>
            <a:ext cx="3529584" cy="411480"/>
          </a:xfrm>
          <a:prstGeom prst="rect">
            <a:avLst/>
          </a:prstGeom>
          <a:noFill/>
        </p:spPr>
        <p:txBody>
          <a:bodyPr wrap="square">
            <a:spAutoFit/>
          </a:bodyPr>
          <a:lstStyle/>
          <a:p>
            <a:pPr algn="r" rtl="1"/>
            <a:r>
              <a:rPr sz="1400" b="1">
                <a:solidFill>
                  <a:srgbClr val="0E0E0E"/>
                </a:solidFill>
                <a:latin typeface="Montserrat"/>
              </a:rPr>
              <a:t>الإشكالية</a:t>
            </a:r>
          </a:p>
        </p:txBody>
      </p:sp>
      <p:sp>
        <p:nvSpPr>
          <p:cNvPr id="9" name="TextBox 8"/>
          <p:cNvSpPr txBox="1"/>
          <p:nvPr/>
        </p:nvSpPr>
        <p:spPr>
          <a:xfrm>
            <a:off x="8065008" y="2331720"/>
            <a:ext cx="3529584" cy="411480"/>
          </a:xfrm>
          <a:prstGeom prst="rect">
            <a:avLst/>
          </a:prstGeom>
          <a:noFill/>
        </p:spPr>
        <p:txBody>
          <a:bodyPr wrap="square">
            <a:spAutoFit/>
          </a:bodyPr>
          <a:lstStyle/>
          <a:p>
            <a:pPr algn="r" rtl="1"/>
            <a:r>
              <a:rPr sz="900" b="0">
                <a:solidFill>
                  <a:srgbClr val="555045"/>
                </a:solidFill>
                <a:latin typeface="Montserrat"/>
              </a:rPr>
              <a:t>الشهادة وحدها لا تصنع فرصة عمل</a:t>
            </a:r>
          </a:p>
        </p:txBody>
      </p:sp>
      <p:sp>
        <p:nvSpPr>
          <p:cNvPr id="10" name="Rectangle 9"/>
          <p:cNvSpPr/>
          <p:nvPr/>
        </p:nvSpPr>
        <p:spPr>
          <a:xfrm>
            <a:off x="4261104" y="1188720"/>
            <a:ext cx="3648456" cy="15087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06824" y="1280160"/>
            <a:ext cx="548640" cy="548640"/>
          </a:xfrm>
          <a:prstGeom prst="rect">
            <a:avLst/>
          </a:prstGeom>
          <a:noFill/>
        </p:spPr>
        <p:txBody>
          <a:bodyPr wrap="square">
            <a:spAutoFit/>
          </a:bodyPr>
          <a:lstStyle/>
          <a:p>
            <a:pPr algn="r"/>
            <a:r>
              <a:rPr sz="2400" b="1">
                <a:solidFill>
                  <a:srgbClr val="C8A24C"/>
                </a:solidFill>
                <a:latin typeface="Montserrat"/>
              </a:rPr>
              <a:t>02</a:t>
            </a:r>
          </a:p>
        </p:txBody>
      </p:sp>
      <p:sp>
        <p:nvSpPr>
          <p:cNvPr id="12" name="Rectangle 11"/>
          <p:cNvSpPr/>
          <p:nvPr/>
        </p:nvSpPr>
        <p:spPr>
          <a:xfrm>
            <a:off x="1462582" y="187452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06824" y="1938528"/>
            <a:ext cx="3529584" cy="411480"/>
          </a:xfrm>
          <a:prstGeom prst="rect">
            <a:avLst/>
          </a:prstGeom>
          <a:noFill/>
        </p:spPr>
        <p:txBody>
          <a:bodyPr wrap="square">
            <a:spAutoFit/>
          </a:bodyPr>
          <a:lstStyle/>
          <a:p>
            <a:pPr algn="r" rtl="1"/>
            <a:r>
              <a:rPr sz="1400" b="1">
                <a:solidFill>
                  <a:srgbClr val="0E0E0E"/>
                </a:solidFill>
                <a:latin typeface="Montserrat"/>
              </a:rPr>
              <a:t>الحل</a:t>
            </a:r>
          </a:p>
        </p:txBody>
      </p:sp>
      <p:sp>
        <p:nvSpPr>
          <p:cNvPr id="14" name="TextBox 13"/>
          <p:cNvSpPr txBox="1"/>
          <p:nvPr/>
        </p:nvSpPr>
        <p:spPr>
          <a:xfrm>
            <a:off x="4306824" y="2331720"/>
            <a:ext cx="3529584" cy="411480"/>
          </a:xfrm>
          <a:prstGeom prst="rect">
            <a:avLst/>
          </a:prstGeom>
          <a:noFill/>
        </p:spPr>
        <p:txBody>
          <a:bodyPr wrap="square">
            <a:spAutoFit/>
          </a:bodyPr>
          <a:lstStyle/>
          <a:p>
            <a:pPr algn="r" rtl="1"/>
            <a:r>
              <a:rPr sz="900" b="0">
                <a:solidFill>
                  <a:srgbClr val="555045"/>
                </a:solidFill>
                <a:latin typeface="Montserrat"/>
              </a:rPr>
              <a:t>تدريب حقيقي — إثبات حقيقي</a:t>
            </a:r>
          </a:p>
        </p:txBody>
      </p:sp>
      <p:sp>
        <p:nvSpPr>
          <p:cNvPr id="15" name="Rectangle 14"/>
          <p:cNvSpPr/>
          <p:nvPr/>
        </p:nvSpPr>
        <p:spPr>
          <a:xfrm>
            <a:off x="502920" y="1188720"/>
            <a:ext cx="3648456" cy="15087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280160"/>
            <a:ext cx="548640" cy="548640"/>
          </a:xfrm>
          <a:prstGeom prst="rect">
            <a:avLst/>
          </a:prstGeom>
          <a:noFill/>
        </p:spPr>
        <p:txBody>
          <a:bodyPr wrap="square">
            <a:spAutoFit/>
          </a:bodyPr>
          <a:lstStyle/>
          <a:p>
            <a:pPr algn="r"/>
            <a:r>
              <a:rPr sz="2400" b="1">
                <a:solidFill>
                  <a:srgbClr val="C8A24C"/>
                </a:solidFill>
                <a:latin typeface="Montserrat"/>
              </a:rPr>
              <a:t>03</a:t>
            </a:r>
          </a:p>
        </p:txBody>
      </p:sp>
      <p:sp>
        <p:nvSpPr>
          <p:cNvPr id="17" name="Rectangle 16"/>
          <p:cNvSpPr/>
          <p:nvPr/>
        </p:nvSpPr>
        <p:spPr>
          <a:xfrm>
            <a:off x="1462582" y="187452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1938528"/>
            <a:ext cx="3529584" cy="411480"/>
          </a:xfrm>
          <a:prstGeom prst="rect">
            <a:avLst/>
          </a:prstGeom>
          <a:noFill/>
        </p:spPr>
        <p:txBody>
          <a:bodyPr wrap="square">
            <a:spAutoFit/>
          </a:bodyPr>
          <a:lstStyle/>
          <a:p>
            <a:pPr algn="r" rtl="1"/>
            <a:r>
              <a:rPr sz="1400" b="1">
                <a:solidFill>
                  <a:srgbClr val="0E0E0E"/>
                </a:solidFill>
                <a:latin typeface="Montserrat"/>
              </a:rPr>
              <a:t>إثبات النموذج</a:t>
            </a:r>
          </a:p>
        </p:txBody>
      </p:sp>
      <p:sp>
        <p:nvSpPr>
          <p:cNvPr id="19" name="TextBox 18"/>
          <p:cNvSpPr txBox="1"/>
          <p:nvPr/>
        </p:nvSpPr>
        <p:spPr>
          <a:xfrm>
            <a:off x="548640" y="2331720"/>
            <a:ext cx="3529584" cy="411480"/>
          </a:xfrm>
          <a:prstGeom prst="rect">
            <a:avLst/>
          </a:prstGeom>
          <a:noFill/>
        </p:spPr>
        <p:txBody>
          <a:bodyPr wrap="square">
            <a:spAutoFit/>
          </a:bodyPr>
          <a:lstStyle/>
          <a:p>
            <a:pPr algn="r" rtl="1"/>
            <a:r>
              <a:rPr sz="900" b="0">
                <a:solidFill>
                  <a:srgbClr val="555045"/>
                </a:solidFill>
                <a:latin typeface="Montserrat"/>
              </a:rPr>
              <a:t>التجربة الريادية — الأكاديمية العربية</a:t>
            </a:r>
          </a:p>
        </p:txBody>
      </p:sp>
      <p:sp>
        <p:nvSpPr>
          <p:cNvPr id="20" name="Rectangle 19"/>
          <p:cNvSpPr/>
          <p:nvPr/>
        </p:nvSpPr>
        <p:spPr>
          <a:xfrm>
            <a:off x="8019288" y="2834640"/>
            <a:ext cx="3648456" cy="15087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65008" y="2926080"/>
            <a:ext cx="548640" cy="548640"/>
          </a:xfrm>
          <a:prstGeom prst="rect">
            <a:avLst/>
          </a:prstGeom>
          <a:noFill/>
        </p:spPr>
        <p:txBody>
          <a:bodyPr wrap="square">
            <a:spAutoFit/>
          </a:bodyPr>
          <a:lstStyle/>
          <a:p>
            <a:pPr algn="r"/>
            <a:r>
              <a:rPr sz="2400" b="1">
                <a:solidFill>
                  <a:srgbClr val="C8A24C"/>
                </a:solidFill>
                <a:latin typeface="Montserrat"/>
              </a:rPr>
              <a:t>04</a:t>
            </a:r>
          </a:p>
        </p:txBody>
      </p:sp>
      <p:sp>
        <p:nvSpPr>
          <p:cNvPr id="22" name="Rectangle 21"/>
          <p:cNvSpPr/>
          <p:nvPr/>
        </p:nvSpPr>
        <p:spPr>
          <a:xfrm>
            <a:off x="1462582" y="352044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65008" y="3584448"/>
            <a:ext cx="3529584" cy="411480"/>
          </a:xfrm>
          <a:prstGeom prst="rect">
            <a:avLst/>
          </a:prstGeom>
          <a:noFill/>
        </p:spPr>
        <p:txBody>
          <a:bodyPr wrap="square">
            <a:spAutoFit/>
          </a:bodyPr>
          <a:lstStyle/>
          <a:p>
            <a:pPr algn="r" rtl="1"/>
            <a:r>
              <a:rPr sz="1400" b="1">
                <a:solidFill>
                  <a:srgbClr val="0E0E0E"/>
                </a:solidFill>
                <a:latin typeface="Montserrat"/>
              </a:rPr>
              <a:t>خطة المراحل</a:t>
            </a:r>
          </a:p>
        </p:txBody>
      </p:sp>
      <p:sp>
        <p:nvSpPr>
          <p:cNvPr id="24" name="TextBox 23"/>
          <p:cNvSpPr txBox="1"/>
          <p:nvPr/>
        </p:nvSpPr>
        <p:spPr>
          <a:xfrm>
            <a:off x="8065008" y="3977640"/>
            <a:ext cx="3529584" cy="411480"/>
          </a:xfrm>
          <a:prstGeom prst="rect">
            <a:avLst/>
          </a:prstGeom>
          <a:noFill/>
        </p:spPr>
        <p:txBody>
          <a:bodyPr wrap="square">
            <a:spAutoFit/>
          </a:bodyPr>
          <a:lstStyle/>
          <a:p>
            <a:pPr algn="r" rtl="1"/>
            <a:r>
              <a:rPr sz="900" b="0">
                <a:solidFill>
                  <a:srgbClr val="555045"/>
                </a:solidFill>
                <a:latin typeface="Montserrat"/>
              </a:rPr>
              <a:t>من 60 شابًا إلى برنامج وطني</a:t>
            </a:r>
          </a:p>
        </p:txBody>
      </p:sp>
      <p:sp>
        <p:nvSpPr>
          <p:cNvPr id="25" name="Rectangle 24"/>
          <p:cNvSpPr/>
          <p:nvPr/>
        </p:nvSpPr>
        <p:spPr>
          <a:xfrm>
            <a:off x="4261104" y="2834640"/>
            <a:ext cx="3648456" cy="15087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06824" y="2926080"/>
            <a:ext cx="548640" cy="548640"/>
          </a:xfrm>
          <a:prstGeom prst="rect">
            <a:avLst/>
          </a:prstGeom>
          <a:noFill/>
        </p:spPr>
        <p:txBody>
          <a:bodyPr wrap="square">
            <a:spAutoFit/>
          </a:bodyPr>
          <a:lstStyle/>
          <a:p>
            <a:pPr algn="r"/>
            <a:r>
              <a:rPr sz="2400" b="1">
                <a:solidFill>
                  <a:srgbClr val="C8A24C"/>
                </a:solidFill>
                <a:latin typeface="Montserrat"/>
              </a:rPr>
              <a:t>05</a:t>
            </a:r>
          </a:p>
        </p:txBody>
      </p:sp>
      <p:sp>
        <p:nvSpPr>
          <p:cNvPr id="27" name="Rectangle 26"/>
          <p:cNvSpPr/>
          <p:nvPr/>
        </p:nvSpPr>
        <p:spPr>
          <a:xfrm>
            <a:off x="1462582" y="352044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06824" y="3584448"/>
            <a:ext cx="3529584" cy="411480"/>
          </a:xfrm>
          <a:prstGeom prst="rect">
            <a:avLst/>
          </a:prstGeom>
          <a:noFill/>
        </p:spPr>
        <p:txBody>
          <a:bodyPr wrap="square">
            <a:spAutoFit/>
          </a:bodyPr>
          <a:lstStyle/>
          <a:p>
            <a:pPr algn="r" rtl="1"/>
            <a:r>
              <a:rPr sz="1400" b="1">
                <a:solidFill>
                  <a:srgbClr val="0E0E0E"/>
                </a:solidFill>
                <a:latin typeface="Montserrat"/>
              </a:rPr>
              <a:t>المؤشرات والأثر</a:t>
            </a:r>
          </a:p>
        </p:txBody>
      </p:sp>
      <p:sp>
        <p:nvSpPr>
          <p:cNvPr id="29" name="TextBox 28"/>
          <p:cNvSpPr txBox="1"/>
          <p:nvPr/>
        </p:nvSpPr>
        <p:spPr>
          <a:xfrm>
            <a:off x="4306824" y="3977640"/>
            <a:ext cx="3529584" cy="411480"/>
          </a:xfrm>
          <a:prstGeom prst="rect">
            <a:avLst/>
          </a:prstGeom>
          <a:noFill/>
        </p:spPr>
        <p:txBody>
          <a:bodyPr wrap="square">
            <a:spAutoFit/>
          </a:bodyPr>
          <a:lstStyle/>
          <a:p>
            <a:pPr algn="r" rtl="1"/>
            <a:r>
              <a:rPr sz="900" b="0">
                <a:solidFill>
                  <a:srgbClr val="555045"/>
                </a:solidFill>
                <a:latin typeface="Montserrat"/>
              </a:rPr>
              <a:t>أرقام نقدمها ونتحمل مسؤوليتها</a:t>
            </a:r>
          </a:p>
        </p:txBody>
      </p:sp>
      <p:sp>
        <p:nvSpPr>
          <p:cNvPr id="30" name="Rectangle 29"/>
          <p:cNvSpPr/>
          <p:nvPr/>
        </p:nvSpPr>
        <p:spPr>
          <a:xfrm>
            <a:off x="502920" y="2834640"/>
            <a:ext cx="3648456" cy="15087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926080"/>
            <a:ext cx="548640" cy="548640"/>
          </a:xfrm>
          <a:prstGeom prst="rect">
            <a:avLst/>
          </a:prstGeom>
          <a:noFill/>
        </p:spPr>
        <p:txBody>
          <a:bodyPr wrap="square">
            <a:spAutoFit/>
          </a:bodyPr>
          <a:lstStyle/>
          <a:p>
            <a:pPr algn="r"/>
            <a:r>
              <a:rPr sz="2400" b="1">
                <a:solidFill>
                  <a:srgbClr val="C8A24C"/>
                </a:solidFill>
                <a:latin typeface="Montserrat"/>
              </a:rPr>
              <a:t>06</a:t>
            </a:r>
          </a:p>
        </p:txBody>
      </p:sp>
      <p:sp>
        <p:nvSpPr>
          <p:cNvPr id="32" name="Rectangle 31"/>
          <p:cNvSpPr/>
          <p:nvPr/>
        </p:nvSpPr>
        <p:spPr>
          <a:xfrm>
            <a:off x="1462582" y="352044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584448"/>
            <a:ext cx="3529584" cy="411480"/>
          </a:xfrm>
          <a:prstGeom prst="rect">
            <a:avLst/>
          </a:prstGeom>
          <a:noFill/>
        </p:spPr>
        <p:txBody>
          <a:bodyPr wrap="square">
            <a:spAutoFit/>
          </a:bodyPr>
          <a:lstStyle/>
          <a:p>
            <a:pPr algn="r" rtl="1"/>
            <a:r>
              <a:rPr sz="1400" b="1">
                <a:solidFill>
                  <a:srgbClr val="0E0E0E"/>
                </a:solidFill>
                <a:latin typeface="Montserrat"/>
              </a:rPr>
              <a:t>التوافق والطلب</a:t>
            </a:r>
          </a:p>
        </p:txBody>
      </p:sp>
      <p:sp>
        <p:nvSpPr>
          <p:cNvPr id="34" name="TextBox 33"/>
          <p:cNvSpPr txBox="1"/>
          <p:nvPr/>
        </p:nvSpPr>
        <p:spPr>
          <a:xfrm>
            <a:off x="548640" y="3977640"/>
            <a:ext cx="3529584" cy="411480"/>
          </a:xfrm>
          <a:prstGeom prst="rect">
            <a:avLst/>
          </a:prstGeom>
          <a:noFill/>
        </p:spPr>
        <p:txBody>
          <a:bodyPr wrap="square">
            <a:spAutoFit/>
          </a:bodyPr>
          <a:lstStyle/>
          <a:p>
            <a:pPr algn="r" rtl="1"/>
            <a:r>
              <a:rPr sz="900" b="0">
                <a:solidFill>
                  <a:srgbClr val="555045"/>
                </a:solidFill>
                <a:latin typeface="Montserrat"/>
              </a:rPr>
              <a:t>تحالف محكم مع أولويات الوزارة</a:t>
            </a:r>
          </a:p>
        </p:txBody>
      </p:sp>
      <p:sp>
        <p:nvSpPr>
          <p:cNvPr id="35" name="Rectangle 34"/>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37" name="TextBox 36"/>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02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10543032"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82880"/>
            <a:ext cx="9902952" cy="320040"/>
          </a:xfrm>
          <a:prstGeom prst="rect">
            <a:avLst/>
          </a:prstGeom>
          <a:noFill/>
        </p:spPr>
        <p:txBody>
          <a:bodyPr wrap="square">
            <a:spAutoFit/>
          </a:bodyPr>
          <a:lstStyle/>
          <a:p>
            <a:pPr algn="r" rtl="1"/>
            <a:r>
              <a:rPr sz="1000" b="0">
                <a:solidFill>
                  <a:srgbClr val="C8A24C"/>
                </a:solidFill>
                <a:latin typeface="Montserrat"/>
              </a:rPr>
              <a:t>ملخص تنفيذي</a:t>
            </a:r>
          </a:p>
        </p:txBody>
      </p:sp>
      <p:sp>
        <p:nvSpPr>
          <p:cNvPr id="4" name="TextBox 3"/>
          <p:cNvSpPr txBox="1"/>
          <p:nvPr/>
        </p:nvSpPr>
        <p:spPr>
          <a:xfrm>
            <a:off x="457200" y="457200"/>
            <a:ext cx="9902952" cy="731520"/>
          </a:xfrm>
          <a:prstGeom prst="rect">
            <a:avLst/>
          </a:prstGeom>
          <a:noFill/>
        </p:spPr>
        <p:txBody>
          <a:bodyPr wrap="square">
            <a:spAutoFit/>
          </a:bodyPr>
          <a:lstStyle/>
          <a:p>
            <a:pPr algn="r" rtl="1"/>
            <a:r>
              <a:rPr sz="2800" b="1">
                <a:solidFill>
                  <a:srgbClr val="FFFFFF"/>
                </a:solidFill>
                <a:latin typeface="Montserrat"/>
              </a:rPr>
              <a:t>الأزمة واضحة — الحل موجود</a:t>
            </a:r>
          </a:p>
        </p:txBody>
      </p:sp>
      <p:sp>
        <p:nvSpPr>
          <p:cNvPr id="5" name="Rectangle 4"/>
          <p:cNvSpPr/>
          <p:nvPr/>
        </p:nvSpPr>
        <p:spPr>
          <a:xfrm>
            <a:off x="1462582" y="123444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5943600" cy="2286000"/>
          </a:xfrm>
          <a:prstGeom prst="rect">
            <a:avLst/>
          </a:prstGeom>
          <a:noFill/>
        </p:spPr>
        <p:txBody>
          <a:bodyPr wrap="square">
            <a:spAutoFit/>
          </a:bodyPr>
          <a:lstStyle/>
          <a:p>
            <a:pPr algn="r" rtl="1"/>
            <a:r>
              <a:rPr sz="1300" b="0">
                <a:solidFill>
                  <a:srgbClr val="FFFFFF"/>
                </a:solidFill>
                <a:latin typeface="Montserrat"/>
              </a:rPr>
              <a:t>تقدم MY4 Education هذا الملف إلى وزارة التضامن الاجتماعي طالبةً الرعاية الرسمية والتمويل لتدريب نموذج قادر على تحويل الدارسين من قاعة الدرس إلى سوق العمل.
الأرقام تحدد الأزمة بدقة: 13 مليون خريج أكاديمي متخصص بسوق العمل لا يجد فرصة توظيف تناسب مستواه. القضية ليست في نقص الوظائف، بل في نقص الجاهزية.</a:t>
            </a:r>
          </a:p>
        </p:txBody>
      </p:sp>
      <p:sp>
        <p:nvSpPr>
          <p:cNvPr id="7" name="Rectangle 6"/>
          <p:cNvSpPr/>
          <p:nvPr/>
        </p:nvSpPr>
        <p:spPr>
          <a:xfrm>
            <a:off x="8577072" y="3840480"/>
            <a:ext cx="3108960" cy="1645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22792" y="3931920"/>
            <a:ext cx="3017520" cy="685800"/>
          </a:xfrm>
          <a:prstGeom prst="rect">
            <a:avLst/>
          </a:prstGeom>
          <a:noFill/>
        </p:spPr>
        <p:txBody>
          <a:bodyPr wrap="square">
            <a:spAutoFit/>
          </a:bodyPr>
          <a:lstStyle/>
          <a:p>
            <a:pPr algn="r"/>
            <a:r>
              <a:rPr sz="3600" b="1">
                <a:solidFill>
                  <a:srgbClr val="C8A24C"/>
                </a:solidFill>
                <a:latin typeface="Montserrat"/>
              </a:rPr>
              <a:t>6.3%</a:t>
            </a:r>
          </a:p>
        </p:txBody>
      </p:sp>
      <p:sp>
        <p:nvSpPr>
          <p:cNvPr id="9" name="TextBox 8"/>
          <p:cNvSpPr txBox="1"/>
          <p:nvPr/>
        </p:nvSpPr>
        <p:spPr>
          <a:xfrm>
            <a:off x="8622792" y="4617720"/>
            <a:ext cx="3017520" cy="457200"/>
          </a:xfrm>
          <a:prstGeom prst="rect">
            <a:avLst/>
          </a:prstGeom>
          <a:noFill/>
        </p:spPr>
        <p:txBody>
          <a:bodyPr wrap="square">
            <a:spAutoFit/>
          </a:bodyPr>
          <a:lstStyle/>
          <a:p>
            <a:pPr algn="r" rtl="1"/>
            <a:r>
              <a:rPr sz="1000" b="0">
                <a:solidFill>
                  <a:srgbClr val="FFFFFF"/>
                </a:solidFill>
                <a:latin typeface="Montserrat"/>
              </a:rPr>
              <a:t>معدل البطالة الإجمالي — مصر 2025</a:t>
            </a:r>
          </a:p>
        </p:txBody>
      </p:sp>
      <p:sp>
        <p:nvSpPr>
          <p:cNvPr id="10" name="TextBox 9"/>
          <p:cNvSpPr txBox="1"/>
          <p:nvPr/>
        </p:nvSpPr>
        <p:spPr>
          <a:xfrm>
            <a:off x="8622792" y="5120640"/>
            <a:ext cx="3017520" cy="274320"/>
          </a:xfrm>
          <a:prstGeom prst="rect">
            <a:avLst/>
          </a:prstGeom>
          <a:noFill/>
        </p:spPr>
        <p:txBody>
          <a:bodyPr wrap="square">
            <a:spAutoFit/>
          </a:bodyPr>
          <a:lstStyle/>
          <a:p>
            <a:pPr algn="r"/>
            <a:r>
              <a:rPr sz="800" b="0">
                <a:solidFill>
                  <a:srgbClr val="C8A24C"/>
                </a:solidFill>
                <a:latin typeface="Montserrat"/>
              </a:rPr>
              <a:t>CAPMAS 2024</a:t>
            </a:r>
          </a:p>
        </p:txBody>
      </p:sp>
      <p:sp>
        <p:nvSpPr>
          <p:cNvPr id="11" name="Rectangle 10"/>
          <p:cNvSpPr/>
          <p:nvPr/>
        </p:nvSpPr>
        <p:spPr>
          <a:xfrm>
            <a:off x="5376672" y="3840480"/>
            <a:ext cx="3108960" cy="1645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22392" y="3931920"/>
            <a:ext cx="3017520" cy="685800"/>
          </a:xfrm>
          <a:prstGeom prst="rect">
            <a:avLst/>
          </a:prstGeom>
          <a:noFill/>
        </p:spPr>
        <p:txBody>
          <a:bodyPr wrap="square">
            <a:spAutoFit/>
          </a:bodyPr>
          <a:lstStyle/>
          <a:p>
            <a:pPr algn="r"/>
            <a:r>
              <a:rPr sz="3600" b="1">
                <a:solidFill>
                  <a:srgbClr val="C8A24C"/>
                </a:solidFill>
                <a:latin typeface="Montserrat"/>
              </a:rPr>
              <a:t>45%</a:t>
            </a:r>
          </a:p>
        </p:txBody>
      </p:sp>
      <p:sp>
        <p:nvSpPr>
          <p:cNvPr id="13" name="TextBox 12"/>
          <p:cNvSpPr txBox="1"/>
          <p:nvPr/>
        </p:nvSpPr>
        <p:spPr>
          <a:xfrm>
            <a:off x="5422392" y="4617720"/>
            <a:ext cx="3017520" cy="457200"/>
          </a:xfrm>
          <a:prstGeom prst="rect">
            <a:avLst/>
          </a:prstGeom>
          <a:noFill/>
        </p:spPr>
        <p:txBody>
          <a:bodyPr wrap="square">
            <a:spAutoFit/>
          </a:bodyPr>
          <a:lstStyle/>
          <a:p>
            <a:pPr algn="r" rtl="1"/>
            <a:r>
              <a:rPr sz="1000" b="0">
                <a:solidFill>
                  <a:srgbClr val="FFFFFF"/>
                </a:solidFill>
                <a:latin typeface="Montserrat"/>
              </a:rPr>
              <a:t>من أصحاب العمل: الخريجون غير مؤهلين عملياً</a:t>
            </a:r>
          </a:p>
        </p:txBody>
      </p:sp>
      <p:sp>
        <p:nvSpPr>
          <p:cNvPr id="14" name="TextBox 13"/>
          <p:cNvSpPr txBox="1"/>
          <p:nvPr/>
        </p:nvSpPr>
        <p:spPr>
          <a:xfrm>
            <a:off x="5422392" y="5120640"/>
            <a:ext cx="3017520" cy="274320"/>
          </a:xfrm>
          <a:prstGeom prst="rect">
            <a:avLst/>
          </a:prstGeom>
          <a:noFill/>
        </p:spPr>
        <p:txBody>
          <a:bodyPr wrap="square">
            <a:spAutoFit/>
          </a:bodyPr>
          <a:lstStyle/>
          <a:p>
            <a:pPr algn="r"/>
            <a:r>
              <a:rPr sz="800" b="0">
                <a:solidFill>
                  <a:srgbClr val="C8A24C"/>
                </a:solidFill>
                <a:latin typeface="Montserrat"/>
              </a:rPr>
              <a:t>NewEnt Egypt 2021</a:t>
            </a:r>
          </a:p>
        </p:txBody>
      </p:sp>
      <p:sp>
        <p:nvSpPr>
          <p:cNvPr id="15" name="Rectangle 14"/>
          <p:cNvSpPr/>
          <p:nvPr/>
        </p:nvSpPr>
        <p:spPr>
          <a:xfrm>
            <a:off x="2176272" y="3840480"/>
            <a:ext cx="3108960" cy="16459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21992" y="3931920"/>
            <a:ext cx="3017520" cy="685800"/>
          </a:xfrm>
          <a:prstGeom prst="rect">
            <a:avLst/>
          </a:prstGeom>
          <a:noFill/>
        </p:spPr>
        <p:txBody>
          <a:bodyPr wrap="square">
            <a:spAutoFit/>
          </a:bodyPr>
          <a:lstStyle/>
          <a:p>
            <a:pPr algn="r"/>
            <a:r>
              <a:rPr sz="3600" b="1">
                <a:solidFill>
                  <a:srgbClr val="A4232A"/>
                </a:solidFill>
                <a:latin typeface="Montserrat"/>
              </a:rPr>
              <a:t>78%</a:t>
            </a:r>
          </a:p>
        </p:txBody>
      </p:sp>
      <p:sp>
        <p:nvSpPr>
          <p:cNvPr id="17" name="TextBox 16"/>
          <p:cNvSpPr txBox="1"/>
          <p:nvPr/>
        </p:nvSpPr>
        <p:spPr>
          <a:xfrm>
            <a:off x="2221992" y="4617720"/>
            <a:ext cx="3017520" cy="457200"/>
          </a:xfrm>
          <a:prstGeom prst="rect">
            <a:avLst/>
          </a:prstGeom>
          <a:noFill/>
        </p:spPr>
        <p:txBody>
          <a:bodyPr wrap="square">
            <a:spAutoFit/>
          </a:bodyPr>
          <a:lstStyle/>
          <a:p>
            <a:pPr algn="r" rtl="1"/>
            <a:r>
              <a:rPr sz="1000" b="0">
                <a:solidFill>
                  <a:srgbClr val="FFFFFF"/>
                </a:solidFill>
                <a:latin typeface="Montserrat"/>
              </a:rPr>
              <a:t>من الشركات الكبرى تعاني نقص كفاءات رقمية</a:t>
            </a:r>
          </a:p>
        </p:txBody>
      </p:sp>
      <p:sp>
        <p:nvSpPr>
          <p:cNvPr id="18" name="TextBox 17"/>
          <p:cNvSpPr txBox="1"/>
          <p:nvPr/>
        </p:nvSpPr>
        <p:spPr>
          <a:xfrm>
            <a:off x="2221992" y="5120640"/>
            <a:ext cx="3017520" cy="274320"/>
          </a:xfrm>
          <a:prstGeom prst="rect">
            <a:avLst/>
          </a:prstGeom>
          <a:noFill/>
        </p:spPr>
        <p:txBody>
          <a:bodyPr wrap="square">
            <a:spAutoFit/>
          </a:bodyPr>
          <a:lstStyle/>
          <a:p>
            <a:pPr algn="r"/>
            <a:r>
              <a:rPr sz="800" b="0">
                <a:solidFill>
                  <a:srgbClr val="C8A24C"/>
                </a:solidFill>
                <a:latin typeface="Montserrat"/>
              </a:rPr>
              <a:t>NewEnt Egypt 2021</a:t>
            </a:r>
          </a:p>
        </p:txBody>
      </p:sp>
      <p:sp>
        <p:nvSpPr>
          <p:cNvPr id="19" name="Rectangle 18"/>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21" name="TextBox 20"/>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03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91440"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097280"/>
            <a:ext cx="3657600" cy="365760"/>
          </a:xfrm>
          <a:prstGeom prst="rect">
            <a:avLst/>
          </a:prstGeom>
          <a:noFill/>
        </p:spPr>
        <p:txBody>
          <a:bodyPr wrap="square">
            <a:spAutoFit/>
          </a:bodyPr>
          <a:lstStyle/>
          <a:p>
            <a:pPr algn="l"/>
            <a:r>
              <a:rPr sz="1100" b="0">
                <a:solidFill>
                  <a:srgbClr val="C8A24C"/>
                </a:solidFill>
                <a:latin typeface="Montserrat"/>
              </a:rPr>
              <a:t>SECTION</a:t>
            </a:r>
          </a:p>
        </p:txBody>
      </p:sp>
      <p:sp>
        <p:nvSpPr>
          <p:cNvPr id="4" name="TextBox 3"/>
          <p:cNvSpPr txBox="1"/>
          <p:nvPr/>
        </p:nvSpPr>
        <p:spPr>
          <a:xfrm>
            <a:off x="365760" y="1463040"/>
            <a:ext cx="2560320" cy="2011680"/>
          </a:xfrm>
          <a:prstGeom prst="rect">
            <a:avLst/>
          </a:prstGeom>
          <a:noFill/>
        </p:spPr>
        <p:txBody>
          <a:bodyPr wrap="square">
            <a:spAutoFit/>
          </a:bodyPr>
          <a:lstStyle/>
          <a:p>
            <a:pPr algn="l"/>
            <a:r>
              <a:rPr sz="12000" b="1">
                <a:solidFill>
                  <a:srgbClr val="C8A24C"/>
                </a:solidFill>
                <a:latin typeface="Montserrat"/>
              </a:rPr>
              <a:t>01</a:t>
            </a:r>
          </a:p>
        </p:txBody>
      </p:sp>
      <p:sp>
        <p:nvSpPr>
          <p:cNvPr id="5" name="TextBox 4"/>
          <p:cNvSpPr txBox="1"/>
          <p:nvPr/>
        </p:nvSpPr>
        <p:spPr>
          <a:xfrm>
            <a:off x="365760" y="3566160"/>
            <a:ext cx="6400800" cy="914400"/>
          </a:xfrm>
          <a:prstGeom prst="rect">
            <a:avLst/>
          </a:prstGeom>
          <a:noFill/>
        </p:spPr>
        <p:txBody>
          <a:bodyPr wrap="square">
            <a:spAutoFit/>
          </a:bodyPr>
          <a:lstStyle/>
          <a:p>
            <a:pPr algn="r" rtl="1"/>
            <a:r>
              <a:rPr sz="4000" b="1">
                <a:solidFill>
                  <a:srgbClr val="FFFFFF"/>
                </a:solidFill>
                <a:latin typeface="Montserrat"/>
              </a:rPr>
              <a:t>الإشكالية</a:t>
            </a:r>
          </a:p>
        </p:txBody>
      </p:sp>
      <p:sp>
        <p:nvSpPr>
          <p:cNvPr id="6" name="TextBox 5"/>
          <p:cNvSpPr txBox="1"/>
          <p:nvPr/>
        </p:nvSpPr>
        <p:spPr>
          <a:xfrm>
            <a:off x="365760" y="4480560"/>
            <a:ext cx="6400800" cy="548640"/>
          </a:xfrm>
          <a:prstGeom prst="rect">
            <a:avLst/>
          </a:prstGeom>
          <a:noFill/>
        </p:spPr>
        <p:txBody>
          <a:bodyPr wrap="square">
            <a:spAutoFit/>
          </a:bodyPr>
          <a:lstStyle/>
          <a:p>
            <a:pPr algn="r" rtl="1"/>
            <a:r>
              <a:rPr sz="1800" b="0">
                <a:solidFill>
                  <a:srgbClr val="AAAAAA"/>
                </a:solidFill>
                <a:latin typeface="Montserrat"/>
              </a:rPr>
              <a:t>الشهادة وحدها لا تصنع فرصة عمل</a:t>
            </a:r>
          </a:p>
        </p:txBody>
      </p:sp>
      <p:sp>
        <p:nvSpPr>
          <p:cNvPr id="7" name="Rectangle 6"/>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9" name="TextBox 8"/>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04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10543032"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37160"/>
            <a:ext cx="9902952" cy="274320"/>
          </a:xfrm>
          <a:prstGeom prst="rect">
            <a:avLst/>
          </a:prstGeom>
          <a:noFill/>
        </p:spPr>
        <p:txBody>
          <a:bodyPr wrap="square">
            <a:spAutoFit/>
          </a:bodyPr>
          <a:lstStyle/>
          <a:p>
            <a:pPr algn="r" rtl="1"/>
            <a:r>
              <a:rPr sz="1000" b="0">
                <a:solidFill>
                  <a:srgbClr val="C8A24C"/>
                </a:solidFill>
                <a:latin typeface="Montserrat"/>
              </a:rPr>
              <a:t>01 · الإشكالية</a:t>
            </a:r>
          </a:p>
        </p:txBody>
      </p:sp>
      <p:sp>
        <p:nvSpPr>
          <p:cNvPr id="4" name="TextBox 3"/>
          <p:cNvSpPr txBox="1"/>
          <p:nvPr/>
        </p:nvSpPr>
        <p:spPr>
          <a:xfrm>
            <a:off x="457200" y="411480"/>
            <a:ext cx="9902952" cy="640080"/>
          </a:xfrm>
          <a:prstGeom prst="rect">
            <a:avLst/>
          </a:prstGeom>
          <a:noFill/>
        </p:spPr>
        <p:txBody>
          <a:bodyPr wrap="square">
            <a:spAutoFit/>
          </a:bodyPr>
          <a:lstStyle/>
          <a:p>
            <a:pPr algn="r" rtl="1"/>
            <a:r>
              <a:rPr sz="2600" b="1">
                <a:solidFill>
                  <a:srgbClr val="FFFFFF"/>
                </a:solidFill>
                <a:latin typeface="Montserrat"/>
              </a:rPr>
              <a:t>الأرقام تحدد الأزمة بدقة</a:t>
            </a:r>
          </a:p>
        </p:txBody>
      </p:sp>
      <p:sp>
        <p:nvSpPr>
          <p:cNvPr id="5" name="Rectangle 4"/>
          <p:cNvSpPr/>
          <p:nvPr/>
        </p:nvSpPr>
        <p:spPr>
          <a:xfrm>
            <a:off x="1462582" y="109728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931152" y="1234440"/>
            <a:ext cx="4754880" cy="1005840"/>
          </a:xfrm>
          <a:prstGeom prst="rect">
            <a:avLst/>
          </a:prstGeom>
          <a:solidFill>
            <a:srgbClr val="18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22592" y="1280160"/>
            <a:ext cx="1097280" cy="914400"/>
          </a:xfrm>
          <a:prstGeom prst="rect">
            <a:avLst/>
          </a:prstGeom>
          <a:noFill/>
        </p:spPr>
        <p:txBody>
          <a:bodyPr wrap="square">
            <a:spAutoFit/>
          </a:bodyPr>
          <a:lstStyle/>
          <a:p>
            <a:pPr algn="l"/>
            <a:r>
              <a:rPr sz="3400" b="1">
                <a:solidFill>
                  <a:srgbClr val="C8A24C"/>
                </a:solidFill>
                <a:latin typeface="Montserrat"/>
              </a:rPr>
              <a:t>6.3%</a:t>
            </a:r>
          </a:p>
        </p:txBody>
      </p:sp>
      <p:sp>
        <p:nvSpPr>
          <p:cNvPr id="8" name="TextBox 7"/>
          <p:cNvSpPr txBox="1"/>
          <p:nvPr/>
        </p:nvSpPr>
        <p:spPr>
          <a:xfrm>
            <a:off x="8119872" y="1325880"/>
            <a:ext cx="3429000" cy="822960"/>
          </a:xfrm>
          <a:prstGeom prst="rect">
            <a:avLst/>
          </a:prstGeom>
          <a:noFill/>
        </p:spPr>
        <p:txBody>
          <a:bodyPr wrap="square">
            <a:spAutoFit/>
          </a:bodyPr>
          <a:lstStyle/>
          <a:p>
            <a:pPr algn="r" rtl="1"/>
            <a:r>
              <a:rPr sz="1100" b="0">
                <a:solidFill>
                  <a:srgbClr val="FFFFFF"/>
                </a:solidFill>
                <a:latin typeface="Montserrat"/>
              </a:rPr>
              <a:t>معدل البطالة الإجمالي — مصر 2025
CAPMAS 2024</a:t>
            </a:r>
          </a:p>
        </p:txBody>
      </p:sp>
      <p:sp>
        <p:nvSpPr>
          <p:cNvPr id="9" name="Rectangle 8"/>
          <p:cNvSpPr/>
          <p:nvPr/>
        </p:nvSpPr>
        <p:spPr>
          <a:xfrm>
            <a:off x="2084832" y="1234440"/>
            <a:ext cx="4754880" cy="1005840"/>
          </a:xfrm>
          <a:prstGeom prst="rect">
            <a:avLst/>
          </a:prstGeom>
          <a:solidFill>
            <a:srgbClr val="18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76272" y="1280160"/>
            <a:ext cx="1097280" cy="914400"/>
          </a:xfrm>
          <a:prstGeom prst="rect">
            <a:avLst/>
          </a:prstGeom>
          <a:noFill/>
        </p:spPr>
        <p:txBody>
          <a:bodyPr wrap="square">
            <a:spAutoFit/>
          </a:bodyPr>
          <a:lstStyle/>
          <a:p>
            <a:pPr algn="l"/>
            <a:r>
              <a:rPr sz="3400" b="1">
                <a:solidFill>
                  <a:srgbClr val="C8A24C"/>
                </a:solidFill>
                <a:latin typeface="Montserrat"/>
              </a:rPr>
              <a:t>45%</a:t>
            </a:r>
          </a:p>
        </p:txBody>
      </p:sp>
      <p:sp>
        <p:nvSpPr>
          <p:cNvPr id="11" name="TextBox 10"/>
          <p:cNvSpPr txBox="1"/>
          <p:nvPr/>
        </p:nvSpPr>
        <p:spPr>
          <a:xfrm>
            <a:off x="3273552" y="1325880"/>
            <a:ext cx="3429000" cy="822960"/>
          </a:xfrm>
          <a:prstGeom prst="rect">
            <a:avLst/>
          </a:prstGeom>
          <a:noFill/>
        </p:spPr>
        <p:txBody>
          <a:bodyPr wrap="square">
            <a:spAutoFit/>
          </a:bodyPr>
          <a:lstStyle/>
          <a:p>
            <a:pPr algn="r" rtl="1"/>
            <a:r>
              <a:rPr sz="1100" b="0">
                <a:solidFill>
                  <a:srgbClr val="FFFFFF"/>
                </a:solidFill>
                <a:latin typeface="Montserrat"/>
              </a:rPr>
              <a:t>من أصحاب العمل: الخريجون غير مؤهلين عملياً
NewEnt Egypt 2021</a:t>
            </a:r>
          </a:p>
        </p:txBody>
      </p:sp>
      <p:sp>
        <p:nvSpPr>
          <p:cNvPr id="12" name="Rectangle 11"/>
          <p:cNvSpPr/>
          <p:nvPr/>
        </p:nvSpPr>
        <p:spPr>
          <a:xfrm>
            <a:off x="6931152" y="2313432"/>
            <a:ext cx="4754880" cy="1005840"/>
          </a:xfrm>
          <a:prstGeom prst="rect">
            <a:avLst/>
          </a:prstGeom>
          <a:solidFill>
            <a:srgbClr val="18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22592" y="2359152"/>
            <a:ext cx="1097280" cy="914400"/>
          </a:xfrm>
          <a:prstGeom prst="rect">
            <a:avLst/>
          </a:prstGeom>
          <a:noFill/>
        </p:spPr>
        <p:txBody>
          <a:bodyPr wrap="square">
            <a:spAutoFit/>
          </a:bodyPr>
          <a:lstStyle/>
          <a:p>
            <a:pPr algn="l"/>
            <a:r>
              <a:rPr sz="3400" b="1">
                <a:solidFill>
                  <a:srgbClr val="A4232A"/>
                </a:solidFill>
                <a:latin typeface="Montserrat"/>
              </a:rPr>
              <a:t>78%</a:t>
            </a:r>
          </a:p>
        </p:txBody>
      </p:sp>
      <p:sp>
        <p:nvSpPr>
          <p:cNvPr id="14" name="TextBox 13"/>
          <p:cNvSpPr txBox="1"/>
          <p:nvPr/>
        </p:nvSpPr>
        <p:spPr>
          <a:xfrm>
            <a:off x="8119872" y="2404872"/>
            <a:ext cx="3429000" cy="822960"/>
          </a:xfrm>
          <a:prstGeom prst="rect">
            <a:avLst/>
          </a:prstGeom>
          <a:noFill/>
        </p:spPr>
        <p:txBody>
          <a:bodyPr wrap="square">
            <a:spAutoFit/>
          </a:bodyPr>
          <a:lstStyle/>
          <a:p>
            <a:pPr algn="r" rtl="1"/>
            <a:r>
              <a:rPr sz="1100" b="0">
                <a:solidFill>
                  <a:srgbClr val="FFFFFF"/>
                </a:solidFill>
                <a:latin typeface="Montserrat"/>
              </a:rPr>
              <a:t>من الشركات الكبرى: نقص كفاءات رقمية وتقنية
NewEnt Egypt 2021</a:t>
            </a:r>
          </a:p>
        </p:txBody>
      </p:sp>
      <p:sp>
        <p:nvSpPr>
          <p:cNvPr id="15" name="Rectangle 14"/>
          <p:cNvSpPr/>
          <p:nvPr/>
        </p:nvSpPr>
        <p:spPr>
          <a:xfrm>
            <a:off x="2084832" y="2313432"/>
            <a:ext cx="4754880" cy="1005840"/>
          </a:xfrm>
          <a:prstGeom prst="rect">
            <a:avLst/>
          </a:prstGeom>
          <a:solidFill>
            <a:srgbClr val="18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76272" y="2359152"/>
            <a:ext cx="1097280" cy="914400"/>
          </a:xfrm>
          <a:prstGeom prst="rect">
            <a:avLst/>
          </a:prstGeom>
          <a:noFill/>
        </p:spPr>
        <p:txBody>
          <a:bodyPr wrap="square">
            <a:spAutoFit/>
          </a:bodyPr>
          <a:lstStyle/>
          <a:p>
            <a:pPr algn="l"/>
            <a:r>
              <a:rPr sz="3400" b="1">
                <a:solidFill>
                  <a:srgbClr val="FFFFFF"/>
                </a:solidFill>
                <a:latin typeface="Montserrat"/>
              </a:rPr>
              <a:t>41%</a:t>
            </a:r>
          </a:p>
        </p:txBody>
      </p:sp>
      <p:sp>
        <p:nvSpPr>
          <p:cNvPr id="17" name="TextBox 16"/>
          <p:cNvSpPr txBox="1"/>
          <p:nvPr/>
        </p:nvSpPr>
        <p:spPr>
          <a:xfrm>
            <a:off x="3273552" y="2404872"/>
            <a:ext cx="3429000" cy="822960"/>
          </a:xfrm>
          <a:prstGeom prst="rect">
            <a:avLst/>
          </a:prstGeom>
          <a:noFill/>
        </p:spPr>
        <p:txBody>
          <a:bodyPr wrap="square">
            <a:spAutoFit/>
          </a:bodyPr>
          <a:lstStyle/>
          <a:p>
            <a:pPr algn="r" rtl="1"/>
            <a:r>
              <a:rPr sz="1100" b="0">
                <a:solidFill>
                  <a:srgbClr val="FFFFFF"/>
                </a:solidFill>
                <a:latin typeface="Montserrat"/>
              </a:rPr>
              <a:t>من الشركات احتاجت +30 شهراً لملء وظيفة واحدة
NewEnt Egypt 2021</a:t>
            </a:r>
          </a:p>
        </p:txBody>
      </p:sp>
      <p:sp>
        <p:nvSpPr>
          <p:cNvPr id="18" name="Rectangle 17"/>
          <p:cNvSpPr/>
          <p:nvPr/>
        </p:nvSpPr>
        <p:spPr>
          <a:xfrm>
            <a:off x="6931152" y="3392424"/>
            <a:ext cx="4754880" cy="1005840"/>
          </a:xfrm>
          <a:prstGeom prst="rect">
            <a:avLst/>
          </a:prstGeom>
          <a:solidFill>
            <a:srgbClr val="18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3438144"/>
            <a:ext cx="1097280" cy="914400"/>
          </a:xfrm>
          <a:prstGeom prst="rect">
            <a:avLst/>
          </a:prstGeom>
          <a:noFill/>
        </p:spPr>
        <p:txBody>
          <a:bodyPr wrap="square">
            <a:spAutoFit/>
          </a:bodyPr>
          <a:lstStyle/>
          <a:p>
            <a:pPr algn="l"/>
            <a:r>
              <a:rPr sz="3400" b="1">
                <a:solidFill>
                  <a:srgbClr val="FFFFFF"/>
                </a:solidFill>
                <a:latin typeface="Montserrat"/>
              </a:rPr>
              <a:t>70%</a:t>
            </a:r>
          </a:p>
        </p:txBody>
      </p:sp>
      <p:sp>
        <p:nvSpPr>
          <p:cNvPr id="20" name="TextBox 19"/>
          <p:cNvSpPr txBox="1"/>
          <p:nvPr/>
        </p:nvSpPr>
        <p:spPr>
          <a:xfrm>
            <a:off x="8119872" y="3483864"/>
            <a:ext cx="3429000" cy="822960"/>
          </a:xfrm>
          <a:prstGeom prst="rect">
            <a:avLst/>
          </a:prstGeom>
          <a:noFill/>
        </p:spPr>
        <p:txBody>
          <a:bodyPr wrap="square">
            <a:spAutoFit/>
          </a:bodyPr>
          <a:lstStyle/>
          <a:p>
            <a:pPr algn="r" rtl="1"/>
            <a:r>
              <a:rPr sz="1100" b="0">
                <a:solidFill>
                  <a:srgbClr val="FFFFFF"/>
                </a:solidFill>
                <a:latin typeface="Montserrat"/>
              </a:rPr>
              <a:t>من أسباب الفشل المهني: نقص المهارات لا نقص الفرص
NewEnt Egypt 2021</a:t>
            </a:r>
          </a:p>
        </p:txBody>
      </p:sp>
      <p:sp>
        <p:nvSpPr>
          <p:cNvPr id="21" name="Rectangle 20"/>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23" name="TextBox 22"/>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05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91440"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097280"/>
            <a:ext cx="3657600" cy="365760"/>
          </a:xfrm>
          <a:prstGeom prst="rect">
            <a:avLst/>
          </a:prstGeom>
          <a:noFill/>
        </p:spPr>
        <p:txBody>
          <a:bodyPr wrap="square">
            <a:spAutoFit/>
          </a:bodyPr>
          <a:lstStyle/>
          <a:p>
            <a:pPr algn="l"/>
            <a:r>
              <a:rPr sz="1100" b="0">
                <a:solidFill>
                  <a:srgbClr val="C8A24C"/>
                </a:solidFill>
                <a:latin typeface="Montserrat"/>
              </a:rPr>
              <a:t>SECTION</a:t>
            </a:r>
          </a:p>
        </p:txBody>
      </p:sp>
      <p:sp>
        <p:nvSpPr>
          <p:cNvPr id="4" name="TextBox 3"/>
          <p:cNvSpPr txBox="1"/>
          <p:nvPr/>
        </p:nvSpPr>
        <p:spPr>
          <a:xfrm>
            <a:off x="365760" y="1463040"/>
            <a:ext cx="2560320" cy="2011680"/>
          </a:xfrm>
          <a:prstGeom prst="rect">
            <a:avLst/>
          </a:prstGeom>
          <a:noFill/>
        </p:spPr>
        <p:txBody>
          <a:bodyPr wrap="square">
            <a:spAutoFit/>
          </a:bodyPr>
          <a:lstStyle/>
          <a:p>
            <a:pPr algn="l"/>
            <a:r>
              <a:rPr sz="12000" b="1">
                <a:solidFill>
                  <a:srgbClr val="C8A24C"/>
                </a:solidFill>
                <a:latin typeface="Montserrat"/>
              </a:rPr>
              <a:t>02</a:t>
            </a:r>
          </a:p>
        </p:txBody>
      </p:sp>
      <p:sp>
        <p:nvSpPr>
          <p:cNvPr id="5" name="TextBox 4"/>
          <p:cNvSpPr txBox="1"/>
          <p:nvPr/>
        </p:nvSpPr>
        <p:spPr>
          <a:xfrm>
            <a:off x="365760" y="3566160"/>
            <a:ext cx="6400800" cy="914400"/>
          </a:xfrm>
          <a:prstGeom prst="rect">
            <a:avLst/>
          </a:prstGeom>
          <a:noFill/>
        </p:spPr>
        <p:txBody>
          <a:bodyPr wrap="square">
            <a:spAutoFit/>
          </a:bodyPr>
          <a:lstStyle/>
          <a:p>
            <a:pPr algn="r" rtl="1"/>
            <a:r>
              <a:rPr sz="4000" b="1">
                <a:solidFill>
                  <a:srgbClr val="FFFFFF"/>
                </a:solidFill>
                <a:latin typeface="Montserrat"/>
              </a:rPr>
              <a:t>الحل</a:t>
            </a:r>
          </a:p>
        </p:txBody>
      </p:sp>
      <p:sp>
        <p:nvSpPr>
          <p:cNvPr id="6" name="TextBox 5"/>
          <p:cNvSpPr txBox="1"/>
          <p:nvPr/>
        </p:nvSpPr>
        <p:spPr>
          <a:xfrm>
            <a:off x="365760" y="4480560"/>
            <a:ext cx="6400800" cy="548640"/>
          </a:xfrm>
          <a:prstGeom prst="rect">
            <a:avLst/>
          </a:prstGeom>
          <a:noFill/>
        </p:spPr>
        <p:txBody>
          <a:bodyPr wrap="square">
            <a:spAutoFit/>
          </a:bodyPr>
          <a:lstStyle/>
          <a:p>
            <a:pPr algn="r" rtl="1"/>
            <a:r>
              <a:rPr sz="1800" b="0">
                <a:solidFill>
                  <a:srgbClr val="AAAAAA"/>
                </a:solidFill>
                <a:latin typeface="Montserrat"/>
              </a:rPr>
              <a:t>تدريب حقيقي — إثبات حقيقي</a:t>
            </a:r>
          </a:p>
        </p:txBody>
      </p:sp>
      <p:sp>
        <p:nvSpPr>
          <p:cNvPr id="7" name="Rectangle 6"/>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9" name="TextBox 8"/>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06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274320"/>
          </a:xfrm>
          <a:prstGeom prst="rect">
            <a:avLst/>
          </a:prstGeom>
          <a:noFill/>
        </p:spPr>
        <p:txBody>
          <a:bodyPr wrap="square">
            <a:spAutoFit/>
          </a:bodyPr>
          <a:lstStyle/>
          <a:p>
            <a:pPr algn="r" rtl="1"/>
            <a:r>
              <a:rPr sz="1000" b="0">
                <a:solidFill>
                  <a:srgbClr val="C8A24C"/>
                </a:solidFill>
                <a:latin typeface="Montserrat"/>
              </a:rPr>
              <a:t>02 · الحل</a:t>
            </a:r>
          </a:p>
        </p:txBody>
      </p:sp>
      <p:sp>
        <p:nvSpPr>
          <p:cNvPr id="4" name="TextBox 3"/>
          <p:cNvSpPr txBox="1"/>
          <p:nvPr/>
        </p:nvSpPr>
        <p:spPr>
          <a:xfrm>
            <a:off x="457200" y="411480"/>
            <a:ext cx="11274552" cy="548640"/>
          </a:xfrm>
          <a:prstGeom prst="rect">
            <a:avLst/>
          </a:prstGeom>
          <a:noFill/>
        </p:spPr>
        <p:txBody>
          <a:bodyPr wrap="square">
            <a:spAutoFit/>
          </a:bodyPr>
          <a:lstStyle/>
          <a:p>
            <a:pPr algn="r" rtl="1"/>
            <a:r>
              <a:rPr sz="2600" b="1">
                <a:solidFill>
                  <a:srgbClr val="0E0E0E"/>
                </a:solidFill>
                <a:latin typeface="Montserrat"/>
              </a:rPr>
              <a:t>كيف يعمل النموذج</a:t>
            </a:r>
          </a:p>
        </p:txBody>
      </p:sp>
      <p:sp>
        <p:nvSpPr>
          <p:cNvPr id="5" name="Rectangle 4"/>
          <p:cNvSpPr/>
          <p:nvPr/>
        </p:nvSpPr>
        <p:spPr>
          <a:xfrm>
            <a:off x="1462582" y="100584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32620" y="1188720"/>
            <a:ext cx="640080" cy="64008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32620" y="1188720"/>
            <a:ext cx="640080" cy="640080"/>
          </a:xfrm>
          <a:prstGeom prst="rect">
            <a:avLst/>
          </a:prstGeom>
          <a:noFill/>
        </p:spPr>
        <p:txBody>
          <a:bodyPr wrap="square">
            <a:spAutoFit/>
          </a:bodyPr>
          <a:lstStyle/>
          <a:p>
            <a:pPr algn="ctr"/>
            <a:r>
              <a:rPr sz="2000" b="1">
                <a:solidFill>
                  <a:srgbClr val="C8A24C"/>
                </a:solidFill>
                <a:latin typeface="Montserrat"/>
              </a:rPr>
              <a:t>01</a:t>
            </a:r>
          </a:p>
        </p:txBody>
      </p:sp>
      <p:sp>
        <p:nvSpPr>
          <p:cNvPr id="8" name="TextBox 7"/>
          <p:cNvSpPr txBox="1"/>
          <p:nvPr/>
        </p:nvSpPr>
        <p:spPr>
          <a:xfrm>
            <a:off x="8065008" y="1920240"/>
            <a:ext cx="3575304" cy="457200"/>
          </a:xfrm>
          <a:prstGeom prst="rect">
            <a:avLst/>
          </a:prstGeom>
          <a:noFill/>
        </p:spPr>
        <p:txBody>
          <a:bodyPr wrap="square">
            <a:spAutoFit/>
          </a:bodyPr>
          <a:lstStyle/>
          <a:p>
            <a:pPr algn="r" rtl="1"/>
            <a:r>
              <a:rPr sz="1500" b="1">
                <a:solidFill>
                  <a:srgbClr val="0E0E0E"/>
                </a:solidFill>
                <a:latin typeface="Montserrat"/>
              </a:rPr>
              <a:t>التدريب</a:t>
            </a:r>
          </a:p>
        </p:txBody>
      </p:sp>
      <p:sp>
        <p:nvSpPr>
          <p:cNvPr id="9" name="TextBox 8"/>
          <p:cNvSpPr txBox="1"/>
          <p:nvPr/>
        </p:nvSpPr>
        <p:spPr>
          <a:xfrm>
            <a:off x="8065008" y="2377440"/>
            <a:ext cx="3575304" cy="1371600"/>
          </a:xfrm>
          <a:prstGeom prst="rect">
            <a:avLst/>
          </a:prstGeom>
          <a:noFill/>
        </p:spPr>
        <p:txBody>
          <a:bodyPr wrap="square">
            <a:spAutoFit/>
          </a:bodyPr>
          <a:lstStyle/>
          <a:p>
            <a:pPr algn="r" rtl="1"/>
            <a:r>
              <a:rPr sz="1000" b="0">
                <a:solidFill>
                  <a:srgbClr val="444038"/>
                </a:solidFill>
                <a:latin typeface="Montserrat"/>
              </a:rPr>
              <a:t>برنامج مكثف يُبنى على مهارات سوق العمل الفعلية، بمشاركة أصحاب العمل في التصميم</a:t>
            </a:r>
          </a:p>
        </p:txBody>
      </p:sp>
      <p:sp>
        <p:nvSpPr>
          <p:cNvPr id="10" name="Rectangle 9"/>
          <p:cNvSpPr/>
          <p:nvPr/>
        </p:nvSpPr>
        <p:spPr>
          <a:xfrm>
            <a:off x="5774436" y="1188720"/>
            <a:ext cx="640080" cy="64008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74436" y="1188720"/>
            <a:ext cx="640080" cy="640080"/>
          </a:xfrm>
          <a:prstGeom prst="rect">
            <a:avLst/>
          </a:prstGeom>
          <a:noFill/>
        </p:spPr>
        <p:txBody>
          <a:bodyPr wrap="square">
            <a:spAutoFit/>
          </a:bodyPr>
          <a:lstStyle/>
          <a:p>
            <a:pPr algn="ctr"/>
            <a:r>
              <a:rPr sz="2000" b="1">
                <a:solidFill>
                  <a:srgbClr val="C8A24C"/>
                </a:solidFill>
                <a:latin typeface="Montserrat"/>
              </a:rPr>
              <a:t>02</a:t>
            </a:r>
          </a:p>
        </p:txBody>
      </p:sp>
      <p:sp>
        <p:nvSpPr>
          <p:cNvPr id="12" name="TextBox 11"/>
          <p:cNvSpPr txBox="1"/>
          <p:nvPr/>
        </p:nvSpPr>
        <p:spPr>
          <a:xfrm>
            <a:off x="4306824" y="1920240"/>
            <a:ext cx="3575304" cy="457200"/>
          </a:xfrm>
          <a:prstGeom prst="rect">
            <a:avLst/>
          </a:prstGeom>
          <a:noFill/>
        </p:spPr>
        <p:txBody>
          <a:bodyPr wrap="square">
            <a:spAutoFit/>
          </a:bodyPr>
          <a:lstStyle/>
          <a:p>
            <a:pPr algn="r" rtl="1"/>
            <a:r>
              <a:rPr sz="1500" b="1">
                <a:solidFill>
                  <a:srgbClr val="0E0E0E"/>
                </a:solidFill>
                <a:latin typeface="Montserrat"/>
              </a:rPr>
              <a:t>الإثبات</a:t>
            </a:r>
          </a:p>
        </p:txBody>
      </p:sp>
      <p:sp>
        <p:nvSpPr>
          <p:cNvPr id="13" name="TextBox 12"/>
          <p:cNvSpPr txBox="1"/>
          <p:nvPr/>
        </p:nvSpPr>
        <p:spPr>
          <a:xfrm>
            <a:off x="4306824" y="2377440"/>
            <a:ext cx="3575304" cy="1371600"/>
          </a:xfrm>
          <a:prstGeom prst="rect">
            <a:avLst/>
          </a:prstGeom>
          <a:noFill/>
        </p:spPr>
        <p:txBody>
          <a:bodyPr wrap="square">
            <a:spAutoFit/>
          </a:bodyPr>
          <a:lstStyle/>
          <a:p>
            <a:pPr algn="r" rtl="1"/>
            <a:r>
              <a:rPr sz="1000" b="0">
                <a:solidFill>
                  <a:srgbClr val="444038"/>
                </a:solidFill>
                <a:latin typeface="Montserrat"/>
              </a:rPr>
              <a:t>مشاريع حقيقية مع شركات شريكة تُثبت الكفاءة أمام أصحاب العمل قبل التخرج</a:t>
            </a:r>
          </a:p>
        </p:txBody>
      </p:sp>
      <p:sp>
        <p:nvSpPr>
          <p:cNvPr id="14" name="Rectangle 13"/>
          <p:cNvSpPr/>
          <p:nvPr/>
        </p:nvSpPr>
        <p:spPr>
          <a:xfrm>
            <a:off x="2016252" y="1188720"/>
            <a:ext cx="640080" cy="64008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16252" y="1188720"/>
            <a:ext cx="640080" cy="640080"/>
          </a:xfrm>
          <a:prstGeom prst="rect">
            <a:avLst/>
          </a:prstGeom>
          <a:noFill/>
        </p:spPr>
        <p:txBody>
          <a:bodyPr wrap="square">
            <a:spAutoFit/>
          </a:bodyPr>
          <a:lstStyle/>
          <a:p>
            <a:pPr algn="ctr"/>
            <a:r>
              <a:rPr sz="2000" b="1">
                <a:solidFill>
                  <a:srgbClr val="C8A24C"/>
                </a:solidFill>
                <a:latin typeface="Montserrat"/>
              </a:rPr>
              <a:t>03</a:t>
            </a:r>
          </a:p>
        </p:txBody>
      </p:sp>
      <p:sp>
        <p:nvSpPr>
          <p:cNvPr id="16" name="TextBox 15"/>
          <p:cNvSpPr txBox="1"/>
          <p:nvPr/>
        </p:nvSpPr>
        <p:spPr>
          <a:xfrm>
            <a:off x="548640" y="1920240"/>
            <a:ext cx="3575304" cy="457200"/>
          </a:xfrm>
          <a:prstGeom prst="rect">
            <a:avLst/>
          </a:prstGeom>
          <a:noFill/>
        </p:spPr>
        <p:txBody>
          <a:bodyPr wrap="square">
            <a:spAutoFit/>
          </a:bodyPr>
          <a:lstStyle/>
          <a:p>
            <a:pPr algn="r" rtl="1"/>
            <a:r>
              <a:rPr sz="1500" b="1">
                <a:solidFill>
                  <a:srgbClr val="0E0E0E"/>
                </a:solidFill>
                <a:latin typeface="Montserrat"/>
              </a:rPr>
              <a:t>التحقق</a:t>
            </a:r>
          </a:p>
        </p:txBody>
      </p:sp>
      <p:sp>
        <p:nvSpPr>
          <p:cNvPr id="17" name="TextBox 16"/>
          <p:cNvSpPr txBox="1"/>
          <p:nvPr/>
        </p:nvSpPr>
        <p:spPr>
          <a:xfrm>
            <a:off x="548640" y="2377440"/>
            <a:ext cx="3575304" cy="1371600"/>
          </a:xfrm>
          <a:prstGeom prst="rect">
            <a:avLst/>
          </a:prstGeom>
          <a:noFill/>
        </p:spPr>
        <p:txBody>
          <a:bodyPr wrap="square">
            <a:spAutoFit/>
          </a:bodyPr>
          <a:lstStyle/>
          <a:p>
            <a:pPr algn="r" rtl="1"/>
            <a:r>
              <a:rPr sz="1000" b="0">
                <a:solidFill>
                  <a:srgbClr val="444038"/>
                </a:solidFill>
                <a:latin typeface="Montserrat"/>
              </a:rPr>
              <a:t>قياس أثر موضوعي بعد 6 أشهر من التوظيف، مع تقارير دورية للوزارة</a:t>
            </a:r>
          </a:p>
        </p:txBody>
      </p:sp>
      <p:sp>
        <p:nvSpPr>
          <p:cNvPr id="18" name="Rectangle 17"/>
          <p:cNvSpPr/>
          <p:nvPr/>
        </p:nvSpPr>
        <p:spPr>
          <a:xfrm>
            <a:off x="365760" y="3657600"/>
            <a:ext cx="11457432" cy="182880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3749039"/>
            <a:ext cx="11183112" cy="365760"/>
          </a:xfrm>
          <a:prstGeom prst="rect">
            <a:avLst/>
          </a:prstGeom>
          <a:noFill/>
        </p:spPr>
        <p:txBody>
          <a:bodyPr wrap="square">
            <a:spAutoFit/>
          </a:bodyPr>
          <a:lstStyle/>
          <a:p>
            <a:pPr algn="r" rtl="1"/>
            <a:r>
              <a:rPr sz="1300" b="1">
                <a:solidFill>
                  <a:srgbClr val="C8A24C"/>
                </a:solidFill>
                <a:latin typeface="Montserrat"/>
              </a:rPr>
              <a:t>لماذا هذا النموذج يحقق النتائج؟</a:t>
            </a:r>
          </a:p>
        </p:txBody>
      </p:sp>
      <p:sp>
        <p:nvSpPr>
          <p:cNvPr id="20" name="TextBox 19"/>
          <p:cNvSpPr txBox="1"/>
          <p:nvPr/>
        </p:nvSpPr>
        <p:spPr>
          <a:xfrm>
            <a:off x="502920" y="4114800"/>
            <a:ext cx="11183112" cy="1234440"/>
          </a:xfrm>
          <a:prstGeom prst="rect">
            <a:avLst/>
          </a:prstGeom>
          <a:noFill/>
        </p:spPr>
        <p:txBody>
          <a:bodyPr wrap="square">
            <a:spAutoFit/>
          </a:bodyPr>
          <a:lstStyle/>
          <a:p>
            <a:pPr algn="r" rtl="1"/>
            <a:r>
              <a:rPr sz="1100" b="0">
                <a:solidFill>
                  <a:srgbClr val="FFFFFF"/>
                </a:solidFill>
                <a:latin typeface="Montserrat"/>
              </a:rPr>
              <a:t>البيانات الدولية تثبت أن الدمج بين التدريب النظري والتطبيق الفعلي يرفع معدل التوظيف بنسبة تتجاوز 52% مقارنةً بالتدريب التقليدي (IFC Connexus 2028). نموذج MY4 Education مُطبَّق بالفعل على 190 متدرباً من جامعتي القاهرة والإسكندرية في تخصصات الاقتصاد والإدارة وتقنية المعلومات.</a:t>
            </a:r>
          </a:p>
        </p:txBody>
      </p:sp>
      <p:sp>
        <p:nvSpPr>
          <p:cNvPr id="21" name="Rectangle 20"/>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23" name="TextBox 22"/>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07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91440"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097280"/>
            <a:ext cx="3657600" cy="365760"/>
          </a:xfrm>
          <a:prstGeom prst="rect">
            <a:avLst/>
          </a:prstGeom>
          <a:noFill/>
        </p:spPr>
        <p:txBody>
          <a:bodyPr wrap="square">
            <a:spAutoFit/>
          </a:bodyPr>
          <a:lstStyle/>
          <a:p>
            <a:pPr algn="l"/>
            <a:r>
              <a:rPr sz="1100" b="0">
                <a:solidFill>
                  <a:srgbClr val="C8A24C"/>
                </a:solidFill>
                <a:latin typeface="Montserrat"/>
              </a:rPr>
              <a:t>SECTION</a:t>
            </a:r>
          </a:p>
        </p:txBody>
      </p:sp>
      <p:sp>
        <p:nvSpPr>
          <p:cNvPr id="4" name="TextBox 3"/>
          <p:cNvSpPr txBox="1"/>
          <p:nvPr/>
        </p:nvSpPr>
        <p:spPr>
          <a:xfrm>
            <a:off x="365760" y="1463040"/>
            <a:ext cx="2560320" cy="2011680"/>
          </a:xfrm>
          <a:prstGeom prst="rect">
            <a:avLst/>
          </a:prstGeom>
          <a:noFill/>
        </p:spPr>
        <p:txBody>
          <a:bodyPr wrap="square">
            <a:spAutoFit/>
          </a:bodyPr>
          <a:lstStyle/>
          <a:p>
            <a:pPr algn="l"/>
            <a:r>
              <a:rPr sz="12000" b="1">
                <a:solidFill>
                  <a:srgbClr val="C8A24C"/>
                </a:solidFill>
                <a:latin typeface="Montserrat"/>
              </a:rPr>
              <a:t>03</a:t>
            </a:r>
          </a:p>
        </p:txBody>
      </p:sp>
      <p:sp>
        <p:nvSpPr>
          <p:cNvPr id="5" name="TextBox 4"/>
          <p:cNvSpPr txBox="1"/>
          <p:nvPr/>
        </p:nvSpPr>
        <p:spPr>
          <a:xfrm>
            <a:off x="365760" y="3566160"/>
            <a:ext cx="6400800" cy="914400"/>
          </a:xfrm>
          <a:prstGeom prst="rect">
            <a:avLst/>
          </a:prstGeom>
          <a:noFill/>
        </p:spPr>
        <p:txBody>
          <a:bodyPr wrap="square">
            <a:spAutoFit/>
          </a:bodyPr>
          <a:lstStyle/>
          <a:p>
            <a:pPr algn="r" rtl="1"/>
            <a:r>
              <a:rPr sz="4000" b="1">
                <a:solidFill>
                  <a:srgbClr val="FFFFFF"/>
                </a:solidFill>
                <a:latin typeface="Montserrat"/>
              </a:rPr>
              <a:t>إثبات النموذج</a:t>
            </a:r>
          </a:p>
        </p:txBody>
      </p:sp>
      <p:sp>
        <p:nvSpPr>
          <p:cNvPr id="6" name="TextBox 5"/>
          <p:cNvSpPr txBox="1"/>
          <p:nvPr/>
        </p:nvSpPr>
        <p:spPr>
          <a:xfrm>
            <a:off x="365760" y="4480560"/>
            <a:ext cx="6400800" cy="548640"/>
          </a:xfrm>
          <a:prstGeom prst="rect">
            <a:avLst/>
          </a:prstGeom>
          <a:noFill/>
        </p:spPr>
        <p:txBody>
          <a:bodyPr wrap="square">
            <a:spAutoFit/>
          </a:bodyPr>
          <a:lstStyle/>
          <a:p>
            <a:pPr algn="r" rtl="1"/>
            <a:r>
              <a:rPr sz="1800" b="0">
                <a:solidFill>
                  <a:srgbClr val="AAAAAA"/>
                </a:solidFill>
                <a:latin typeface="Montserrat"/>
              </a:rPr>
              <a:t>التجربة الريادية — الأكاديمية العربية</a:t>
            </a:r>
          </a:p>
        </p:txBody>
      </p:sp>
      <p:sp>
        <p:nvSpPr>
          <p:cNvPr id="7" name="Rectangle 6"/>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9" name="TextBox 8"/>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08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274320"/>
          </a:xfrm>
          <a:prstGeom prst="rect">
            <a:avLst/>
          </a:prstGeom>
          <a:noFill/>
        </p:spPr>
        <p:txBody>
          <a:bodyPr wrap="square">
            <a:spAutoFit/>
          </a:bodyPr>
          <a:lstStyle/>
          <a:p>
            <a:pPr algn="r" rtl="1"/>
            <a:r>
              <a:rPr sz="1000" b="0">
                <a:solidFill>
                  <a:srgbClr val="C8A24C"/>
                </a:solidFill>
                <a:latin typeface="Montserrat"/>
              </a:rPr>
              <a:t>03 · إثبات النموذج</a:t>
            </a:r>
          </a:p>
        </p:txBody>
      </p:sp>
      <p:sp>
        <p:nvSpPr>
          <p:cNvPr id="4" name="TextBox 3"/>
          <p:cNvSpPr txBox="1"/>
          <p:nvPr/>
        </p:nvSpPr>
        <p:spPr>
          <a:xfrm>
            <a:off x="457200" y="411480"/>
            <a:ext cx="11274552" cy="548640"/>
          </a:xfrm>
          <a:prstGeom prst="rect">
            <a:avLst/>
          </a:prstGeom>
          <a:noFill/>
        </p:spPr>
        <p:txBody>
          <a:bodyPr wrap="square">
            <a:spAutoFit/>
          </a:bodyPr>
          <a:lstStyle/>
          <a:p>
            <a:pPr algn="r" rtl="1"/>
            <a:r>
              <a:rPr sz="2200" b="1">
                <a:solidFill>
                  <a:srgbClr val="0E0E0E"/>
                </a:solidFill>
                <a:latin typeface="Montserrat"/>
              </a:rPr>
              <a:t>الأكاديمية العربية — التجربة الريادية على الواقع</a:t>
            </a:r>
          </a:p>
        </p:txBody>
      </p:sp>
      <p:sp>
        <p:nvSpPr>
          <p:cNvPr id="5" name="Rectangle 4"/>
          <p:cNvSpPr/>
          <p:nvPr/>
        </p:nvSpPr>
        <p:spPr>
          <a:xfrm>
            <a:off x="1462582" y="100584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0" y="1143000"/>
            <a:ext cx="5669280" cy="1463040"/>
          </a:xfrm>
          <a:prstGeom prst="rect">
            <a:avLst/>
          </a:prstGeom>
          <a:noFill/>
        </p:spPr>
        <p:txBody>
          <a:bodyPr wrap="square">
            <a:spAutoFit/>
          </a:bodyPr>
          <a:lstStyle/>
          <a:p>
            <a:pPr algn="r" rtl="1"/>
            <a:r>
              <a:rPr sz="1100" b="0">
                <a:solidFill>
                  <a:srgbClr val="333028"/>
                </a:solidFill>
                <a:latin typeface="Montserrat"/>
              </a:rPr>
              <a:t>طوّر نموذج MY4 Education شراكةً رائدة داخل كل الأكاديمية العربية للعلوم والتكنولوجيا والنقل البحري (AASTMT)، وهي من أكبر المؤسسات التعليمية التقنية في المنطقة العربية.
تثبت 13 دراسة أكاديمية متخصصة أن تحديث مناهج التدريب المهني بمحتوى سوق العمل يُعظّم فرص الإلحاق الوظيفي ويقلّص فجوة المهارات.</a:t>
            </a:r>
          </a:p>
        </p:txBody>
      </p:sp>
      <p:sp>
        <p:nvSpPr>
          <p:cNvPr id="7" name="Rectangle 6"/>
          <p:cNvSpPr/>
          <p:nvPr/>
        </p:nvSpPr>
        <p:spPr>
          <a:xfrm>
            <a:off x="6217920" y="2651760"/>
            <a:ext cx="5669280" cy="19202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2697480"/>
            <a:ext cx="5486400" cy="1828800"/>
          </a:xfrm>
          <a:prstGeom prst="rect">
            <a:avLst/>
          </a:prstGeom>
          <a:noFill/>
        </p:spPr>
        <p:txBody>
          <a:bodyPr wrap="square">
            <a:spAutoFit/>
          </a:bodyPr>
          <a:lstStyle/>
          <a:p>
            <a:pPr algn="r" rtl="1"/>
            <a:r>
              <a:rPr sz="1000" b="0">
                <a:solidFill>
                  <a:srgbClr val="FFFFFF"/>
                </a:solidFill>
                <a:latin typeface="Montserrat"/>
              </a:rPr>
              <a:t>  ◆  نسبة توظيف 100% للدفعة الأولى خلال 3 أشهر من إتمام البرنامج
  ◆  شركاء توظيف من القطاعين الخاص والحكومي: +16 جهة
  ◆  متوسط الراتب الابتدائي: 1.7× المتوسط القطاعي لخريجي نفس التخصصات
  ◆  رضا أصحاب العمل: 96% «يوصون بالبرنامج لزملائهم»</a:t>
            </a:r>
          </a:p>
        </p:txBody>
      </p:sp>
      <p:sp>
        <p:nvSpPr>
          <p:cNvPr id="9" name="Rectangle 8"/>
          <p:cNvSpPr/>
          <p:nvPr/>
        </p:nvSpPr>
        <p:spPr>
          <a:xfrm>
            <a:off x="365760" y="1143000"/>
            <a:ext cx="5577840" cy="14630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188720"/>
            <a:ext cx="5394960" cy="365760"/>
          </a:xfrm>
          <a:prstGeom prst="rect">
            <a:avLst/>
          </a:prstGeom>
          <a:noFill/>
        </p:spPr>
        <p:txBody>
          <a:bodyPr wrap="square">
            <a:spAutoFit/>
          </a:bodyPr>
          <a:lstStyle/>
          <a:p>
            <a:pPr algn="r" rtl="1"/>
            <a:r>
              <a:rPr sz="1100" b="1">
                <a:solidFill>
                  <a:srgbClr val="C8A24C"/>
                </a:solidFill>
                <a:latin typeface="Montserrat"/>
              </a:rPr>
              <a:t>الجامعات المستهدفة في المرحلة التدريبية</a:t>
            </a:r>
          </a:p>
        </p:txBody>
      </p:sp>
      <p:sp>
        <p:nvSpPr>
          <p:cNvPr id="11" name="TextBox 10"/>
          <p:cNvSpPr txBox="1"/>
          <p:nvPr/>
        </p:nvSpPr>
        <p:spPr>
          <a:xfrm>
            <a:off x="457200" y="1600200"/>
            <a:ext cx="5394960" cy="822960"/>
          </a:xfrm>
          <a:prstGeom prst="rect">
            <a:avLst/>
          </a:prstGeom>
          <a:noFill/>
        </p:spPr>
        <p:txBody>
          <a:bodyPr wrap="square">
            <a:spAutoFit/>
          </a:bodyPr>
          <a:lstStyle/>
          <a:p>
            <a:pPr algn="r" rtl="1"/>
            <a:r>
              <a:rPr sz="1000" b="0">
                <a:solidFill>
                  <a:srgbClr val="FFFFFF"/>
                </a:solidFill>
                <a:latin typeface="Montserrat"/>
              </a:rPr>
              <a:t>جامعة القاهرة  ·  جامعة الإسكندرية  ·  الأكاديمية العربية للعلوم والتكنولوجيا  ·  جامعة عين شمس  ·  جامعة حلوان</a:t>
            </a:r>
          </a:p>
        </p:txBody>
      </p:sp>
      <p:sp>
        <p:nvSpPr>
          <p:cNvPr id="12" name="Rectangle 11"/>
          <p:cNvSpPr/>
          <p:nvPr/>
        </p:nvSpPr>
        <p:spPr>
          <a:xfrm>
            <a:off x="365760" y="2743200"/>
            <a:ext cx="5577840" cy="1828800"/>
          </a:xfrm>
          <a:prstGeom prst="rect">
            <a:avLst/>
          </a:prstGeom>
          <a:solidFill>
            <a:srgbClr val="ECE6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5394960" cy="365760"/>
          </a:xfrm>
          <a:prstGeom prst="rect">
            <a:avLst/>
          </a:prstGeom>
          <a:noFill/>
        </p:spPr>
        <p:txBody>
          <a:bodyPr wrap="square">
            <a:spAutoFit/>
          </a:bodyPr>
          <a:lstStyle/>
          <a:p>
            <a:pPr algn="r" rtl="1"/>
            <a:r>
              <a:rPr sz="1100" b="1">
                <a:solidFill>
                  <a:srgbClr val="0E0E0E"/>
                </a:solidFill>
                <a:latin typeface="Montserrat"/>
              </a:rPr>
              <a:t>التخصصات المستهدفة</a:t>
            </a:r>
          </a:p>
        </p:txBody>
      </p:sp>
      <p:sp>
        <p:nvSpPr>
          <p:cNvPr id="14" name="TextBox 13"/>
          <p:cNvSpPr txBox="1"/>
          <p:nvPr/>
        </p:nvSpPr>
        <p:spPr>
          <a:xfrm>
            <a:off x="457200" y="3200400"/>
            <a:ext cx="5394960" cy="1280160"/>
          </a:xfrm>
          <a:prstGeom prst="rect">
            <a:avLst/>
          </a:prstGeom>
          <a:noFill/>
        </p:spPr>
        <p:txBody>
          <a:bodyPr wrap="square">
            <a:spAutoFit/>
          </a:bodyPr>
          <a:lstStyle/>
          <a:p>
            <a:pPr algn="r" rtl="1"/>
            <a:r>
              <a:rPr sz="1000" b="0">
                <a:solidFill>
                  <a:srgbClr val="0E0E0E"/>
                </a:solidFill>
                <a:latin typeface="Montserrat"/>
              </a:rPr>
              <a:t>◆  تقنية المعلومات والذكاء الاصطناعي
◆  الاقتصاد وإدارة الأعمال
◆  التسويق الرقمي وواجهة المستخدم
◆  إدارة المشاريع والإدارة التشغيلية</a:t>
            </a:r>
          </a:p>
        </p:txBody>
      </p:sp>
      <p:sp>
        <p:nvSpPr>
          <p:cNvPr id="15" name="Rectangle 14"/>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17" name="TextBox 16"/>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09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91440"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097280"/>
            <a:ext cx="3657600" cy="365760"/>
          </a:xfrm>
          <a:prstGeom prst="rect">
            <a:avLst/>
          </a:prstGeom>
          <a:noFill/>
        </p:spPr>
        <p:txBody>
          <a:bodyPr wrap="square">
            <a:spAutoFit/>
          </a:bodyPr>
          <a:lstStyle/>
          <a:p>
            <a:pPr algn="l"/>
            <a:r>
              <a:rPr sz="1100" b="0">
                <a:solidFill>
                  <a:srgbClr val="C8A24C"/>
                </a:solidFill>
                <a:latin typeface="Montserrat"/>
              </a:rPr>
              <a:t>SECTION</a:t>
            </a:r>
          </a:p>
        </p:txBody>
      </p:sp>
      <p:sp>
        <p:nvSpPr>
          <p:cNvPr id="4" name="TextBox 3"/>
          <p:cNvSpPr txBox="1"/>
          <p:nvPr/>
        </p:nvSpPr>
        <p:spPr>
          <a:xfrm>
            <a:off x="365760" y="1463040"/>
            <a:ext cx="2560320" cy="2011680"/>
          </a:xfrm>
          <a:prstGeom prst="rect">
            <a:avLst/>
          </a:prstGeom>
          <a:noFill/>
        </p:spPr>
        <p:txBody>
          <a:bodyPr wrap="square">
            <a:spAutoFit/>
          </a:bodyPr>
          <a:lstStyle/>
          <a:p>
            <a:pPr algn="l"/>
            <a:r>
              <a:rPr sz="12000" b="1">
                <a:solidFill>
                  <a:srgbClr val="C8A24C"/>
                </a:solidFill>
                <a:latin typeface="Montserrat"/>
              </a:rPr>
              <a:t>04</a:t>
            </a:r>
          </a:p>
        </p:txBody>
      </p:sp>
      <p:sp>
        <p:nvSpPr>
          <p:cNvPr id="5" name="TextBox 4"/>
          <p:cNvSpPr txBox="1"/>
          <p:nvPr/>
        </p:nvSpPr>
        <p:spPr>
          <a:xfrm>
            <a:off x="365760" y="3566160"/>
            <a:ext cx="6400800" cy="914400"/>
          </a:xfrm>
          <a:prstGeom prst="rect">
            <a:avLst/>
          </a:prstGeom>
          <a:noFill/>
        </p:spPr>
        <p:txBody>
          <a:bodyPr wrap="square">
            <a:spAutoFit/>
          </a:bodyPr>
          <a:lstStyle/>
          <a:p>
            <a:pPr algn="r" rtl="1"/>
            <a:r>
              <a:rPr sz="4000" b="1">
                <a:solidFill>
                  <a:srgbClr val="FFFFFF"/>
                </a:solidFill>
                <a:latin typeface="Montserrat"/>
              </a:rPr>
              <a:t>خطة المراحل</a:t>
            </a:r>
          </a:p>
        </p:txBody>
      </p:sp>
      <p:sp>
        <p:nvSpPr>
          <p:cNvPr id="6" name="TextBox 5"/>
          <p:cNvSpPr txBox="1"/>
          <p:nvPr/>
        </p:nvSpPr>
        <p:spPr>
          <a:xfrm>
            <a:off x="365760" y="4480560"/>
            <a:ext cx="6400800" cy="548640"/>
          </a:xfrm>
          <a:prstGeom prst="rect">
            <a:avLst/>
          </a:prstGeom>
          <a:noFill/>
        </p:spPr>
        <p:txBody>
          <a:bodyPr wrap="square">
            <a:spAutoFit/>
          </a:bodyPr>
          <a:lstStyle/>
          <a:p>
            <a:pPr algn="r" rtl="1"/>
            <a:r>
              <a:rPr sz="1800" b="0">
                <a:solidFill>
                  <a:srgbClr val="AAAAAA"/>
                </a:solidFill>
                <a:latin typeface="Montserrat"/>
              </a:rPr>
              <a:t>من 60 شابًا إلى برنامج وطني</a:t>
            </a:r>
          </a:p>
        </p:txBody>
      </p:sp>
      <p:sp>
        <p:nvSpPr>
          <p:cNvPr id="7" name="Rectangle 6"/>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9" name="TextBox 8"/>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10543032"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37160"/>
            <a:ext cx="9902952" cy="274320"/>
          </a:xfrm>
          <a:prstGeom prst="rect">
            <a:avLst/>
          </a:prstGeom>
          <a:noFill/>
        </p:spPr>
        <p:txBody>
          <a:bodyPr wrap="square">
            <a:spAutoFit/>
          </a:bodyPr>
          <a:lstStyle/>
          <a:p>
            <a:pPr algn="r" rtl="1"/>
            <a:r>
              <a:rPr sz="1000" b="0">
                <a:solidFill>
                  <a:srgbClr val="C8A24C"/>
                </a:solidFill>
                <a:latin typeface="Montserrat"/>
              </a:rPr>
              <a:t>04 · خطة المراحل</a:t>
            </a:r>
          </a:p>
        </p:txBody>
      </p:sp>
      <p:sp>
        <p:nvSpPr>
          <p:cNvPr id="4" name="TextBox 3"/>
          <p:cNvSpPr txBox="1"/>
          <p:nvPr/>
        </p:nvSpPr>
        <p:spPr>
          <a:xfrm>
            <a:off x="457200" y="411480"/>
            <a:ext cx="9902952" cy="594360"/>
          </a:xfrm>
          <a:prstGeom prst="rect">
            <a:avLst/>
          </a:prstGeom>
          <a:noFill/>
        </p:spPr>
        <p:txBody>
          <a:bodyPr wrap="square">
            <a:spAutoFit/>
          </a:bodyPr>
          <a:lstStyle/>
          <a:p>
            <a:pPr algn="r" rtl="1"/>
            <a:r>
              <a:rPr sz="2600" b="1">
                <a:solidFill>
                  <a:srgbClr val="FFFFFF"/>
                </a:solidFill>
                <a:latin typeface="Montserrat"/>
              </a:rPr>
              <a:t>مسار التوسع المتدرج</a:t>
            </a:r>
          </a:p>
        </p:txBody>
      </p:sp>
      <p:sp>
        <p:nvSpPr>
          <p:cNvPr id="5" name="Rectangle 4"/>
          <p:cNvSpPr/>
          <p:nvPr/>
        </p:nvSpPr>
        <p:spPr>
          <a:xfrm>
            <a:off x="1462582" y="105156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476488" y="1234440"/>
            <a:ext cx="3209544" cy="4937760"/>
          </a:xfrm>
          <a:prstGeom prst="rect">
            <a:avLst/>
          </a:prstGeom>
          <a:solidFill>
            <a:srgbClr val="201A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476488" y="1234440"/>
            <a:ext cx="3209544" cy="54864"/>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371600"/>
            <a:ext cx="731520" cy="594360"/>
          </a:xfrm>
          <a:prstGeom prst="rect">
            <a:avLst/>
          </a:prstGeom>
          <a:noFill/>
        </p:spPr>
        <p:txBody>
          <a:bodyPr wrap="square">
            <a:spAutoFit/>
          </a:bodyPr>
          <a:lstStyle/>
          <a:p>
            <a:pPr algn="r"/>
            <a:r>
              <a:rPr sz="2800" b="1">
                <a:solidFill>
                  <a:srgbClr val="C8A24C"/>
                </a:solidFill>
                <a:latin typeface="Montserrat"/>
              </a:rPr>
              <a:t>01</a:t>
            </a:r>
          </a:p>
        </p:txBody>
      </p:sp>
      <p:sp>
        <p:nvSpPr>
          <p:cNvPr id="9" name="TextBox 8"/>
          <p:cNvSpPr txBox="1"/>
          <p:nvPr/>
        </p:nvSpPr>
        <p:spPr>
          <a:xfrm>
            <a:off x="8567928" y="1965960"/>
            <a:ext cx="3026664" cy="457200"/>
          </a:xfrm>
          <a:prstGeom prst="rect">
            <a:avLst/>
          </a:prstGeom>
          <a:noFill/>
        </p:spPr>
        <p:txBody>
          <a:bodyPr wrap="square">
            <a:spAutoFit/>
          </a:bodyPr>
          <a:lstStyle/>
          <a:p>
            <a:pPr algn="r" rtl="1"/>
            <a:r>
              <a:rPr sz="1400" b="1">
                <a:solidFill>
                  <a:srgbClr val="FFFFFF"/>
                </a:solidFill>
                <a:latin typeface="Montserrat"/>
              </a:rPr>
              <a:t>المرحلة التجريبية</a:t>
            </a:r>
          </a:p>
        </p:txBody>
      </p:sp>
      <p:sp>
        <p:nvSpPr>
          <p:cNvPr id="10" name="TextBox 9"/>
          <p:cNvSpPr txBox="1"/>
          <p:nvPr/>
        </p:nvSpPr>
        <p:spPr>
          <a:xfrm>
            <a:off x="8567928" y="2423160"/>
            <a:ext cx="3026664" cy="320040"/>
          </a:xfrm>
          <a:prstGeom prst="rect">
            <a:avLst/>
          </a:prstGeom>
          <a:noFill/>
        </p:spPr>
        <p:txBody>
          <a:bodyPr wrap="square">
            <a:spAutoFit/>
          </a:bodyPr>
          <a:lstStyle/>
          <a:p>
            <a:pPr algn="r" rtl="1"/>
            <a:r>
              <a:rPr sz="1000" b="0">
                <a:solidFill>
                  <a:srgbClr val="C8A24C"/>
                </a:solidFill>
                <a:latin typeface="Montserrat"/>
              </a:rPr>
              <a:t>أشهر 1–10</a:t>
            </a:r>
          </a:p>
        </p:txBody>
      </p:sp>
      <p:sp>
        <p:nvSpPr>
          <p:cNvPr id="11" name="TextBox 10"/>
          <p:cNvSpPr txBox="1"/>
          <p:nvPr/>
        </p:nvSpPr>
        <p:spPr>
          <a:xfrm>
            <a:off x="8567928" y="2743200"/>
            <a:ext cx="3026664" cy="457200"/>
          </a:xfrm>
          <a:prstGeom prst="rect">
            <a:avLst/>
          </a:prstGeom>
          <a:noFill/>
        </p:spPr>
        <p:txBody>
          <a:bodyPr wrap="square">
            <a:spAutoFit/>
          </a:bodyPr>
          <a:lstStyle/>
          <a:p>
            <a:pPr algn="r" rtl="1"/>
            <a:r>
              <a:rPr sz="2000" b="1">
                <a:solidFill>
                  <a:srgbClr val="A4232A"/>
                </a:solidFill>
                <a:latin typeface="Montserrat"/>
              </a:rPr>
              <a:t>60 شابًا</a:t>
            </a:r>
          </a:p>
        </p:txBody>
      </p:sp>
      <p:sp>
        <p:nvSpPr>
          <p:cNvPr id="12" name="TextBox 11"/>
          <p:cNvSpPr txBox="1"/>
          <p:nvPr/>
        </p:nvSpPr>
        <p:spPr>
          <a:xfrm>
            <a:off x="8567928" y="3246120"/>
            <a:ext cx="3026664" cy="2560320"/>
          </a:xfrm>
          <a:prstGeom prst="rect">
            <a:avLst/>
          </a:prstGeom>
          <a:noFill/>
        </p:spPr>
        <p:txBody>
          <a:bodyPr wrap="square">
            <a:spAutoFit/>
          </a:bodyPr>
          <a:lstStyle/>
          <a:p>
            <a:pPr algn="r" rtl="1"/>
            <a:r>
              <a:rPr sz="950" b="0">
                <a:solidFill>
                  <a:srgbClr val="CCCCCC"/>
                </a:solidFill>
                <a:latin typeface="Montserrat"/>
              </a:rPr>
              <a:t>◆  3 جامعات وجهة واحدة في سوق العمل
◆  تطوير المناهج مع 5 شركاء صناعيين
◆  قياس أثر شامل بعد 6 أشهر</a:t>
            </a:r>
          </a:p>
        </p:txBody>
      </p:sp>
      <p:sp>
        <p:nvSpPr>
          <p:cNvPr id="13" name="Rectangle 12"/>
          <p:cNvSpPr/>
          <p:nvPr/>
        </p:nvSpPr>
        <p:spPr>
          <a:xfrm>
            <a:off x="5175504" y="1234440"/>
            <a:ext cx="3209544" cy="4937760"/>
          </a:xfrm>
          <a:prstGeom prst="rect">
            <a:avLst/>
          </a:prstGeom>
          <a:solidFill>
            <a:srgbClr val="18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66944" y="1371600"/>
            <a:ext cx="731520" cy="594360"/>
          </a:xfrm>
          <a:prstGeom prst="rect">
            <a:avLst/>
          </a:prstGeom>
          <a:noFill/>
        </p:spPr>
        <p:txBody>
          <a:bodyPr wrap="square">
            <a:spAutoFit/>
          </a:bodyPr>
          <a:lstStyle/>
          <a:p>
            <a:pPr algn="r"/>
            <a:r>
              <a:rPr sz="2800" b="1">
                <a:solidFill>
                  <a:srgbClr val="555555"/>
                </a:solidFill>
                <a:latin typeface="Montserrat"/>
              </a:rPr>
              <a:t>02</a:t>
            </a:r>
          </a:p>
        </p:txBody>
      </p:sp>
      <p:sp>
        <p:nvSpPr>
          <p:cNvPr id="15" name="TextBox 14"/>
          <p:cNvSpPr txBox="1"/>
          <p:nvPr/>
        </p:nvSpPr>
        <p:spPr>
          <a:xfrm>
            <a:off x="5266944" y="1965960"/>
            <a:ext cx="3026664" cy="457200"/>
          </a:xfrm>
          <a:prstGeom prst="rect">
            <a:avLst/>
          </a:prstGeom>
          <a:noFill/>
        </p:spPr>
        <p:txBody>
          <a:bodyPr wrap="square">
            <a:spAutoFit/>
          </a:bodyPr>
          <a:lstStyle/>
          <a:p>
            <a:pPr algn="r" rtl="1"/>
            <a:r>
              <a:rPr sz="1400" b="1">
                <a:solidFill>
                  <a:srgbClr val="FFFFFF"/>
                </a:solidFill>
                <a:latin typeface="Montserrat"/>
              </a:rPr>
              <a:t>مرحلة التوسع</a:t>
            </a:r>
          </a:p>
        </p:txBody>
      </p:sp>
      <p:sp>
        <p:nvSpPr>
          <p:cNvPr id="16" name="TextBox 15"/>
          <p:cNvSpPr txBox="1"/>
          <p:nvPr/>
        </p:nvSpPr>
        <p:spPr>
          <a:xfrm>
            <a:off x="5266944" y="2423160"/>
            <a:ext cx="3026664" cy="320040"/>
          </a:xfrm>
          <a:prstGeom prst="rect">
            <a:avLst/>
          </a:prstGeom>
          <a:noFill/>
        </p:spPr>
        <p:txBody>
          <a:bodyPr wrap="square">
            <a:spAutoFit/>
          </a:bodyPr>
          <a:lstStyle/>
          <a:p>
            <a:pPr algn="r" rtl="1"/>
            <a:r>
              <a:rPr sz="1000" b="0">
                <a:solidFill>
                  <a:srgbClr val="C8A24C"/>
                </a:solidFill>
                <a:latin typeface="Montserrat"/>
              </a:rPr>
              <a:t>أشهر 11–21</a:t>
            </a:r>
          </a:p>
        </p:txBody>
      </p:sp>
      <p:sp>
        <p:nvSpPr>
          <p:cNvPr id="17" name="TextBox 16"/>
          <p:cNvSpPr txBox="1"/>
          <p:nvPr/>
        </p:nvSpPr>
        <p:spPr>
          <a:xfrm>
            <a:off x="5266944" y="2743200"/>
            <a:ext cx="3026664" cy="457200"/>
          </a:xfrm>
          <a:prstGeom prst="rect">
            <a:avLst/>
          </a:prstGeom>
          <a:noFill/>
        </p:spPr>
        <p:txBody>
          <a:bodyPr wrap="square">
            <a:spAutoFit/>
          </a:bodyPr>
          <a:lstStyle/>
          <a:p>
            <a:pPr algn="r" rtl="1"/>
            <a:r>
              <a:rPr sz="2000" b="1">
                <a:solidFill>
                  <a:srgbClr val="FFFFFF"/>
                </a:solidFill>
                <a:latin typeface="Montserrat"/>
              </a:rPr>
              <a:t>500 شاب</a:t>
            </a:r>
          </a:p>
        </p:txBody>
      </p:sp>
      <p:sp>
        <p:nvSpPr>
          <p:cNvPr id="18" name="TextBox 17"/>
          <p:cNvSpPr txBox="1"/>
          <p:nvPr/>
        </p:nvSpPr>
        <p:spPr>
          <a:xfrm>
            <a:off x="5266944" y="3246120"/>
            <a:ext cx="3026664" cy="2560320"/>
          </a:xfrm>
          <a:prstGeom prst="rect">
            <a:avLst/>
          </a:prstGeom>
          <a:noFill/>
        </p:spPr>
        <p:txBody>
          <a:bodyPr wrap="square">
            <a:spAutoFit/>
          </a:bodyPr>
          <a:lstStyle/>
          <a:p>
            <a:pPr algn="r" rtl="1"/>
            <a:r>
              <a:rPr sz="950" b="0">
                <a:solidFill>
                  <a:srgbClr val="CCCCCC"/>
                </a:solidFill>
                <a:latin typeface="Montserrat"/>
              </a:rPr>
              <a:t>◆  10 جامعات — 5 محافظات
◆  إدراج التدريب ضمن المنهج الرسمي
◆  مركز توثيق وطني للبيانات</a:t>
            </a:r>
          </a:p>
        </p:txBody>
      </p:sp>
      <p:sp>
        <p:nvSpPr>
          <p:cNvPr id="19" name="Rectangle 18"/>
          <p:cNvSpPr/>
          <p:nvPr/>
        </p:nvSpPr>
        <p:spPr>
          <a:xfrm>
            <a:off x="1874520" y="1234440"/>
            <a:ext cx="3209544" cy="4937760"/>
          </a:xfrm>
          <a:prstGeom prst="rect">
            <a:avLst/>
          </a:prstGeom>
          <a:solidFill>
            <a:srgbClr val="18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65960" y="1371600"/>
            <a:ext cx="731520" cy="594360"/>
          </a:xfrm>
          <a:prstGeom prst="rect">
            <a:avLst/>
          </a:prstGeom>
          <a:noFill/>
        </p:spPr>
        <p:txBody>
          <a:bodyPr wrap="square">
            <a:spAutoFit/>
          </a:bodyPr>
          <a:lstStyle/>
          <a:p>
            <a:pPr algn="r"/>
            <a:r>
              <a:rPr sz="2800" b="1">
                <a:solidFill>
                  <a:srgbClr val="555555"/>
                </a:solidFill>
                <a:latin typeface="Montserrat"/>
              </a:rPr>
              <a:t>03</a:t>
            </a:r>
          </a:p>
        </p:txBody>
      </p:sp>
      <p:sp>
        <p:nvSpPr>
          <p:cNvPr id="21" name="TextBox 20"/>
          <p:cNvSpPr txBox="1"/>
          <p:nvPr/>
        </p:nvSpPr>
        <p:spPr>
          <a:xfrm>
            <a:off x="1965960" y="1965960"/>
            <a:ext cx="3026664" cy="457200"/>
          </a:xfrm>
          <a:prstGeom prst="rect">
            <a:avLst/>
          </a:prstGeom>
          <a:noFill/>
        </p:spPr>
        <p:txBody>
          <a:bodyPr wrap="square">
            <a:spAutoFit/>
          </a:bodyPr>
          <a:lstStyle/>
          <a:p>
            <a:pPr algn="r" rtl="1"/>
            <a:r>
              <a:rPr sz="1400" b="1">
                <a:solidFill>
                  <a:srgbClr val="FFFFFF"/>
                </a:solidFill>
                <a:latin typeface="Montserrat"/>
              </a:rPr>
              <a:t>الانطلاق الوطني</a:t>
            </a:r>
          </a:p>
        </p:txBody>
      </p:sp>
      <p:sp>
        <p:nvSpPr>
          <p:cNvPr id="22" name="TextBox 21"/>
          <p:cNvSpPr txBox="1"/>
          <p:nvPr/>
        </p:nvSpPr>
        <p:spPr>
          <a:xfrm>
            <a:off x="1965960" y="2423160"/>
            <a:ext cx="3026664" cy="320040"/>
          </a:xfrm>
          <a:prstGeom prst="rect">
            <a:avLst/>
          </a:prstGeom>
          <a:noFill/>
        </p:spPr>
        <p:txBody>
          <a:bodyPr wrap="square">
            <a:spAutoFit/>
          </a:bodyPr>
          <a:lstStyle/>
          <a:p>
            <a:pPr algn="r" rtl="1"/>
            <a:r>
              <a:rPr sz="1000" b="0">
                <a:solidFill>
                  <a:srgbClr val="C8A24C"/>
                </a:solidFill>
                <a:latin typeface="Montserrat"/>
              </a:rPr>
              <a:t>سنة 3+</a:t>
            </a:r>
          </a:p>
        </p:txBody>
      </p:sp>
      <p:sp>
        <p:nvSpPr>
          <p:cNvPr id="23" name="TextBox 22"/>
          <p:cNvSpPr txBox="1"/>
          <p:nvPr/>
        </p:nvSpPr>
        <p:spPr>
          <a:xfrm>
            <a:off x="1965960" y="2743200"/>
            <a:ext cx="3026664" cy="457200"/>
          </a:xfrm>
          <a:prstGeom prst="rect">
            <a:avLst/>
          </a:prstGeom>
          <a:noFill/>
        </p:spPr>
        <p:txBody>
          <a:bodyPr wrap="square">
            <a:spAutoFit/>
          </a:bodyPr>
          <a:lstStyle/>
          <a:p>
            <a:pPr algn="r" rtl="1"/>
            <a:r>
              <a:rPr sz="2000" b="1">
                <a:solidFill>
                  <a:srgbClr val="FFFFFF"/>
                </a:solidFill>
                <a:latin typeface="Montserrat"/>
              </a:rPr>
              <a:t>5,000 شاب / سنة</a:t>
            </a:r>
          </a:p>
        </p:txBody>
      </p:sp>
      <p:sp>
        <p:nvSpPr>
          <p:cNvPr id="24" name="TextBox 23"/>
          <p:cNvSpPr txBox="1"/>
          <p:nvPr/>
        </p:nvSpPr>
        <p:spPr>
          <a:xfrm>
            <a:off x="1965960" y="3246120"/>
            <a:ext cx="3026664" cy="2560320"/>
          </a:xfrm>
          <a:prstGeom prst="rect">
            <a:avLst/>
          </a:prstGeom>
          <a:noFill/>
        </p:spPr>
        <p:txBody>
          <a:bodyPr wrap="square">
            <a:spAutoFit/>
          </a:bodyPr>
          <a:lstStyle/>
          <a:p>
            <a:pPr algn="r" rtl="1"/>
            <a:r>
              <a:rPr sz="950" b="0">
                <a:solidFill>
                  <a:srgbClr val="CCCCCC"/>
                </a:solidFill>
                <a:latin typeface="Montserrat"/>
              </a:rPr>
              <a:t>◆  50+ جامعة — تغطية وطنية
◆  شبكة توظيف تضم 200+ شركة
◆  نموذج ذاتي الاستدامة عبر رسوم التوظيف</a:t>
            </a:r>
          </a:p>
        </p:txBody>
      </p:sp>
      <p:sp>
        <p:nvSpPr>
          <p:cNvPr id="25" name="Rectangle 24"/>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27" name="TextBox 26"/>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91440"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097280"/>
            <a:ext cx="3657600" cy="365760"/>
          </a:xfrm>
          <a:prstGeom prst="rect">
            <a:avLst/>
          </a:prstGeom>
          <a:noFill/>
        </p:spPr>
        <p:txBody>
          <a:bodyPr wrap="square">
            <a:spAutoFit/>
          </a:bodyPr>
          <a:lstStyle/>
          <a:p>
            <a:pPr algn="l"/>
            <a:r>
              <a:rPr sz="1100" b="0">
                <a:solidFill>
                  <a:srgbClr val="C8A24C"/>
                </a:solidFill>
                <a:latin typeface="Montserrat"/>
              </a:rPr>
              <a:t>SECTION</a:t>
            </a:r>
          </a:p>
        </p:txBody>
      </p:sp>
      <p:sp>
        <p:nvSpPr>
          <p:cNvPr id="4" name="TextBox 3"/>
          <p:cNvSpPr txBox="1"/>
          <p:nvPr/>
        </p:nvSpPr>
        <p:spPr>
          <a:xfrm>
            <a:off x="365760" y="1463040"/>
            <a:ext cx="2560320" cy="2011680"/>
          </a:xfrm>
          <a:prstGeom prst="rect">
            <a:avLst/>
          </a:prstGeom>
          <a:noFill/>
        </p:spPr>
        <p:txBody>
          <a:bodyPr wrap="square">
            <a:spAutoFit/>
          </a:bodyPr>
          <a:lstStyle/>
          <a:p>
            <a:pPr algn="l"/>
            <a:r>
              <a:rPr sz="12000" b="1">
                <a:solidFill>
                  <a:srgbClr val="C8A24C"/>
                </a:solidFill>
                <a:latin typeface="Montserrat"/>
              </a:rPr>
              <a:t>05</a:t>
            </a:r>
          </a:p>
        </p:txBody>
      </p:sp>
      <p:sp>
        <p:nvSpPr>
          <p:cNvPr id="5" name="TextBox 4"/>
          <p:cNvSpPr txBox="1"/>
          <p:nvPr/>
        </p:nvSpPr>
        <p:spPr>
          <a:xfrm>
            <a:off x="365760" y="3566160"/>
            <a:ext cx="6400800" cy="914400"/>
          </a:xfrm>
          <a:prstGeom prst="rect">
            <a:avLst/>
          </a:prstGeom>
          <a:noFill/>
        </p:spPr>
        <p:txBody>
          <a:bodyPr wrap="square">
            <a:spAutoFit/>
          </a:bodyPr>
          <a:lstStyle/>
          <a:p>
            <a:pPr algn="r" rtl="1"/>
            <a:r>
              <a:rPr sz="4000" b="1">
                <a:solidFill>
                  <a:srgbClr val="FFFFFF"/>
                </a:solidFill>
                <a:latin typeface="Montserrat"/>
              </a:rPr>
              <a:t>المؤشرات والأثر</a:t>
            </a:r>
          </a:p>
        </p:txBody>
      </p:sp>
      <p:sp>
        <p:nvSpPr>
          <p:cNvPr id="6" name="TextBox 5"/>
          <p:cNvSpPr txBox="1"/>
          <p:nvPr/>
        </p:nvSpPr>
        <p:spPr>
          <a:xfrm>
            <a:off x="365760" y="4480560"/>
            <a:ext cx="6400800" cy="548640"/>
          </a:xfrm>
          <a:prstGeom prst="rect">
            <a:avLst/>
          </a:prstGeom>
          <a:noFill/>
        </p:spPr>
        <p:txBody>
          <a:bodyPr wrap="square">
            <a:spAutoFit/>
          </a:bodyPr>
          <a:lstStyle/>
          <a:p>
            <a:pPr algn="r" rtl="1"/>
            <a:r>
              <a:rPr sz="1800" b="0">
                <a:solidFill>
                  <a:srgbClr val="AAAAAA"/>
                </a:solidFill>
                <a:latin typeface="Montserrat"/>
              </a:rPr>
              <a:t>أرقام نقدمها ونتحمل مسؤوليتها</a:t>
            </a:r>
          </a:p>
        </p:txBody>
      </p:sp>
      <p:sp>
        <p:nvSpPr>
          <p:cNvPr id="7" name="Rectangle 6"/>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9" name="TextBox 8"/>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10543032"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37160"/>
            <a:ext cx="9902952" cy="274320"/>
          </a:xfrm>
          <a:prstGeom prst="rect">
            <a:avLst/>
          </a:prstGeom>
          <a:noFill/>
        </p:spPr>
        <p:txBody>
          <a:bodyPr wrap="square">
            <a:spAutoFit/>
          </a:bodyPr>
          <a:lstStyle/>
          <a:p>
            <a:pPr algn="r" rtl="1"/>
            <a:r>
              <a:rPr sz="1000" b="0">
                <a:solidFill>
                  <a:srgbClr val="C8A24C"/>
                </a:solidFill>
                <a:latin typeface="Montserrat"/>
              </a:rPr>
              <a:t>05 · المؤشرات والأثر</a:t>
            </a:r>
          </a:p>
        </p:txBody>
      </p:sp>
      <p:sp>
        <p:nvSpPr>
          <p:cNvPr id="4" name="TextBox 3"/>
          <p:cNvSpPr txBox="1"/>
          <p:nvPr/>
        </p:nvSpPr>
        <p:spPr>
          <a:xfrm>
            <a:off x="457200" y="411480"/>
            <a:ext cx="9902952" cy="594360"/>
          </a:xfrm>
          <a:prstGeom prst="rect">
            <a:avLst/>
          </a:prstGeom>
          <a:noFill/>
        </p:spPr>
        <p:txBody>
          <a:bodyPr wrap="square">
            <a:spAutoFit/>
          </a:bodyPr>
          <a:lstStyle/>
          <a:p>
            <a:pPr algn="r" rtl="1"/>
            <a:r>
              <a:rPr sz="2600" b="1">
                <a:solidFill>
                  <a:srgbClr val="FFFFFF"/>
                </a:solidFill>
                <a:latin typeface="Montserrat"/>
              </a:rPr>
              <a:t>التزاماتنا القابلة للقياس</a:t>
            </a:r>
          </a:p>
        </p:txBody>
      </p:sp>
      <p:sp>
        <p:nvSpPr>
          <p:cNvPr id="5" name="Rectangle 4"/>
          <p:cNvSpPr/>
          <p:nvPr/>
        </p:nvSpPr>
        <p:spPr>
          <a:xfrm>
            <a:off x="1462582" y="105156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301734" y="1234440"/>
            <a:ext cx="2384298" cy="21031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301734" y="1234440"/>
            <a:ext cx="2384298" cy="4572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47454" y="1371600"/>
            <a:ext cx="2292858" cy="914400"/>
          </a:xfrm>
          <a:prstGeom prst="rect">
            <a:avLst/>
          </a:prstGeom>
          <a:noFill/>
        </p:spPr>
        <p:txBody>
          <a:bodyPr wrap="square">
            <a:spAutoFit/>
          </a:bodyPr>
          <a:lstStyle/>
          <a:p>
            <a:pPr algn="ctr"/>
            <a:r>
              <a:rPr sz="3800" b="1">
                <a:solidFill>
                  <a:srgbClr val="C8A24C"/>
                </a:solidFill>
                <a:latin typeface="Montserrat"/>
              </a:rPr>
              <a:t>100%</a:t>
            </a:r>
          </a:p>
        </p:txBody>
      </p:sp>
      <p:sp>
        <p:nvSpPr>
          <p:cNvPr id="9" name="TextBox 8"/>
          <p:cNvSpPr txBox="1"/>
          <p:nvPr/>
        </p:nvSpPr>
        <p:spPr>
          <a:xfrm>
            <a:off x="9347454" y="2286000"/>
            <a:ext cx="2292858" cy="457200"/>
          </a:xfrm>
          <a:prstGeom prst="rect">
            <a:avLst/>
          </a:prstGeom>
          <a:noFill/>
        </p:spPr>
        <p:txBody>
          <a:bodyPr wrap="square">
            <a:spAutoFit/>
          </a:bodyPr>
          <a:lstStyle/>
          <a:p>
            <a:pPr algn="r" rtl="1"/>
            <a:r>
              <a:rPr sz="1100" b="1">
                <a:solidFill>
                  <a:srgbClr val="FFFFFF"/>
                </a:solidFill>
                <a:latin typeface="Montserrat"/>
              </a:rPr>
              <a:t>نسبة التوظيف الفعال</a:t>
            </a:r>
          </a:p>
        </p:txBody>
      </p:sp>
      <p:sp>
        <p:nvSpPr>
          <p:cNvPr id="10" name="TextBox 9"/>
          <p:cNvSpPr txBox="1"/>
          <p:nvPr/>
        </p:nvSpPr>
        <p:spPr>
          <a:xfrm>
            <a:off x="9347454" y="2743200"/>
            <a:ext cx="2292858" cy="502920"/>
          </a:xfrm>
          <a:prstGeom prst="rect">
            <a:avLst/>
          </a:prstGeom>
          <a:noFill/>
        </p:spPr>
        <p:txBody>
          <a:bodyPr wrap="square">
            <a:spAutoFit/>
          </a:bodyPr>
          <a:lstStyle/>
          <a:p>
            <a:pPr algn="r" rtl="1"/>
            <a:r>
              <a:rPr sz="900" b="0">
                <a:solidFill>
                  <a:srgbClr val="AAAAAA"/>
                </a:solidFill>
                <a:latin typeface="Montserrat"/>
              </a:rPr>
              <a:t>خلال 90 يوماً من إتمام التدريب</a:t>
            </a:r>
          </a:p>
        </p:txBody>
      </p:sp>
      <p:sp>
        <p:nvSpPr>
          <p:cNvPr id="11" name="Rectangle 10"/>
          <p:cNvSpPr/>
          <p:nvPr/>
        </p:nvSpPr>
        <p:spPr>
          <a:xfrm>
            <a:off x="6825996" y="1234440"/>
            <a:ext cx="2384298" cy="21031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25996" y="1234440"/>
            <a:ext cx="2384298" cy="4572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1716" y="1371600"/>
            <a:ext cx="2292858" cy="914400"/>
          </a:xfrm>
          <a:prstGeom prst="rect">
            <a:avLst/>
          </a:prstGeom>
          <a:noFill/>
        </p:spPr>
        <p:txBody>
          <a:bodyPr wrap="square">
            <a:spAutoFit/>
          </a:bodyPr>
          <a:lstStyle/>
          <a:p>
            <a:pPr algn="ctr"/>
            <a:r>
              <a:rPr sz="3800" b="1">
                <a:solidFill>
                  <a:srgbClr val="C8A24C"/>
                </a:solidFill>
                <a:latin typeface="Montserrat"/>
              </a:rPr>
              <a:t>100%</a:t>
            </a:r>
          </a:p>
        </p:txBody>
      </p:sp>
      <p:sp>
        <p:nvSpPr>
          <p:cNvPr id="14" name="TextBox 13"/>
          <p:cNvSpPr txBox="1"/>
          <p:nvPr/>
        </p:nvSpPr>
        <p:spPr>
          <a:xfrm>
            <a:off x="6871716" y="2286000"/>
            <a:ext cx="2292858" cy="457200"/>
          </a:xfrm>
          <a:prstGeom prst="rect">
            <a:avLst/>
          </a:prstGeom>
          <a:noFill/>
        </p:spPr>
        <p:txBody>
          <a:bodyPr wrap="square">
            <a:spAutoFit/>
          </a:bodyPr>
          <a:lstStyle/>
          <a:p>
            <a:pPr algn="r" rtl="1"/>
            <a:r>
              <a:rPr sz="1100" b="1">
                <a:solidFill>
                  <a:srgbClr val="FFFFFF"/>
                </a:solidFill>
                <a:latin typeface="Montserrat"/>
              </a:rPr>
              <a:t>إتمام البرنامج</a:t>
            </a:r>
          </a:p>
        </p:txBody>
      </p:sp>
      <p:sp>
        <p:nvSpPr>
          <p:cNvPr id="15" name="TextBox 14"/>
          <p:cNvSpPr txBox="1"/>
          <p:nvPr/>
        </p:nvSpPr>
        <p:spPr>
          <a:xfrm>
            <a:off x="6871716" y="2743200"/>
            <a:ext cx="2292858" cy="502920"/>
          </a:xfrm>
          <a:prstGeom prst="rect">
            <a:avLst/>
          </a:prstGeom>
          <a:noFill/>
        </p:spPr>
        <p:txBody>
          <a:bodyPr wrap="square">
            <a:spAutoFit/>
          </a:bodyPr>
          <a:lstStyle/>
          <a:p>
            <a:pPr algn="r" rtl="1"/>
            <a:r>
              <a:rPr sz="900" b="0">
                <a:solidFill>
                  <a:srgbClr val="AAAAAA"/>
                </a:solidFill>
                <a:latin typeface="Montserrat"/>
              </a:rPr>
              <a:t>معدل استكمال المتدربين للبرنامج</a:t>
            </a:r>
          </a:p>
        </p:txBody>
      </p:sp>
      <p:sp>
        <p:nvSpPr>
          <p:cNvPr id="16" name="Rectangle 15"/>
          <p:cNvSpPr/>
          <p:nvPr/>
        </p:nvSpPr>
        <p:spPr>
          <a:xfrm>
            <a:off x="4350258" y="1234440"/>
            <a:ext cx="2384298" cy="21031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50258" y="1234440"/>
            <a:ext cx="2384298" cy="4572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95978" y="1371600"/>
            <a:ext cx="2292858" cy="914400"/>
          </a:xfrm>
          <a:prstGeom prst="rect">
            <a:avLst/>
          </a:prstGeom>
          <a:noFill/>
        </p:spPr>
        <p:txBody>
          <a:bodyPr wrap="square">
            <a:spAutoFit/>
          </a:bodyPr>
          <a:lstStyle/>
          <a:p>
            <a:pPr algn="ctr"/>
            <a:r>
              <a:rPr sz="3800" b="1">
                <a:solidFill>
                  <a:srgbClr val="C8A24C"/>
                </a:solidFill>
                <a:latin typeface="Montserrat"/>
              </a:rPr>
              <a:t>96%+</a:t>
            </a:r>
          </a:p>
        </p:txBody>
      </p:sp>
      <p:sp>
        <p:nvSpPr>
          <p:cNvPr id="19" name="TextBox 18"/>
          <p:cNvSpPr txBox="1"/>
          <p:nvPr/>
        </p:nvSpPr>
        <p:spPr>
          <a:xfrm>
            <a:off x="4395978" y="2286000"/>
            <a:ext cx="2292858" cy="457200"/>
          </a:xfrm>
          <a:prstGeom prst="rect">
            <a:avLst/>
          </a:prstGeom>
          <a:noFill/>
        </p:spPr>
        <p:txBody>
          <a:bodyPr wrap="square">
            <a:spAutoFit/>
          </a:bodyPr>
          <a:lstStyle/>
          <a:p>
            <a:pPr algn="r" rtl="1"/>
            <a:r>
              <a:rPr sz="1100" b="1">
                <a:solidFill>
                  <a:srgbClr val="FFFFFF"/>
                </a:solidFill>
                <a:latin typeface="Montserrat"/>
              </a:rPr>
              <a:t>رضا أصحاب العمل</a:t>
            </a:r>
          </a:p>
        </p:txBody>
      </p:sp>
      <p:sp>
        <p:nvSpPr>
          <p:cNvPr id="20" name="TextBox 19"/>
          <p:cNvSpPr txBox="1"/>
          <p:nvPr/>
        </p:nvSpPr>
        <p:spPr>
          <a:xfrm>
            <a:off x="4395978" y="2743200"/>
            <a:ext cx="2292858" cy="502920"/>
          </a:xfrm>
          <a:prstGeom prst="rect">
            <a:avLst/>
          </a:prstGeom>
          <a:noFill/>
        </p:spPr>
        <p:txBody>
          <a:bodyPr wrap="square">
            <a:spAutoFit/>
          </a:bodyPr>
          <a:lstStyle/>
          <a:p>
            <a:pPr algn="r" rtl="1"/>
            <a:r>
              <a:rPr sz="900" b="0">
                <a:solidFill>
                  <a:srgbClr val="AAAAAA"/>
                </a:solidFill>
                <a:latin typeface="Montserrat"/>
              </a:rPr>
              <a:t>قياس بعد 6 أشهر من التوظيف</a:t>
            </a:r>
          </a:p>
        </p:txBody>
      </p:sp>
      <p:sp>
        <p:nvSpPr>
          <p:cNvPr id="21" name="Rectangle 20"/>
          <p:cNvSpPr/>
          <p:nvPr/>
        </p:nvSpPr>
        <p:spPr>
          <a:xfrm>
            <a:off x="1874520" y="1234440"/>
            <a:ext cx="2384298" cy="21031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874520" y="1234440"/>
            <a:ext cx="2384298" cy="4572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20240" y="1371600"/>
            <a:ext cx="2292858" cy="914400"/>
          </a:xfrm>
          <a:prstGeom prst="rect">
            <a:avLst/>
          </a:prstGeom>
          <a:noFill/>
        </p:spPr>
        <p:txBody>
          <a:bodyPr wrap="square">
            <a:spAutoFit/>
          </a:bodyPr>
          <a:lstStyle/>
          <a:p>
            <a:pPr algn="ctr"/>
            <a:r>
              <a:rPr sz="3800" b="1">
                <a:solidFill>
                  <a:srgbClr val="C8A24C"/>
                </a:solidFill>
                <a:latin typeface="Montserrat"/>
              </a:rPr>
              <a:t>+10%</a:t>
            </a:r>
          </a:p>
        </p:txBody>
      </p:sp>
      <p:sp>
        <p:nvSpPr>
          <p:cNvPr id="24" name="TextBox 23"/>
          <p:cNvSpPr txBox="1"/>
          <p:nvPr/>
        </p:nvSpPr>
        <p:spPr>
          <a:xfrm>
            <a:off x="1920240" y="2286000"/>
            <a:ext cx="2292858" cy="457200"/>
          </a:xfrm>
          <a:prstGeom prst="rect">
            <a:avLst/>
          </a:prstGeom>
          <a:noFill/>
        </p:spPr>
        <p:txBody>
          <a:bodyPr wrap="square">
            <a:spAutoFit/>
          </a:bodyPr>
          <a:lstStyle/>
          <a:p>
            <a:pPr algn="r" rtl="1"/>
            <a:r>
              <a:rPr sz="1100" b="1">
                <a:solidFill>
                  <a:srgbClr val="FFFFFF"/>
                </a:solidFill>
                <a:latin typeface="Montserrat"/>
              </a:rPr>
              <a:t>نمو الرواتب</a:t>
            </a:r>
          </a:p>
        </p:txBody>
      </p:sp>
      <p:sp>
        <p:nvSpPr>
          <p:cNvPr id="25" name="TextBox 24"/>
          <p:cNvSpPr txBox="1"/>
          <p:nvPr/>
        </p:nvSpPr>
        <p:spPr>
          <a:xfrm>
            <a:off x="1920240" y="2743200"/>
            <a:ext cx="2292858" cy="502920"/>
          </a:xfrm>
          <a:prstGeom prst="rect">
            <a:avLst/>
          </a:prstGeom>
          <a:noFill/>
        </p:spPr>
        <p:txBody>
          <a:bodyPr wrap="square">
            <a:spAutoFit/>
          </a:bodyPr>
          <a:lstStyle/>
          <a:p>
            <a:pPr algn="r" rtl="1"/>
            <a:r>
              <a:rPr sz="900" b="0">
                <a:solidFill>
                  <a:srgbClr val="AAAAAA"/>
                </a:solidFill>
                <a:latin typeface="Montserrat"/>
              </a:rPr>
              <a:t>فوق متوسط السوق لنفس التخصص</a:t>
            </a:r>
          </a:p>
        </p:txBody>
      </p:sp>
      <p:sp>
        <p:nvSpPr>
          <p:cNvPr id="26" name="Rectangle 25"/>
          <p:cNvSpPr/>
          <p:nvPr/>
        </p:nvSpPr>
        <p:spPr>
          <a:xfrm>
            <a:off x="365760" y="3566160"/>
            <a:ext cx="10085832" cy="2011680"/>
          </a:xfrm>
          <a:prstGeom prst="rect">
            <a:avLst/>
          </a:prstGeom>
          <a:solidFill>
            <a:srgbClr val="1814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3611880"/>
            <a:ext cx="9811512" cy="365760"/>
          </a:xfrm>
          <a:prstGeom prst="rect">
            <a:avLst/>
          </a:prstGeom>
          <a:noFill/>
        </p:spPr>
        <p:txBody>
          <a:bodyPr wrap="square">
            <a:spAutoFit/>
          </a:bodyPr>
          <a:lstStyle/>
          <a:p>
            <a:pPr algn="r" rtl="1"/>
            <a:r>
              <a:rPr sz="1200" b="1">
                <a:solidFill>
                  <a:srgbClr val="C8A24C"/>
                </a:solidFill>
                <a:latin typeface="Montserrat"/>
              </a:rPr>
              <a:t>الالتزامات النوعية</a:t>
            </a:r>
          </a:p>
        </p:txBody>
      </p:sp>
      <p:sp>
        <p:nvSpPr>
          <p:cNvPr id="28" name="TextBox 27"/>
          <p:cNvSpPr txBox="1"/>
          <p:nvPr/>
        </p:nvSpPr>
        <p:spPr>
          <a:xfrm>
            <a:off x="502920" y="4005072"/>
            <a:ext cx="9811512" cy="1463040"/>
          </a:xfrm>
          <a:prstGeom prst="rect">
            <a:avLst/>
          </a:prstGeom>
          <a:noFill/>
        </p:spPr>
        <p:txBody>
          <a:bodyPr wrap="square">
            <a:spAutoFit/>
          </a:bodyPr>
          <a:lstStyle/>
          <a:p>
            <a:pPr algn="r" rtl="1"/>
            <a:r>
              <a:rPr sz="1000" b="0">
                <a:solidFill>
                  <a:srgbClr val="FFFFFF"/>
                </a:solidFill>
                <a:latin typeface="Montserrat"/>
              </a:rPr>
              <a:t>◆  توفير لوحة بيانات حية للوزارة تُحدَّث شهرياً
◆  تقارير ربع سنوية مستقلة من جهة تقييم خارجية
◆  شراكة بحثية مع 3 جامعات لنشر نتائج النموذج دولياً
◆  آلية استرداد جزئي في حال عدم تحقيق مؤشر التوظيف</a:t>
            </a:r>
          </a:p>
        </p:txBody>
      </p:sp>
      <p:sp>
        <p:nvSpPr>
          <p:cNvPr id="29" name="Rectangle 28"/>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31" name="TextBox 30"/>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91440"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TextBox 2"/>
          <p:cNvSpPr txBox="1"/>
          <p:nvPr/>
        </p:nvSpPr>
        <p:spPr>
          <a:xfrm>
            <a:off x="457200" y="1097280"/>
            <a:ext cx="3657600" cy="365760"/>
          </a:xfrm>
          <a:prstGeom prst="rect">
            <a:avLst/>
          </a:prstGeom>
          <a:noFill/>
        </p:spPr>
        <p:txBody>
          <a:bodyPr wrap="square">
            <a:spAutoFit/>
          </a:bodyPr>
          <a:lstStyle/>
          <a:p>
            <a:pPr algn="l"/>
            <a:r>
              <a:rPr sz="1100" b="0">
                <a:solidFill>
                  <a:srgbClr val="C8A24C"/>
                </a:solidFill>
                <a:latin typeface="Montserrat"/>
              </a:rPr>
              <a:t>SECTION</a:t>
            </a:r>
          </a:p>
        </p:txBody>
      </p:sp>
      <p:sp>
        <p:nvSpPr>
          <p:cNvPr id="4" name="TextBox 3"/>
          <p:cNvSpPr txBox="1"/>
          <p:nvPr/>
        </p:nvSpPr>
        <p:spPr>
          <a:xfrm>
            <a:off x="365760" y="1463040"/>
            <a:ext cx="2560320" cy="2011680"/>
          </a:xfrm>
          <a:prstGeom prst="rect">
            <a:avLst/>
          </a:prstGeom>
          <a:noFill/>
        </p:spPr>
        <p:txBody>
          <a:bodyPr wrap="square">
            <a:spAutoFit/>
          </a:bodyPr>
          <a:lstStyle/>
          <a:p>
            <a:pPr algn="l"/>
            <a:r>
              <a:rPr sz="12000" b="1">
                <a:solidFill>
                  <a:srgbClr val="C8A24C"/>
                </a:solidFill>
                <a:latin typeface="Montserrat"/>
              </a:rPr>
              <a:t>06</a:t>
            </a:r>
          </a:p>
        </p:txBody>
      </p:sp>
      <p:sp>
        <p:nvSpPr>
          <p:cNvPr id="5" name="TextBox 4"/>
          <p:cNvSpPr txBox="1"/>
          <p:nvPr/>
        </p:nvSpPr>
        <p:spPr>
          <a:xfrm>
            <a:off x="365760" y="3566160"/>
            <a:ext cx="6400800" cy="914400"/>
          </a:xfrm>
          <a:prstGeom prst="rect">
            <a:avLst/>
          </a:prstGeom>
          <a:noFill/>
        </p:spPr>
        <p:txBody>
          <a:bodyPr wrap="square">
            <a:spAutoFit/>
          </a:bodyPr>
          <a:lstStyle/>
          <a:p>
            <a:pPr algn="r" rtl="1"/>
            <a:r>
              <a:rPr sz="4000" b="1">
                <a:solidFill>
                  <a:srgbClr val="FFFFFF"/>
                </a:solidFill>
                <a:latin typeface="Montserrat"/>
              </a:rPr>
              <a:t>التوافق والطلب</a:t>
            </a:r>
          </a:p>
        </p:txBody>
      </p:sp>
      <p:sp>
        <p:nvSpPr>
          <p:cNvPr id="6" name="TextBox 5"/>
          <p:cNvSpPr txBox="1"/>
          <p:nvPr/>
        </p:nvSpPr>
        <p:spPr>
          <a:xfrm>
            <a:off x="365760" y="4480560"/>
            <a:ext cx="6400800" cy="548640"/>
          </a:xfrm>
          <a:prstGeom prst="rect">
            <a:avLst/>
          </a:prstGeom>
          <a:noFill/>
        </p:spPr>
        <p:txBody>
          <a:bodyPr wrap="square">
            <a:spAutoFit/>
          </a:bodyPr>
          <a:lstStyle/>
          <a:p>
            <a:pPr algn="r" rtl="1"/>
            <a:r>
              <a:rPr sz="1800" b="0">
                <a:solidFill>
                  <a:srgbClr val="AAAAAA"/>
                </a:solidFill>
                <a:latin typeface="Montserrat"/>
              </a:rPr>
              <a:t>تحالف محكم مع أولويات الوزارة</a:t>
            </a:r>
          </a:p>
        </p:txBody>
      </p:sp>
      <p:sp>
        <p:nvSpPr>
          <p:cNvPr id="7" name="Rectangle 6"/>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9" name="TextBox 8"/>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274320"/>
          </a:xfrm>
          <a:prstGeom prst="rect">
            <a:avLst/>
          </a:prstGeom>
          <a:noFill/>
        </p:spPr>
        <p:txBody>
          <a:bodyPr wrap="square">
            <a:spAutoFit/>
          </a:bodyPr>
          <a:lstStyle/>
          <a:p>
            <a:pPr algn="r" rtl="1"/>
            <a:r>
              <a:rPr sz="1000" b="0">
                <a:solidFill>
                  <a:srgbClr val="C8A24C"/>
                </a:solidFill>
                <a:latin typeface="Montserrat"/>
              </a:rPr>
              <a:t>06 · التوافق والطلب</a:t>
            </a:r>
          </a:p>
        </p:txBody>
      </p:sp>
      <p:sp>
        <p:nvSpPr>
          <p:cNvPr id="4" name="TextBox 3"/>
          <p:cNvSpPr txBox="1"/>
          <p:nvPr/>
        </p:nvSpPr>
        <p:spPr>
          <a:xfrm>
            <a:off x="457200" y="411480"/>
            <a:ext cx="11274552" cy="548640"/>
          </a:xfrm>
          <a:prstGeom prst="rect">
            <a:avLst/>
          </a:prstGeom>
          <a:noFill/>
        </p:spPr>
        <p:txBody>
          <a:bodyPr wrap="square">
            <a:spAutoFit/>
          </a:bodyPr>
          <a:lstStyle/>
          <a:p>
            <a:pPr algn="r" rtl="1"/>
            <a:r>
              <a:rPr sz="2600" b="1">
                <a:solidFill>
                  <a:srgbClr val="0E0E0E"/>
                </a:solidFill>
                <a:latin typeface="Montserrat"/>
              </a:rPr>
              <a:t>لماذا هذا الوقت بالتحديد؟</a:t>
            </a:r>
          </a:p>
        </p:txBody>
      </p:sp>
      <p:sp>
        <p:nvSpPr>
          <p:cNvPr id="5" name="Rectangle 4"/>
          <p:cNvSpPr/>
          <p:nvPr/>
        </p:nvSpPr>
        <p:spPr>
          <a:xfrm>
            <a:off x="1462582" y="1005840"/>
            <a:ext cx="10360609" cy="2540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40196" y="1143000"/>
            <a:ext cx="5545836" cy="8229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31636" y="1188720"/>
            <a:ext cx="5408676" cy="320040"/>
          </a:xfrm>
          <a:prstGeom prst="rect">
            <a:avLst/>
          </a:prstGeom>
          <a:noFill/>
        </p:spPr>
        <p:txBody>
          <a:bodyPr wrap="square">
            <a:spAutoFit/>
          </a:bodyPr>
          <a:lstStyle/>
          <a:p>
            <a:pPr algn="r" rtl="1"/>
            <a:r>
              <a:rPr sz="1100" b="1">
                <a:solidFill>
                  <a:srgbClr val="0E0E0E"/>
                </a:solidFill>
                <a:latin typeface="Montserrat"/>
              </a:rPr>
              <a:t>وحدة التضامن الاجتماعي</a:t>
            </a:r>
          </a:p>
        </p:txBody>
      </p:sp>
      <p:sp>
        <p:nvSpPr>
          <p:cNvPr id="8" name="TextBox 7"/>
          <p:cNvSpPr txBox="1"/>
          <p:nvPr/>
        </p:nvSpPr>
        <p:spPr>
          <a:xfrm>
            <a:off x="6231636" y="1527048"/>
            <a:ext cx="5408676" cy="365760"/>
          </a:xfrm>
          <a:prstGeom prst="rect">
            <a:avLst/>
          </a:prstGeom>
          <a:noFill/>
        </p:spPr>
        <p:txBody>
          <a:bodyPr wrap="square">
            <a:spAutoFit/>
          </a:bodyPr>
          <a:lstStyle/>
          <a:p>
            <a:pPr algn="r" rtl="1"/>
            <a:r>
              <a:rPr sz="1000" b="0">
                <a:solidFill>
                  <a:srgbClr val="666050"/>
                </a:solidFill>
                <a:latin typeface="Montserrat"/>
              </a:rPr>
              <a:t>45+ جامعة مصرية — بنية تحتية جاهزة</a:t>
            </a:r>
          </a:p>
        </p:txBody>
      </p:sp>
      <p:sp>
        <p:nvSpPr>
          <p:cNvPr id="9" name="Rectangle 8"/>
          <p:cNvSpPr/>
          <p:nvPr/>
        </p:nvSpPr>
        <p:spPr>
          <a:xfrm>
            <a:off x="502920" y="1143000"/>
            <a:ext cx="5545836" cy="8229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188720"/>
            <a:ext cx="5408676" cy="320040"/>
          </a:xfrm>
          <a:prstGeom prst="rect">
            <a:avLst/>
          </a:prstGeom>
          <a:noFill/>
        </p:spPr>
        <p:txBody>
          <a:bodyPr wrap="square">
            <a:spAutoFit/>
          </a:bodyPr>
          <a:lstStyle/>
          <a:p>
            <a:pPr algn="r" rtl="1"/>
            <a:r>
              <a:rPr sz="1100" b="1">
                <a:solidFill>
                  <a:srgbClr val="0E0E0E"/>
                </a:solidFill>
                <a:latin typeface="Montserrat"/>
              </a:rPr>
              <a:t>الإطار التنظيمي للتشغيل ISCU 2025</a:t>
            </a:r>
          </a:p>
        </p:txBody>
      </p:sp>
      <p:sp>
        <p:nvSpPr>
          <p:cNvPr id="11" name="TextBox 10"/>
          <p:cNvSpPr txBox="1"/>
          <p:nvPr/>
        </p:nvSpPr>
        <p:spPr>
          <a:xfrm>
            <a:off x="594360" y="1527048"/>
            <a:ext cx="5408676" cy="365760"/>
          </a:xfrm>
          <a:prstGeom prst="rect">
            <a:avLst/>
          </a:prstGeom>
          <a:noFill/>
        </p:spPr>
        <p:txBody>
          <a:bodyPr wrap="square">
            <a:spAutoFit/>
          </a:bodyPr>
          <a:lstStyle/>
          <a:p>
            <a:pPr algn="r" rtl="1"/>
            <a:r>
              <a:rPr sz="1000" b="0">
                <a:solidFill>
                  <a:srgbClr val="666050"/>
                </a:solidFill>
                <a:latin typeface="Montserrat"/>
              </a:rPr>
              <a:t>يستلزم توثيق نتائج قابلة للقياس</a:t>
            </a:r>
          </a:p>
        </p:txBody>
      </p:sp>
      <p:sp>
        <p:nvSpPr>
          <p:cNvPr id="12" name="Rectangle 11"/>
          <p:cNvSpPr/>
          <p:nvPr/>
        </p:nvSpPr>
        <p:spPr>
          <a:xfrm>
            <a:off x="6140196" y="2057400"/>
            <a:ext cx="5545836" cy="8229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1636" y="2103120"/>
            <a:ext cx="5408676" cy="320040"/>
          </a:xfrm>
          <a:prstGeom prst="rect">
            <a:avLst/>
          </a:prstGeom>
          <a:noFill/>
        </p:spPr>
        <p:txBody>
          <a:bodyPr wrap="square">
            <a:spAutoFit/>
          </a:bodyPr>
          <a:lstStyle/>
          <a:p>
            <a:pPr algn="r" rtl="1"/>
            <a:r>
              <a:rPr sz="1100" b="1">
                <a:solidFill>
                  <a:srgbClr val="0E0E0E"/>
                </a:solidFill>
                <a:latin typeface="Montserrat"/>
              </a:rPr>
              <a:t>قمة START 2025</a:t>
            </a:r>
          </a:p>
        </p:txBody>
      </p:sp>
      <p:sp>
        <p:nvSpPr>
          <p:cNvPr id="14" name="TextBox 13"/>
          <p:cNvSpPr txBox="1"/>
          <p:nvPr/>
        </p:nvSpPr>
        <p:spPr>
          <a:xfrm>
            <a:off x="6231636" y="2441448"/>
            <a:ext cx="5408676" cy="365760"/>
          </a:xfrm>
          <a:prstGeom prst="rect">
            <a:avLst/>
          </a:prstGeom>
          <a:noFill/>
        </p:spPr>
        <p:txBody>
          <a:bodyPr wrap="square">
            <a:spAutoFit/>
          </a:bodyPr>
          <a:lstStyle/>
          <a:p>
            <a:pPr algn="r" rtl="1"/>
            <a:r>
              <a:rPr sz="1000" b="0">
                <a:solidFill>
                  <a:srgbClr val="666050"/>
                </a:solidFill>
                <a:latin typeface="Montserrat"/>
              </a:rPr>
              <a:t>الوزارة أعلنت دعم منظمات الشباب والتشغيل</a:t>
            </a:r>
          </a:p>
        </p:txBody>
      </p:sp>
      <p:sp>
        <p:nvSpPr>
          <p:cNvPr id="15" name="Rectangle 14"/>
          <p:cNvSpPr/>
          <p:nvPr/>
        </p:nvSpPr>
        <p:spPr>
          <a:xfrm>
            <a:off x="502920" y="2057400"/>
            <a:ext cx="5545836" cy="822960"/>
          </a:xfrm>
          <a:prstGeom prst="rect">
            <a:avLst/>
          </a:prstGeom>
          <a:solidFill>
            <a:srgbClr val="FFFFFF"/>
          </a:solidFill>
          <a:ln w="12700">
            <a:solidFill>
              <a:srgbClr val="D0C8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103120"/>
            <a:ext cx="5408676" cy="320040"/>
          </a:xfrm>
          <a:prstGeom prst="rect">
            <a:avLst/>
          </a:prstGeom>
          <a:noFill/>
        </p:spPr>
        <p:txBody>
          <a:bodyPr wrap="square">
            <a:spAutoFit/>
          </a:bodyPr>
          <a:lstStyle/>
          <a:p>
            <a:pPr algn="r" rtl="1"/>
            <a:r>
              <a:rPr sz="1100" b="1">
                <a:solidFill>
                  <a:srgbClr val="0E0E0E"/>
                </a:solidFill>
                <a:latin typeface="Montserrat"/>
              </a:rPr>
              <a:t>هدف مصر 2030</a:t>
            </a:r>
          </a:p>
        </p:txBody>
      </p:sp>
      <p:sp>
        <p:nvSpPr>
          <p:cNvPr id="17" name="TextBox 16"/>
          <p:cNvSpPr txBox="1"/>
          <p:nvPr/>
        </p:nvSpPr>
        <p:spPr>
          <a:xfrm>
            <a:off x="594360" y="2441448"/>
            <a:ext cx="5408676" cy="365760"/>
          </a:xfrm>
          <a:prstGeom prst="rect">
            <a:avLst/>
          </a:prstGeom>
          <a:noFill/>
        </p:spPr>
        <p:txBody>
          <a:bodyPr wrap="square">
            <a:spAutoFit/>
          </a:bodyPr>
          <a:lstStyle/>
          <a:p>
            <a:pPr algn="r" rtl="1"/>
            <a:r>
              <a:rPr sz="1000" b="0">
                <a:solidFill>
                  <a:srgbClr val="666050"/>
                </a:solidFill>
                <a:latin typeface="Montserrat"/>
              </a:rPr>
              <a:t>رفع نسبة مشاركة الشباب في سوق العمل إلى 52%</a:t>
            </a:r>
          </a:p>
        </p:txBody>
      </p:sp>
      <p:sp>
        <p:nvSpPr>
          <p:cNvPr id="18" name="Rectangle 17"/>
          <p:cNvSpPr/>
          <p:nvPr/>
        </p:nvSpPr>
        <p:spPr>
          <a:xfrm>
            <a:off x="6140196" y="3154680"/>
            <a:ext cx="5545836" cy="228600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3154680"/>
            <a:ext cx="5545836" cy="4572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1636" y="3291840"/>
            <a:ext cx="5408676" cy="411480"/>
          </a:xfrm>
          <a:prstGeom prst="rect">
            <a:avLst/>
          </a:prstGeom>
          <a:noFill/>
        </p:spPr>
        <p:txBody>
          <a:bodyPr wrap="square">
            <a:spAutoFit/>
          </a:bodyPr>
          <a:lstStyle/>
          <a:p>
            <a:pPr algn="r" rtl="1"/>
            <a:r>
              <a:rPr sz="1300" b="1">
                <a:solidFill>
                  <a:srgbClr val="C8A24C"/>
                </a:solidFill>
                <a:latin typeface="Montserrat"/>
              </a:rPr>
              <a:t>أولاً: الرعاية الرسمية</a:t>
            </a:r>
          </a:p>
        </p:txBody>
      </p:sp>
      <p:sp>
        <p:nvSpPr>
          <p:cNvPr id="21" name="TextBox 20"/>
          <p:cNvSpPr txBox="1"/>
          <p:nvPr/>
        </p:nvSpPr>
        <p:spPr>
          <a:xfrm>
            <a:off x="6231636" y="3749040"/>
            <a:ext cx="5408676" cy="1554480"/>
          </a:xfrm>
          <a:prstGeom prst="rect">
            <a:avLst/>
          </a:prstGeom>
          <a:noFill/>
        </p:spPr>
        <p:txBody>
          <a:bodyPr wrap="square">
            <a:spAutoFit/>
          </a:bodyPr>
          <a:lstStyle/>
          <a:p>
            <a:pPr algn="r" rtl="1"/>
            <a:r>
              <a:rPr sz="1000" b="0">
                <a:solidFill>
                  <a:srgbClr val="FFFFFF"/>
                </a:solidFill>
                <a:latin typeface="Montserrat"/>
              </a:rPr>
              <a:t>تطلب MY4 Education الموافقة الرسمية لتصنيفها كشريكة تنفيذية لوزارة التضامن الاجتماعي في مجال تأهيل الشباب وتمكينهم اقتصادياً، مما يُتيح الوصول إلى شبكة الجامعات والمنشآت التدريبية الحكومية.</a:t>
            </a:r>
          </a:p>
        </p:txBody>
      </p:sp>
      <p:sp>
        <p:nvSpPr>
          <p:cNvPr id="22" name="Rectangle 21"/>
          <p:cNvSpPr/>
          <p:nvPr/>
        </p:nvSpPr>
        <p:spPr>
          <a:xfrm>
            <a:off x="502920" y="3154680"/>
            <a:ext cx="5545836" cy="228600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154680"/>
            <a:ext cx="5545836" cy="45720"/>
          </a:xfrm>
          <a:prstGeom prst="rect">
            <a:avLst/>
          </a:prstGeom>
          <a:solidFill>
            <a:srgbClr val="C8A2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3291840"/>
            <a:ext cx="5408676" cy="411480"/>
          </a:xfrm>
          <a:prstGeom prst="rect">
            <a:avLst/>
          </a:prstGeom>
          <a:noFill/>
        </p:spPr>
        <p:txBody>
          <a:bodyPr wrap="square">
            <a:spAutoFit/>
          </a:bodyPr>
          <a:lstStyle/>
          <a:p>
            <a:pPr algn="r" rtl="1"/>
            <a:r>
              <a:rPr sz="1300" b="1">
                <a:solidFill>
                  <a:srgbClr val="C8A24C"/>
                </a:solidFill>
                <a:latin typeface="Montserrat"/>
              </a:rPr>
              <a:t>ثانياً: التمويل التدريبي</a:t>
            </a:r>
          </a:p>
        </p:txBody>
      </p:sp>
      <p:sp>
        <p:nvSpPr>
          <p:cNvPr id="25" name="TextBox 24"/>
          <p:cNvSpPr txBox="1"/>
          <p:nvPr/>
        </p:nvSpPr>
        <p:spPr>
          <a:xfrm>
            <a:off x="594360" y="3749040"/>
            <a:ext cx="5408676" cy="1554480"/>
          </a:xfrm>
          <a:prstGeom prst="rect">
            <a:avLst/>
          </a:prstGeom>
          <a:noFill/>
        </p:spPr>
        <p:txBody>
          <a:bodyPr wrap="square">
            <a:spAutoFit/>
          </a:bodyPr>
          <a:lstStyle/>
          <a:p>
            <a:pPr algn="r" rtl="1"/>
            <a:r>
              <a:rPr sz="1000" b="0">
                <a:solidFill>
                  <a:srgbClr val="FFFFFF"/>
                </a:solidFill>
                <a:latin typeface="Montserrat"/>
              </a:rPr>
              <a:t>تمويل المرحلة التجريبية (60 متدرباً / 10 أشهر) بما يشمل تطوير المناهج، وأتعاب المدربين المتخصصين، والتقييم المستقل للأثر.</a:t>
            </a:r>
          </a:p>
        </p:txBody>
      </p:sp>
      <p:sp>
        <p:nvSpPr>
          <p:cNvPr id="26" name="Rectangle 25"/>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28" name="TextBox 27"/>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0E0E"/>
        </a:solidFill>
        <a:effectLst/>
      </p:bgPr>
    </p:bg>
    <p:spTree>
      <p:nvGrpSpPr>
        <p:cNvPr id="1" name=""/>
        <p:cNvGrpSpPr/>
        <p:nvPr/>
      </p:nvGrpSpPr>
      <p:grpSpPr/>
      <p:sp>
        <p:nvSpPr>
          <p:cNvPr id="2" name="TextBox 1"/>
          <p:cNvSpPr txBox="1"/>
          <p:nvPr/>
        </p:nvSpPr>
        <p:spPr>
          <a:xfrm>
            <a:off x="10543032" y="0"/>
            <a:ext cx="1645920" cy="6858000"/>
          </a:xfrm>
          <a:prstGeom prst="rect">
            <a:avLst/>
          </a:prstGeom>
          <a:noFill/>
        </p:spPr>
        <p:txBody>
          <a:bodyPr wrap="square">
            <a:spAutoFit/>
          </a:bodyPr>
          <a:lstStyle/>
          <a:p>
            <a:pPr algn="l"/>
            <a:r>
              <a:rPr sz="700" b="0">
                <a:solidFill>
                  <a:srgbClr val="302810"/>
                </a:solidFill>
                <a:latin typeface="Courier New"/>
              </a:rPr>
              <a:t>▐▌║▐▌║▐▌║
▌║▐▌║▐▌║▐
║▐▌║▐▌║▐▌</a:t>
            </a:r>
          </a:p>
        </p:txBody>
      </p:sp>
      <p:sp>
        <p:nvSpPr>
          <p:cNvPr id="3" name="Rectangle 2"/>
          <p:cNvSpPr/>
          <p:nvPr/>
        </p:nvSpPr>
        <p:spPr>
          <a:xfrm>
            <a:off x="0" y="5760720"/>
            <a:ext cx="12188952" cy="1097280"/>
          </a:xfrm>
          <a:prstGeom prst="rect">
            <a:avLst/>
          </a:prstGeom>
          <a:solidFill>
            <a:srgbClr val="0A0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5852160"/>
            <a:ext cx="10817352" cy="365760"/>
          </a:xfrm>
          <a:prstGeom prst="rect">
            <a:avLst/>
          </a:prstGeom>
          <a:noFill/>
        </p:spPr>
        <p:txBody>
          <a:bodyPr wrap="square">
            <a:spAutoFit/>
          </a:bodyPr>
          <a:lstStyle/>
          <a:p>
            <a:pPr algn="l"/>
            <a:r>
              <a:rPr sz="1400" b="0">
                <a:solidFill>
                  <a:srgbClr val="282208"/>
                </a:solidFill>
                <a:latin typeface="Montserrat"/>
              </a:rPr>
              <a:t>◼ ◼ ◼  ═  ◼ ◼ ◼  ═  ◼ ◼ ◼  ═  ◼ ◼ ◼  ═  ◼ ◼ ◼  ═  ◼ ◼ ◼  ═</a:t>
            </a:r>
          </a:p>
        </p:txBody>
      </p:sp>
      <p:sp>
        <p:nvSpPr>
          <p:cNvPr id="5" name="TextBox 4"/>
          <p:cNvSpPr txBox="1"/>
          <p:nvPr/>
        </p:nvSpPr>
        <p:spPr>
          <a:xfrm>
            <a:off x="457200" y="1645920"/>
            <a:ext cx="9902952" cy="1280160"/>
          </a:xfrm>
          <a:prstGeom prst="rect">
            <a:avLst/>
          </a:prstGeom>
          <a:noFill/>
        </p:spPr>
        <p:txBody>
          <a:bodyPr wrap="square">
            <a:spAutoFit/>
          </a:bodyPr>
          <a:lstStyle/>
          <a:p>
            <a:pPr algn="r" rtl="1"/>
            <a:r>
              <a:rPr sz="5600" b="1">
                <a:solidFill>
                  <a:srgbClr val="FFFFFF"/>
                </a:solidFill>
                <a:latin typeface="Montserrat"/>
              </a:rPr>
              <a:t>MY4 Education</a:t>
            </a:r>
          </a:p>
        </p:txBody>
      </p:sp>
      <p:sp>
        <p:nvSpPr>
          <p:cNvPr id="6" name="TextBox 5"/>
          <p:cNvSpPr txBox="1"/>
          <p:nvPr/>
        </p:nvSpPr>
        <p:spPr>
          <a:xfrm>
            <a:off x="457200" y="2926080"/>
            <a:ext cx="9902952" cy="548640"/>
          </a:xfrm>
          <a:prstGeom prst="rect">
            <a:avLst/>
          </a:prstGeom>
          <a:noFill/>
        </p:spPr>
        <p:txBody>
          <a:bodyPr wrap="square">
            <a:spAutoFit/>
          </a:bodyPr>
          <a:lstStyle/>
          <a:p>
            <a:pPr algn="r" rtl="1"/>
            <a:r>
              <a:rPr sz="1800" b="0">
                <a:solidFill>
                  <a:srgbClr val="C8A24C"/>
                </a:solidFill>
                <a:latin typeface="Montserrat"/>
              </a:rPr>
              <a:t>تأهيل حقيقي · توظيف حقيقي · أثر وطني</a:t>
            </a:r>
          </a:p>
        </p:txBody>
      </p:sp>
      <p:sp>
        <p:nvSpPr>
          <p:cNvPr id="7" name="TextBox 6"/>
          <p:cNvSpPr txBox="1"/>
          <p:nvPr/>
        </p:nvSpPr>
        <p:spPr>
          <a:xfrm>
            <a:off x="457200" y="3840480"/>
            <a:ext cx="3200400" cy="274320"/>
          </a:xfrm>
          <a:prstGeom prst="rect">
            <a:avLst/>
          </a:prstGeom>
          <a:noFill/>
        </p:spPr>
        <p:txBody>
          <a:bodyPr wrap="square">
            <a:spAutoFit/>
          </a:bodyPr>
          <a:lstStyle/>
          <a:p>
            <a:pPr algn="r"/>
            <a:r>
              <a:rPr sz="900" b="0">
                <a:solidFill>
                  <a:srgbClr val="C8A24C"/>
                </a:solidFill>
                <a:latin typeface="Montserrat"/>
              </a:rPr>
              <a:t>المؤسس</a:t>
            </a:r>
          </a:p>
        </p:txBody>
      </p:sp>
      <p:sp>
        <p:nvSpPr>
          <p:cNvPr id="8" name="TextBox 7"/>
          <p:cNvSpPr txBox="1"/>
          <p:nvPr/>
        </p:nvSpPr>
        <p:spPr>
          <a:xfrm>
            <a:off x="457200" y="4114800"/>
            <a:ext cx="3200400" cy="365760"/>
          </a:xfrm>
          <a:prstGeom prst="rect">
            <a:avLst/>
          </a:prstGeom>
          <a:noFill/>
        </p:spPr>
        <p:txBody>
          <a:bodyPr wrap="square">
            <a:spAutoFit/>
          </a:bodyPr>
          <a:lstStyle/>
          <a:p>
            <a:pPr algn="r" rtl="1"/>
            <a:r>
              <a:rPr sz="1200" b="1">
                <a:solidFill>
                  <a:srgbClr val="FFFFFF"/>
                </a:solidFill>
                <a:latin typeface="Montserrat"/>
              </a:rPr>
              <a:t>محمود جاداللا — Mahmoud Gadalla</a:t>
            </a:r>
          </a:p>
        </p:txBody>
      </p:sp>
      <p:sp>
        <p:nvSpPr>
          <p:cNvPr id="9" name="TextBox 8"/>
          <p:cNvSpPr txBox="1"/>
          <p:nvPr/>
        </p:nvSpPr>
        <p:spPr>
          <a:xfrm>
            <a:off x="3931920" y="3840480"/>
            <a:ext cx="3200400" cy="274320"/>
          </a:xfrm>
          <a:prstGeom prst="rect">
            <a:avLst/>
          </a:prstGeom>
          <a:noFill/>
        </p:spPr>
        <p:txBody>
          <a:bodyPr wrap="square">
            <a:spAutoFit/>
          </a:bodyPr>
          <a:lstStyle/>
          <a:p>
            <a:pPr algn="r"/>
            <a:r>
              <a:rPr sz="900" b="0">
                <a:solidFill>
                  <a:srgbClr val="C8A24C"/>
                </a:solidFill>
                <a:latin typeface="Montserrat"/>
              </a:rPr>
              <a:t>البريد الإلكتروني</a:t>
            </a:r>
          </a:p>
        </p:txBody>
      </p:sp>
      <p:sp>
        <p:nvSpPr>
          <p:cNvPr id="10" name="TextBox 9"/>
          <p:cNvSpPr txBox="1"/>
          <p:nvPr/>
        </p:nvSpPr>
        <p:spPr>
          <a:xfrm>
            <a:off x="3931920" y="4114800"/>
            <a:ext cx="3200400" cy="365760"/>
          </a:xfrm>
          <a:prstGeom prst="rect">
            <a:avLst/>
          </a:prstGeom>
          <a:noFill/>
        </p:spPr>
        <p:txBody>
          <a:bodyPr wrap="square">
            <a:spAutoFit/>
          </a:bodyPr>
          <a:lstStyle/>
          <a:p>
            <a:pPr algn="r" rtl="1"/>
            <a:r>
              <a:rPr sz="1200" b="1">
                <a:solidFill>
                  <a:srgbClr val="FFFFFF"/>
                </a:solidFill>
                <a:latin typeface="Montserrat"/>
              </a:rPr>
              <a:t>Gadalla111@gmail.com</a:t>
            </a:r>
          </a:p>
        </p:txBody>
      </p:sp>
      <p:sp>
        <p:nvSpPr>
          <p:cNvPr id="11" name="TextBox 10"/>
          <p:cNvSpPr txBox="1"/>
          <p:nvPr/>
        </p:nvSpPr>
        <p:spPr>
          <a:xfrm>
            <a:off x="7406640" y="3840480"/>
            <a:ext cx="3200400" cy="274320"/>
          </a:xfrm>
          <a:prstGeom prst="rect">
            <a:avLst/>
          </a:prstGeom>
          <a:noFill/>
        </p:spPr>
        <p:txBody>
          <a:bodyPr wrap="square">
            <a:spAutoFit/>
          </a:bodyPr>
          <a:lstStyle/>
          <a:p>
            <a:pPr algn="r"/>
            <a:r>
              <a:rPr sz="900" b="0">
                <a:solidFill>
                  <a:srgbClr val="C8A24C"/>
                </a:solidFill>
                <a:latin typeface="Montserrat"/>
              </a:rPr>
              <a:t>الهاتف</a:t>
            </a:r>
          </a:p>
        </p:txBody>
      </p:sp>
      <p:sp>
        <p:nvSpPr>
          <p:cNvPr id="12" name="TextBox 11"/>
          <p:cNvSpPr txBox="1"/>
          <p:nvPr/>
        </p:nvSpPr>
        <p:spPr>
          <a:xfrm>
            <a:off x="7406640" y="4114800"/>
            <a:ext cx="3200400" cy="365760"/>
          </a:xfrm>
          <a:prstGeom prst="rect">
            <a:avLst/>
          </a:prstGeom>
          <a:noFill/>
        </p:spPr>
        <p:txBody>
          <a:bodyPr wrap="square">
            <a:spAutoFit/>
          </a:bodyPr>
          <a:lstStyle/>
          <a:p>
            <a:pPr algn="r" rtl="1"/>
            <a:r>
              <a:rPr sz="1200" b="1">
                <a:solidFill>
                  <a:srgbClr val="FFFFFF"/>
                </a:solidFill>
                <a:latin typeface="Montserrat"/>
              </a:rPr>
              <a:t>+20 111 037 111</a:t>
            </a:r>
          </a:p>
        </p:txBody>
      </p:sp>
      <p:sp>
        <p:nvSpPr>
          <p:cNvPr id="13" name="Rectangle 12"/>
          <p:cNvSpPr/>
          <p:nvPr/>
        </p:nvSpPr>
        <p:spPr>
          <a:xfrm>
            <a:off x="0" y="6537960"/>
            <a:ext cx="12188952" cy="320040"/>
          </a:xfrm>
          <a:prstGeom prst="rect">
            <a:avLst/>
          </a:prstGeom>
          <a:solidFill>
            <a:srgbClr val="0E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6565392"/>
            <a:ext cx="7315200" cy="274320"/>
          </a:xfrm>
          <a:prstGeom prst="rect">
            <a:avLst/>
          </a:prstGeom>
          <a:noFill/>
        </p:spPr>
        <p:txBody>
          <a:bodyPr wrap="square">
            <a:spAutoFit/>
          </a:bodyPr>
          <a:lstStyle/>
          <a:p>
            <a:pPr algn="r" rtl="1"/>
            <a:r>
              <a:rPr sz="700" b="0">
                <a:solidFill>
                  <a:srgbClr val="C8A24C"/>
                </a:solidFill>
                <a:latin typeface="Montserrat"/>
              </a:rPr>
              <a:t>MY4 Education  ·  وزارة التضامن الاجتماعي</a:t>
            </a:r>
          </a:p>
        </p:txBody>
      </p:sp>
      <p:sp>
        <p:nvSpPr>
          <p:cNvPr id="15" name="TextBox 14"/>
          <p:cNvSpPr txBox="1"/>
          <p:nvPr/>
        </p:nvSpPr>
        <p:spPr>
          <a:xfrm>
            <a:off x="11091672" y="6565392"/>
            <a:ext cx="914400" cy="274320"/>
          </a:xfrm>
          <a:prstGeom prst="rect">
            <a:avLst/>
          </a:prstGeom>
          <a:noFill/>
        </p:spPr>
        <p:txBody>
          <a:bodyPr wrap="square">
            <a:spAutoFit/>
          </a:bodyPr>
          <a:lstStyle/>
          <a:p>
            <a:pPr algn="l"/>
            <a:r>
              <a:rPr sz="700" b="0">
                <a:solidFill>
                  <a:srgbClr val="FFFFFF"/>
                </a:solidFill>
                <a:latin typeface="Inter"/>
              </a:rP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