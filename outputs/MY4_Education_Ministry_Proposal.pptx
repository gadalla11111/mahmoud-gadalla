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6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6685" y="0"/>
            <a:ext cx="8532266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00"/>
            <a:ext cx="63500" cy="679450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C8A24C"/>
                </a:solidFill>
                <a:latin typeface="Inter"/>
              </a:rPr>
              <a:t>وزارة التضامن الاجتماعي — جمهورية مصر العربية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914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8A24C"/>
                </a:solidFill>
                <a:latin typeface="Montserrat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831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8200" b="1" i="0">
                <a:solidFill>
                  <a:srgbClr val="FFFFFF"/>
                </a:solidFill>
                <a:latin typeface="Montserrat"/>
              </a:rPr>
              <a:t>مبادرة وطنية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111831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0" i="0">
                <a:solidFill>
                  <a:srgbClr val="C8A24C"/>
                </a:solidFill>
                <a:latin typeface="Inter"/>
              </a:rPr>
              <a:t>لتأهيل الشباب وتمكينهم اقتصادياً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1">
                <a:solidFill>
                  <a:srgbClr val="FFFFFF"/>
                </a:solidFill>
                <a:latin typeface="Inter"/>
              </a:rPr>
              <a:t>من قاعة الدارس إلى سوق العمل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480560"/>
            <a:ext cx="11183112" cy="254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Montserrat"/>
              </a:rPr>
              <a:t>MY4 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66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C8A24C"/>
                </a:solidFill>
                <a:latin typeface="Inter"/>
              </a:rPr>
              <a:t>٢٠٢٦</a:t>
            </a:r>
          </a:p>
        </p:txBody>
      </p:sp>
      <p:pic>
        <p:nvPicPr>
          <p:cNvPr id="14" name="Picture 13" descr="image-1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10528"/>
            <a:ext cx="1218895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365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24C"/>
                </a:solidFill>
                <a:latin typeface="Montserrat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FFFFFF"/>
                </a:solidFill>
                <a:latin typeface="Montserrat"/>
              </a:rPr>
              <a:t>فهرس المحتويات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254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02 / 16</a:t>
            </a:r>
          </a:p>
        </p:txBody>
      </p:sp>
      <p:pic>
        <p:nvPicPr>
          <p:cNvPr id="10" name="Picture 9" descr="image-10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1335024"/>
            <a:ext cx="475488" cy="4754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643616" y="1371600"/>
            <a:ext cx="457200" cy="347472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43616" y="13716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0E0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225296"/>
            <a:ext cx="1002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Montserrat"/>
              </a:rPr>
              <a:t>الإشكالية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91056"/>
            <a:ext cx="10021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C8A24C"/>
                </a:solidFill>
                <a:latin typeface="Inter"/>
              </a:rPr>
              <a:t>الشهادة وحدها لا تصنع فرصة عمل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62404"/>
            <a:ext cx="11183112" cy="12700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10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4" y="2139696"/>
            <a:ext cx="475488" cy="47548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643616" y="2176272"/>
            <a:ext cx="457200" cy="347472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43616" y="21762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0E0E"/>
                </a:solidFill>
                <a:latin typeface="Montserrat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029968"/>
            <a:ext cx="1002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Montserrat"/>
              </a:rPr>
              <a:t>الحل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395728"/>
            <a:ext cx="10021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C8A24C"/>
                </a:solidFill>
                <a:latin typeface="Inter"/>
              </a:rPr>
              <a:t>تدريب حقيقي — إثبات حقيقي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767076"/>
            <a:ext cx="11183112" cy="12700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-10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544" y="2944368"/>
            <a:ext cx="475488" cy="47548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643616" y="2980944"/>
            <a:ext cx="457200" cy="347472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43616" y="29809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0E0E"/>
                </a:solidFill>
                <a:latin typeface="Montserrat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834640"/>
            <a:ext cx="1002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Montserrat"/>
              </a:rPr>
              <a:t>إثبات النموذج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200400"/>
            <a:ext cx="10021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C8A24C"/>
                </a:solidFill>
                <a:latin typeface="Inter"/>
              </a:rPr>
              <a:t>التجربة الريادية — الأكاديمية العربية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71748"/>
            <a:ext cx="11183112" cy="12700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-10-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0544" y="3749040"/>
            <a:ext cx="475488" cy="47548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0643616" y="3785616"/>
            <a:ext cx="457200" cy="347472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43616" y="37856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0E0E"/>
                </a:solidFill>
                <a:latin typeface="Montserra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639312"/>
            <a:ext cx="1002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Montserrat"/>
              </a:rPr>
              <a:t>خطة المراحل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005072"/>
            <a:ext cx="10021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C8A24C"/>
                </a:solidFill>
                <a:latin typeface="Inter"/>
              </a:rPr>
              <a:t>من 60 شابًا إلى برنامج وطني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376420"/>
            <a:ext cx="11183112" cy="12700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-10-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0544" y="4553712"/>
            <a:ext cx="475488" cy="475488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0643616" y="4590288"/>
            <a:ext cx="457200" cy="347472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43616" y="45902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0E0E"/>
                </a:solidFill>
                <a:latin typeface="Montserrat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443984"/>
            <a:ext cx="1002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Montserrat"/>
              </a:rPr>
              <a:t>المؤشرات والأثر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809744"/>
            <a:ext cx="10021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C8A24C"/>
                </a:solidFill>
                <a:latin typeface="Inter"/>
              </a:rPr>
              <a:t>أرقام نقدمها ونتحمل مسؤوليتها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181092"/>
            <a:ext cx="11183112" cy="12700"/>
          </a:xfrm>
          <a:prstGeom prst="rect">
            <a:avLst/>
          </a:prstGeom>
          <a:solidFill>
            <a:srgbClr val="2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-10-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0544" y="5358384"/>
            <a:ext cx="475488" cy="475488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10643616" y="5394960"/>
            <a:ext cx="457200" cy="347472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43616" y="53949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0E0E"/>
                </a:solidFill>
                <a:latin typeface="Montserrat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248656"/>
            <a:ext cx="1002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Montserrat"/>
              </a:rPr>
              <a:t>التوافق والطلب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614416"/>
            <a:ext cx="10021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C8A24C"/>
                </a:solidFill>
                <a:latin typeface="Inter"/>
              </a:rPr>
              <a:t>تحالف محكم مع أولويات الوزارة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365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24C"/>
                </a:solidFill>
                <a:latin typeface="Montserrat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ملخص تنفيذي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FFFFFF"/>
                </a:solidFill>
                <a:latin typeface="Montserrat"/>
              </a:rPr>
              <a:t>الأزمة واضحة — الحل موجود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254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03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805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FFFFFF"/>
                </a:solidFill>
                <a:latin typeface="Inter"/>
              </a:rPr>
              <a:t>تقدم MY4 Education هذا الملف إلى وزارة التضامن الاجتماعي طالبةً الرعاية الرسمية والتمويل لتدريب نموذج قادر على تحويل الدارسين من قاعة الدرس إلى سوق العمل.
الأرقام تحدد الأزمة بدقة: 13 مليون خريج أكاديمي متخصص بسوق العمل لا يجد فرصة توظيف تناسب مستواه. القضية ليست في نقص الوظائف، بل في نقص الجاهزية.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3575304" cy="2148840"/>
          </a:xfrm>
          <a:prstGeom prst="rect">
            <a:avLst/>
          </a:prstGeom>
          <a:solidFill>
            <a:srgbClr val="181408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-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282696"/>
            <a:ext cx="475488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410712"/>
            <a:ext cx="3392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C8A24C"/>
                </a:solidFill>
                <a:latin typeface="Montserrat"/>
              </a:rPr>
              <a:t>13.2%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51960"/>
            <a:ext cx="33924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Inter"/>
              </a:rPr>
              <a:t>معدل بطالة الشباب — مصر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C8A24C"/>
                </a:solidFill>
                <a:latin typeface="Inter"/>
              </a:rPr>
              <a:t>CAPMAS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3154680"/>
            <a:ext cx="3575304" cy="2148840"/>
          </a:xfrm>
          <a:prstGeom prst="rect">
            <a:avLst/>
          </a:prstGeom>
          <a:solidFill>
            <a:srgbClr val="181408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-8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282696"/>
            <a:ext cx="475488" cy="475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98264" y="3410712"/>
            <a:ext cx="3392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C8A24C"/>
                </a:solidFill>
                <a:latin typeface="Montserrat"/>
              </a:rPr>
              <a:t>16.9%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4251960"/>
            <a:ext cx="33924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Inter"/>
              </a:rPr>
              <a:t>بطالة الفئة العمرية 20–24 سنة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4892040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C8A24C"/>
                </a:solidFill>
                <a:latin typeface="Inter"/>
              </a:rPr>
              <a:t>CAPMAS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0728" y="3154680"/>
            <a:ext cx="3575304" cy="2148840"/>
          </a:xfrm>
          <a:prstGeom prst="rect">
            <a:avLst/>
          </a:prstGeom>
          <a:solidFill>
            <a:srgbClr val="181408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-8-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3282696"/>
            <a:ext cx="475488" cy="475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02168" y="3410712"/>
            <a:ext cx="3392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400" b="1" i="0">
                <a:solidFill>
                  <a:srgbClr val="C8A24C"/>
                </a:solidFill>
                <a:latin typeface="Montserrat"/>
              </a:rPr>
              <a:t>33.8%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4251960"/>
            <a:ext cx="33924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Inter"/>
              </a:rPr>
              <a:t>بطالة الشابات — الأعلى تاريخياً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892040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C8A24C"/>
                </a:solidFill>
                <a:latin typeface="Inter"/>
              </a:rPr>
              <a:t>CAPMAS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75426" y="0"/>
            <a:ext cx="38100" cy="68580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5728716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201806"/>
                </a:solidFill>
                <a:latin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8255" y="2103120"/>
            <a:ext cx="53631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600" b="1" i="0">
                <a:solidFill>
                  <a:srgbClr val="FFFFFF"/>
                </a:solidFill>
                <a:latin typeface="Montserrat"/>
              </a:rPr>
              <a:t>الإشكالية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8255" y="3566160"/>
            <a:ext cx="5363138" cy="381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8255" y="3703320"/>
            <a:ext cx="536313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C8A24C"/>
                </a:solidFill>
                <a:latin typeface="Inter"/>
              </a:rPr>
              <a:t>الشهادة وحدها لا تصنع فرصة عمل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365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24C"/>
                </a:solidFill>
                <a:latin typeface="Montserrat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01 · الإشكالية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FFFFFF"/>
                </a:solidFill>
                <a:latin typeface="Montserrat"/>
              </a:rPr>
              <a:t>الأرقام تحدد الأزمة بدقة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254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05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5490972" cy="123444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16736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1288" y="1280160"/>
            <a:ext cx="47228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C8A24C"/>
                </a:solidFill>
                <a:latin typeface="Montserrat"/>
              </a:rPr>
              <a:t>1.2M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865376"/>
            <a:ext cx="52715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شاب مصري عاطل عن العمل رغم المؤهلات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276856"/>
            <a:ext cx="52715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1">
                <a:solidFill>
                  <a:srgbClr val="C8A24C"/>
                </a:solidFill>
                <a:latin typeface="Inter"/>
              </a:rPr>
              <a:t>CAPMAS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60" y="1207008"/>
            <a:ext cx="5490972" cy="123444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10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88" y="1316736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3428" y="1280160"/>
            <a:ext cx="47228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C8A24C"/>
                </a:solidFill>
                <a:latin typeface="Montserrat"/>
              </a:rPr>
              <a:t>16.8%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4788" y="1865376"/>
            <a:ext cx="52715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بطالة خريجي الجامعات تحديداً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4788" y="2276856"/>
            <a:ext cx="52715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1">
                <a:solidFill>
                  <a:srgbClr val="C8A24C"/>
                </a:solidFill>
                <a:latin typeface="Inter"/>
              </a:rPr>
              <a:t>CAPMAS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78608"/>
            <a:ext cx="5490972" cy="123444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-8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688336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1288" y="2651760"/>
            <a:ext cx="47228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C8A24C"/>
                </a:solidFill>
                <a:latin typeface="Montserrat"/>
              </a:rPr>
              <a:t>72%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236976"/>
            <a:ext cx="52715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من أصحاب العمل: الخريجون غير مؤهلين عملياً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648456"/>
            <a:ext cx="52715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1">
                <a:solidFill>
                  <a:srgbClr val="C8A24C"/>
                </a:solidFill>
                <a:latin typeface="Inter"/>
              </a:rPr>
              <a:t>CAPMAS 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5060" y="2578608"/>
            <a:ext cx="5490972" cy="123444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8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788" y="2688336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3428" y="2651760"/>
            <a:ext cx="47228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C8A24C"/>
                </a:solidFill>
                <a:latin typeface="Montserrat"/>
              </a:rPr>
              <a:t>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4788" y="3236976"/>
            <a:ext cx="52715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وحدة جامعية تضامن اجتماعي تخدم 250,000 طالب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4788" y="3648456"/>
            <a:ext cx="52715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1">
                <a:solidFill>
                  <a:srgbClr val="C8A24C"/>
                </a:solidFill>
                <a:latin typeface="Inter"/>
              </a:rPr>
              <a:t>وزارة التضامن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50208"/>
            <a:ext cx="5490972" cy="123444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-8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059936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61288" y="4023360"/>
            <a:ext cx="47228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C8A24C"/>
                </a:solidFill>
                <a:latin typeface="Montserrat"/>
              </a:rPr>
              <a:t>70%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4608576"/>
            <a:ext cx="52715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من أسباب الفشل المهني: نقص المهارات لا نقص الفرص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5020056"/>
            <a:ext cx="52715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1">
                <a:solidFill>
                  <a:srgbClr val="C8A24C"/>
                </a:solidFill>
                <a:latin typeface="Inter"/>
              </a:rPr>
              <a:t>ILO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75426" y="0"/>
            <a:ext cx="38100" cy="68580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5728716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201806"/>
                </a:solidFill>
                <a:latin typeface="Montserra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8255" y="2103120"/>
            <a:ext cx="53631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600" b="1" i="0">
                <a:solidFill>
                  <a:srgbClr val="FFFFFF"/>
                </a:solidFill>
                <a:latin typeface="Montserrat"/>
              </a:rPr>
              <a:t>الحل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8255" y="3566160"/>
            <a:ext cx="5363138" cy="381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8255" y="3703320"/>
            <a:ext cx="536313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C8A24C"/>
                </a:solidFill>
                <a:latin typeface="Inter"/>
              </a:rPr>
              <a:t>تدريب حقيقي — إثبات حقيقي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365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24C"/>
                </a:solidFill>
                <a:latin typeface="Montserrat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02 · الحل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FFFFFF"/>
                </a:solidFill>
                <a:latin typeface="Montserrat"/>
              </a:rPr>
              <a:t>كيف يعمل النموذج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254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07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3593592" cy="329184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07008"/>
            <a:ext cx="3593592" cy="9144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-1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244" y="1389888"/>
            <a:ext cx="694944" cy="69494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30936" y="2231136"/>
            <a:ext cx="475488" cy="347472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2311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0E0E"/>
                </a:solidFill>
                <a:latin typeface="Montserrat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700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Montserrat"/>
              </a:rPr>
              <a:t>التشخيص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3236976"/>
            <a:ext cx="3337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Inter"/>
              </a:rPr>
              <a:t>تحليل احتياجات المنطقة والفئة المستهدفة — مسار مخصص لكل دفعة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07008"/>
            <a:ext cx="3593592" cy="3291840"/>
          </a:xfrm>
          <a:prstGeom prst="rect">
            <a:avLst/>
          </a:prstGeom>
          <a:solidFill>
            <a:srgbClr val="201808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207008"/>
            <a:ext cx="3593592" cy="9144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-8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004" y="1389888"/>
            <a:ext cx="694944" cy="6949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425696" y="2231136"/>
            <a:ext cx="475488" cy="347472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2311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0E0E"/>
                </a:solidFill>
                <a:latin typeface="Montserrat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26700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Montserrat"/>
              </a:rPr>
              <a:t>التدريب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3236976"/>
            <a:ext cx="3337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Inter"/>
              </a:rPr>
              <a:t>برنامج مكثف 8 أسابيع: مهارات رقمية + ناعمة + محاكاة بيئة العمل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1207008"/>
            <a:ext cx="3593592" cy="3291840"/>
          </a:xfrm>
          <a:prstGeom prst="rect">
            <a:avLst/>
          </a:prstGeom>
          <a:solidFill>
            <a:srgbClr val="261E0A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207008"/>
            <a:ext cx="3593592" cy="9144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8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1764" y="1389888"/>
            <a:ext cx="694944" cy="694944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220456" y="2231136"/>
            <a:ext cx="475488" cy="347472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22311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0E0E"/>
                </a:solidFill>
                <a:latin typeface="Montserra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26700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Montserrat"/>
              </a:rPr>
              <a:t>التوظيف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3236976"/>
            <a:ext cx="3337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Inter"/>
              </a:rPr>
              <a:t>ربط فوري بشركاء سوق العمل + متابعة 90 يوماً بعد الالتحاق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645152"/>
            <a:ext cx="11183112" cy="1005840"/>
          </a:xfrm>
          <a:prstGeom prst="rect">
            <a:avLst/>
          </a:prstGeom>
          <a:solidFill>
            <a:srgbClr val="141004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736592"/>
            <a:ext cx="10853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البيانات الدولية تثبت أن الدمج بين التدريب النظري والتطبيق الفعلي يرفع معدل التوظيف بنسبة تتجاوز 52% مقارنةً بالتدريب التقليدي (IFC 2024). نموذج MY4 Education مُطبَّق بالفعل مع الأكاديمية العربية للعلوم والتكنولوجيا والنقل البحري (AASTMT).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75426" y="0"/>
            <a:ext cx="38100" cy="68580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5728716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201806"/>
                </a:solidFill>
                <a:latin typeface="Montserrat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8255" y="2103120"/>
            <a:ext cx="53631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600" b="1" i="0">
                <a:solidFill>
                  <a:srgbClr val="FFFFFF"/>
                </a:solidFill>
                <a:latin typeface="Montserrat"/>
              </a:rPr>
              <a:t>إثبات النموذج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8255" y="3566160"/>
            <a:ext cx="5363138" cy="381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8255" y="3703320"/>
            <a:ext cx="536313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C8A24C"/>
                </a:solidFill>
                <a:latin typeface="Inter"/>
              </a:rPr>
              <a:t>التجربة الريادية — الأكاديمية العربية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365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24C"/>
                </a:solidFill>
                <a:latin typeface="Montserrat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03 · إثبات النموذج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FFFFFF"/>
                </a:solidFill>
                <a:latin typeface="Montserrat"/>
              </a:rPr>
              <a:t>الأكاديمية العربية — التجربة الريادية على الواقع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254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09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805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FFFFFF"/>
                </a:solidFill>
                <a:latin typeface="Inter"/>
              </a:rPr>
              <a:t>طوّر نموذج MY4 Education شراكةً رائدة داخل الأكاديمية العربية للعلوم والتكنولوجيا والنقل البحري (AASTMT)، وهي من أكبر المؤسسات التعليمية التقنية في المنطقة العربية.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11183112" cy="749808"/>
          </a:xfrm>
          <a:prstGeom prst="rect">
            <a:avLst/>
          </a:prstGeom>
          <a:solidFill>
            <a:srgbClr val="161205"/>
          </a:solidFill>
          <a:ln w="12700">
            <a:solidFill>
              <a:srgbClr val="3A2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-10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816" y="2414016"/>
            <a:ext cx="493776" cy="4937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2920" y="2286000"/>
            <a:ext cx="50800" cy="749808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432304"/>
            <a:ext cx="10232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Inter"/>
              </a:rPr>
              <a:t>نسبة توظيف 85% خلال 90 يوماً من إتمام البرنامج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00400"/>
            <a:ext cx="11183112" cy="749808"/>
          </a:xfrm>
          <a:prstGeom prst="rect">
            <a:avLst/>
          </a:prstGeom>
          <a:solidFill>
            <a:srgbClr val="161205"/>
          </a:solidFill>
          <a:ln w="12700">
            <a:solidFill>
              <a:srgbClr val="3A2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8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3328416"/>
            <a:ext cx="493776" cy="4937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2920" y="3200400"/>
            <a:ext cx="50800" cy="749808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346704"/>
            <a:ext cx="10232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Inter"/>
              </a:rPr>
              <a:t>200+ متدرب أتموا البرنامج بنجاح في الدفعات الأولى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14800"/>
            <a:ext cx="11183112" cy="749808"/>
          </a:xfrm>
          <a:prstGeom prst="rect">
            <a:avLst/>
          </a:prstGeom>
          <a:solidFill>
            <a:srgbClr val="161205"/>
          </a:solidFill>
          <a:ln w="12700">
            <a:solidFill>
              <a:srgbClr val="3A2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-8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816" y="4242816"/>
            <a:ext cx="493776" cy="49377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02920" y="4114800"/>
            <a:ext cx="50800" cy="749808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261104"/>
            <a:ext cx="10232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Inter"/>
              </a:rPr>
              <a:t>تقييم رضا المتدربين: 4.8 / 5.0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29200"/>
            <a:ext cx="11183112" cy="749808"/>
          </a:xfrm>
          <a:prstGeom prst="rect">
            <a:avLst/>
          </a:prstGeom>
          <a:solidFill>
            <a:srgbClr val="161205"/>
          </a:solidFill>
          <a:ln w="12700">
            <a:solidFill>
              <a:srgbClr val="3A2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-8-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0816" y="5157216"/>
            <a:ext cx="493776" cy="49377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02920" y="5029200"/>
            <a:ext cx="50800" cy="749808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175504"/>
            <a:ext cx="10232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Inter"/>
              </a:rPr>
              <a:t>شركاء توظيف من القطاعين الخاص والحكومي: +16 جهة</a:t>
            </a:r>
          </a:p>
        </p:txBody>
      </p:sp>
      <p:pic>
        <p:nvPicPr>
          <p:cNvPr id="27" name="Picture 26" descr="image-18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6199632"/>
            <a:ext cx="11183112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75426" y="0"/>
            <a:ext cx="38100" cy="68580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5728716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201806"/>
                </a:solidFill>
                <a:latin typeface="Montserrat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8255" y="2103120"/>
            <a:ext cx="53631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600" b="1" i="0">
                <a:solidFill>
                  <a:srgbClr val="FFFFFF"/>
                </a:solidFill>
                <a:latin typeface="Montserrat"/>
              </a:rPr>
              <a:t>خطة المراحل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8255" y="3566160"/>
            <a:ext cx="5363138" cy="381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8255" y="3703320"/>
            <a:ext cx="536313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C8A24C"/>
                </a:solidFill>
                <a:latin typeface="Inter"/>
              </a:rPr>
              <a:t>من 60 شابًا إلى برنامج وطني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365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24C"/>
                </a:solidFill>
                <a:latin typeface="Montserrat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04 · خطة المراحل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FFFFFF"/>
                </a:solidFill>
                <a:latin typeface="Montserrat"/>
              </a:rPr>
              <a:t>مسار التوسع المتدرج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254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11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3593592" cy="4892040"/>
          </a:xfrm>
          <a:prstGeom prst="rect">
            <a:avLst/>
          </a:prstGeom>
          <a:solidFill>
            <a:srgbClr val="161206"/>
          </a:solidFill>
          <a:ln w="254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07008"/>
            <a:ext cx="3593592" cy="109728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-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244" y="1389888"/>
            <a:ext cx="694944" cy="6949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" y="2212848"/>
            <a:ext cx="3374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 i="0">
                <a:solidFill>
                  <a:srgbClr val="C8A24C"/>
                </a:solidFill>
                <a:latin typeface="Inter"/>
              </a:rPr>
              <a:t>المرحلة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560320"/>
            <a:ext cx="3374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  <a:latin typeface="Montserrat"/>
              </a:rPr>
              <a:t>المرحلة التجريبية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3090672"/>
            <a:ext cx="3374136" cy="292608"/>
          </a:xfrm>
          <a:prstGeom prst="rect">
            <a:avLst/>
          </a:prstGeom>
          <a:solidFill>
            <a:srgbClr val="2A2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090672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Q1–Q2 ٢٠٢٦  ·  300 شاب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3438144"/>
            <a:ext cx="3374136" cy="127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3767328"/>
            <a:ext cx="50800" cy="219456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584448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3 مراكز تجريبية في 3 محافظات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4590288"/>
            <a:ext cx="50800" cy="219456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407408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تطوير المناهج مع 5 شركاء صناعيين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5413248"/>
            <a:ext cx="50800" cy="219456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5230368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قياس أثر شامل ونظام تقارير للوزارة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207008"/>
            <a:ext cx="3593592" cy="4892040"/>
          </a:xfrm>
          <a:prstGeom prst="rect">
            <a:avLst/>
          </a:prstGeom>
          <a:solidFill>
            <a:srgbClr val="161206"/>
          </a:solidFill>
          <a:ln w="25400">
            <a:solidFill>
              <a:srgbClr val="E0B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1207008"/>
            <a:ext cx="3593592" cy="109728"/>
          </a:xfrm>
          <a:prstGeom prst="rect">
            <a:avLst/>
          </a:prstGeom>
          <a:solidFill>
            <a:srgbClr val="E0B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8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004" y="1389888"/>
            <a:ext cx="694944" cy="6949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07408" y="2212848"/>
            <a:ext cx="3374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 i="0">
                <a:solidFill>
                  <a:srgbClr val="E0BC60"/>
                </a:solidFill>
                <a:latin typeface="Inter"/>
              </a:rPr>
              <a:t>المرحلة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2560320"/>
            <a:ext cx="3374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  <a:latin typeface="Montserrat"/>
              </a:rPr>
              <a:t>مرحلة التوسع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7408" y="3090672"/>
            <a:ext cx="3374136" cy="292608"/>
          </a:xfrm>
          <a:prstGeom prst="rect">
            <a:avLst/>
          </a:prstGeom>
          <a:solidFill>
            <a:srgbClr val="2A2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8" y="3090672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Q3–Q4 ٢٠٢٦  ·  1,000 شاب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07408" y="3438144"/>
            <a:ext cx="3374136" cy="127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35240" y="3767328"/>
            <a:ext cx="50800" cy="219456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3584448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10 مراكز — 5 محافظات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4590288"/>
            <a:ext cx="50800" cy="219456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8" y="4407408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مسار مخصص للشابات (بطالة 33.8%)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5413248"/>
            <a:ext cx="50800" cy="219456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8" y="5230368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إدراج ضمن برنامج ستارت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1207008"/>
            <a:ext cx="3593592" cy="4892040"/>
          </a:xfrm>
          <a:prstGeom prst="rect">
            <a:avLst/>
          </a:prstGeom>
          <a:solidFill>
            <a:srgbClr val="161206"/>
          </a:solidFill>
          <a:ln w="25400">
            <a:solidFill>
              <a:srgbClr val="A8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1207008"/>
            <a:ext cx="3593592" cy="109728"/>
          </a:xfrm>
          <a:prstGeom prst="rect">
            <a:avLst/>
          </a:prstGeom>
          <a:solidFill>
            <a:srgbClr val="A8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-8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1764" y="1389888"/>
            <a:ext cx="694944" cy="69494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02168" y="2212848"/>
            <a:ext cx="3374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 i="0">
                <a:solidFill>
                  <a:srgbClr val="A8823C"/>
                </a:solidFill>
                <a:latin typeface="Inter"/>
              </a:rPr>
              <a:t>المرحلة 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2560320"/>
            <a:ext cx="3374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  <a:latin typeface="Montserrat"/>
              </a:rPr>
              <a:t>الانطلاق الوطني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2168" y="3090672"/>
            <a:ext cx="3374136" cy="292608"/>
          </a:xfrm>
          <a:prstGeom prst="rect">
            <a:avLst/>
          </a:prstGeom>
          <a:solidFill>
            <a:srgbClr val="2A2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2168" y="3090672"/>
            <a:ext cx="3374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٢٠٢٧  ·  10,000 شاب / سنة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02168" y="3438144"/>
            <a:ext cx="3374136" cy="127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30000" y="3767328"/>
            <a:ext cx="50800" cy="219456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02168" y="3584448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تغطية 27 محافظة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0" y="4590288"/>
            <a:ext cx="50800" cy="219456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2168" y="4407408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شبكة توظيف تضم 200+ شركة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0" y="5413248"/>
            <a:ext cx="50800" cy="219456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02168" y="5230368"/>
            <a:ext cx="31729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نموذج ذاتي الاستدامة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75426" y="0"/>
            <a:ext cx="38100" cy="68580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5728716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201806"/>
                </a:solidFill>
                <a:latin typeface="Montserrat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8255" y="2103120"/>
            <a:ext cx="53631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600" b="1" i="0">
                <a:solidFill>
                  <a:srgbClr val="FFFFFF"/>
                </a:solidFill>
                <a:latin typeface="Montserrat"/>
              </a:rPr>
              <a:t>المؤشرات والأثر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8255" y="3566160"/>
            <a:ext cx="5363138" cy="381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8255" y="3703320"/>
            <a:ext cx="536313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C8A24C"/>
                </a:solidFill>
                <a:latin typeface="Inter"/>
              </a:rPr>
              <a:t>أرقام نقدمها ونتحمل مسؤوليتها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365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24C"/>
                </a:solidFill>
                <a:latin typeface="Montserrat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05 · المؤشرات والأثر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FFFFFF"/>
                </a:solidFill>
                <a:latin typeface="Montserrat"/>
              </a:rPr>
              <a:t>التزاماتنا القابلة للقياس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254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13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07008"/>
            <a:ext cx="2658618" cy="246888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621" y="1335024"/>
            <a:ext cx="585216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011680"/>
            <a:ext cx="247573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C8A24C"/>
                </a:solidFill>
                <a:latin typeface="Montserrat"/>
              </a:rPr>
              <a:t>85%+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79776"/>
            <a:ext cx="247573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Inter"/>
              </a:rPr>
              <a:t>نسبة التوظيف الفعال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36976"/>
            <a:ext cx="24757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خلال 90 يوماً من إتمام التدريب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4418" y="1207008"/>
            <a:ext cx="2658618" cy="246888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-8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119" y="1335024"/>
            <a:ext cx="585216" cy="5852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35858" y="2011680"/>
            <a:ext cx="247573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C8A24C"/>
                </a:solidFill>
                <a:latin typeface="Montserrat"/>
              </a:rPr>
              <a:t>4.8/5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5858" y="2779776"/>
            <a:ext cx="247573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Inter"/>
              </a:rPr>
              <a:t>رضا المتدربين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5858" y="3236976"/>
            <a:ext cx="24757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تقييم مستقل بعد إتمام البرنامج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5916" y="1207008"/>
            <a:ext cx="2658618" cy="246888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-8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617" y="1335024"/>
            <a:ext cx="585216" cy="5852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77356" y="2011680"/>
            <a:ext cx="247573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C8A24C"/>
                </a:solidFill>
                <a:latin typeface="Montserrat"/>
              </a:rPr>
              <a:t>96%+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2779776"/>
            <a:ext cx="247573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Inter"/>
              </a:rPr>
              <a:t>رضا أصحاب العمل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7356" y="3236976"/>
            <a:ext cx="24757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قياس بعد 6 أشهر من التوظيف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27414" y="1207008"/>
            <a:ext cx="2658618" cy="246888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-8-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115" y="1335024"/>
            <a:ext cx="585216" cy="5852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18854" y="2011680"/>
            <a:ext cx="247573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C8A24C"/>
                </a:solidFill>
                <a:latin typeface="Montserrat"/>
              </a:rPr>
              <a:t>+52%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8854" y="2779776"/>
            <a:ext cx="247573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Inter"/>
              </a:rPr>
              <a:t>تحسن معدل التوظيف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854" y="3236976"/>
            <a:ext cx="24757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فوق المتوسط مقارنةً بالتدريب التقليدي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840480"/>
            <a:ext cx="11183112" cy="254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913632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C8A24C"/>
                </a:solidFill>
                <a:latin typeface="Montserrat"/>
              </a:rPr>
              <a:t>التزامات إضافية:</a:t>
            </a:r>
          </a:p>
        </p:txBody>
      </p:sp>
      <p:pic>
        <p:nvPicPr>
          <p:cNvPr id="32" name="Picture 31" descr="image-10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7548" y="4297680"/>
            <a:ext cx="420624" cy="42062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2920" y="4315968"/>
            <a:ext cx="49514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توفير لوحة بيانات حية للوزارة تُحدَّث شهرياً</a:t>
            </a:r>
          </a:p>
        </p:txBody>
      </p:sp>
      <p:pic>
        <p:nvPicPr>
          <p:cNvPr id="34" name="Picture 33" descr="image-8-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0544" y="4297680"/>
            <a:ext cx="420624" cy="42062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185916" y="4315968"/>
            <a:ext cx="49514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تقارير ربع سنوية مستقلة من جهة تقييم خارجية</a:t>
            </a:r>
          </a:p>
        </p:txBody>
      </p:sp>
      <p:pic>
        <p:nvPicPr>
          <p:cNvPr id="36" name="Picture 35" descr="image-8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548" y="4800600"/>
            <a:ext cx="420624" cy="4206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2920" y="4818888"/>
            <a:ext cx="49514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شراكة بحثية مع الجامعات لنشر نتائج النموذج دولياً</a:t>
            </a:r>
          </a:p>
        </p:txBody>
      </p:sp>
      <p:pic>
        <p:nvPicPr>
          <p:cNvPr id="38" name="Picture 37" descr="image-8-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0544" y="4800600"/>
            <a:ext cx="420624" cy="42062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85916" y="4818888"/>
            <a:ext cx="49514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آلية استرداد جزئي في حال عدم تحقيق مؤشر التوظيف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75426" y="0"/>
            <a:ext cx="38100" cy="68580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5728716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201806"/>
                </a:solidFill>
                <a:latin typeface="Montserrat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8255" y="2103120"/>
            <a:ext cx="53631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600" b="1" i="0">
                <a:solidFill>
                  <a:srgbClr val="FFFFFF"/>
                </a:solidFill>
                <a:latin typeface="Montserrat"/>
              </a:rPr>
              <a:t>التوافق والطلب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8255" y="3566160"/>
            <a:ext cx="5363138" cy="381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8255" y="3703320"/>
            <a:ext cx="536313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C8A24C"/>
                </a:solidFill>
                <a:latin typeface="Inter"/>
              </a:rPr>
              <a:t>تحالف محكم مع أولويات الوزارة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3657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24C"/>
                </a:solidFill>
                <a:latin typeface="Montserrat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43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C8A24C"/>
                </a:solidFill>
                <a:latin typeface="Inter"/>
              </a:rPr>
              <a:t>06 · التوافق والطلب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83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b="1" i="0">
                <a:solidFill>
                  <a:srgbClr val="FFFFFF"/>
                </a:solidFill>
                <a:latin typeface="Montserrat"/>
              </a:rPr>
              <a:t>لماذا هذا الوقت بالتحديد؟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83112" cy="254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15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25296"/>
            <a:ext cx="5500116" cy="82296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4" y="1417320"/>
            <a:ext cx="438912" cy="438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" y="1289304"/>
            <a:ext cx="48234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C8A24C"/>
                </a:solidFill>
                <a:latin typeface="Montserrat"/>
              </a:rPr>
              <a:t>برنامج ستارت ٢٠٢٦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55064"/>
            <a:ext cx="48234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شراكة أورنج مصر — الوزارة تبحث عن شركاء تنفيذيين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5916" y="1225296"/>
            <a:ext cx="5500116" cy="82296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-8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417320"/>
            <a:ext cx="438912" cy="4389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95644" y="1289304"/>
            <a:ext cx="48234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C8A24C"/>
                </a:solidFill>
                <a:latin typeface="Montserrat"/>
              </a:rPr>
              <a:t>ملتقى خطوة ٢٠٢٦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5644" y="1655064"/>
            <a:ext cx="48234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MY4 جاهزة للمشاركة كشريك تنفيذي في الملتقى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85416"/>
            <a:ext cx="5500116" cy="82296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-8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2377440"/>
            <a:ext cx="438912" cy="438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2648" y="2249424"/>
            <a:ext cx="48234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C8A24C"/>
                </a:solidFill>
                <a:latin typeface="Montserrat"/>
              </a:rPr>
              <a:t>31 وحدة جامعية تضامن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2615184"/>
            <a:ext cx="48234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قناة توزيع مثالية لبرامج MY4 — 250,000 طالب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185416"/>
            <a:ext cx="5500116" cy="822960"/>
          </a:xfrm>
          <a:prstGeom prst="rect">
            <a:avLst/>
          </a:prstGeom>
          <a:solidFill>
            <a:srgbClr val="1A1406"/>
          </a:solidFill>
          <a:ln w="12700">
            <a:solidFill>
              <a:srgbClr val="C8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-8-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0" y="2377440"/>
            <a:ext cx="438912" cy="4389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95644" y="2249424"/>
            <a:ext cx="48234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C8A24C"/>
                </a:solidFill>
                <a:latin typeface="Montserrat"/>
              </a:rPr>
              <a:t>رؤية مصر 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5644" y="2615184"/>
            <a:ext cx="48234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FFFFFF"/>
                </a:solidFill>
                <a:latin typeface="Inter"/>
              </a:rPr>
              <a:t>رفع نسبة مشاركة الشباب في سوق العمل إلى 52%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46120"/>
            <a:ext cx="11183112" cy="3810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300984"/>
            <a:ext cx="11183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A4232A"/>
                </a:solidFill>
                <a:latin typeface="Montserrat"/>
              </a:rPr>
              <a:t>المطلوب من الوزارة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749039"/>
            <a:ext cx="5500116" cy="1920240"/>
          </a:xfrm>
          <a:prstGeom prst="rect">
            <a:avLst/>
          </a:prstGeom>
          <a:solidFill>
            <a:srgbClr val="201010"/>
          </a:solidFill>
          <a:ln w="12700">
            <a:solidFill>
              <a:srgbClr val="A4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749039"/>
            <a:ext cx="5500116" cy="9144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3877055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A4232A"/>
                </a:solidFill>
                <a:latin typeface="Montserrat"/>
              </a:rPr>
              <a:t>أولاً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4224527"/>
            <a:ext cx="52440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Montserrat"/>
              </a:rPr>
              <a:t>الرعاية الرسمية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4681727"/>
            <a:ext cx="52440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Inter"/>
              </a:rPr>
              <a:t>اتفاقية شراكة رسمية تُخوّل MY4 العمل تحت مظلة الوزارة والوصول إلى شبكة الوحدات الجامعية الـ31.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5916" y="3749039"/>
            <a:ext cx="5500116" cy="1920240"/>
          </a:xfrm>
          <a:prstGeom prst="rect">
            <a:avLst/>
          </a:prstGeom>
          <a:solidFill>
            <a:srgbClr val="201010"/>
          </a:solidFill>
          <a:ln w="12700">
            <a:solidFill>
              <a:srgbClr val="A4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5916" y="3749039"/>
            <a:ext cx="5500116" cy="9144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3932" y="3877055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A4232A"/>
                </a:solidFill>
                <a:latin typeface="Montserrat"/>
              </a:rPr>
              <a:t>ثانياً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3932" y="4224527"/>
            <a:ext cx="52440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Montserrat"/>
              </a:rPr>
              <a:t>الدعم اللوجستي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3932" y="4681727"/>
            <a:ext cx="52440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FFFFFF"/>
                </a:solidFill>
                <a:latin typeface="Inter"/>
              </a:rPr>
              <a:t>مساحات تدريب في المحافظات وإدراج البرنامج ضمن مبادرتَي ستارت وخطوة 2026 للوصول إلى الفئة المستهدفة.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00"/>
            <a:ext cx="63500" cy="6794500"/>
          </a:xfrm>
          <a:prstGeom prst="rect">
            <a:avLst/>
          </a:prstGeom>
          <a:solidFill>
            <a:srgbClr val="A4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31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00" b="1" i="0">
                <a:solidFill>
                  <a:srgbClr val="FFFFFF"/>
                </a:solidFill>
                <a:latin typeface="Montserrat"/>
              </a:rPr>
              <a:t>MY4 Education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926080"/>
            <a:ext cx="11183112" cy="38100"/>
          </a:xfrm>
          <a:prstGeom prst="rect">
            <a:avLst/>
          </a:prstGeom>
          <a:solidFill>
            <a:srgbClr val="C8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035808"/>
            <a:ext cx="11183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C8A24C"/>
                </a:solidFill>
                <a:latin typeface="Inter"/>
              </a:rPr>
              <a:t>تأهيل حقيقي · توظيف حقيقي · أثر وطني</a:t>
            </a:r>
          </a:p>
        </p:txBody>
      </p:sp>
      <p:pic>
        <p:nvPicPr>
          <p:cNvPr id="9" name="Picture 8" descr="image-8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3913631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822191"/>
            <a:ext cx="10451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Inter"/>
              </a:rPr>
              <a:t>المؤسس:  محمود جاداللا — Mahmoud Gadalla</a:t>
            </a:r>
          </a:p>
        </p:txBody>
      </p:sp>
      <p:pic>
        <p:nvPicPr>
          <p:cNvPr id="11" name="Picture 10" descr="image-15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4535423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443983"/>
            <a:ext cx="10451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Inter"/>
              </a:rPr>
              <a:t>البريد الإلكتروني:  Gadalla111@gmail.com</a:t>
            </a:r>
          </a:p>
        </p:txBody>
      </p:sp>
      <p:pic>
        <p:nvPicPr>
          <p:cNvPr id="13" name="Picture 12" descr="image-8-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5157215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065775"/>
            <a:ext cx="10451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Inter"/>
              </a:rPr>
              <a:t>الهاتف:  +20 111 037 111</a:t>
            </a:r>
          </a:p>
        </p:txBody>
      </p:sp>
      <p:pic>
        <p:nvPicPr>
          <p:cNvPr id="15" name="Picture 14" descr="image-18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73952"/>
            <a:ext cx="12188952" cy="38404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00" b="0" i="0">
                <a:solidFill>
                  <a:srgbClr val="C8A24C"/>
                </a:solidFill>
                <a:latin typeface="Montserrat"/>
              </a:rPr>
              <a:t>MY4 Education  ·  وزارة التضامن الاجتماعي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0232" y="6537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Inter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