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7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image" Target="../media/image12.png"/><Relationship Id="rId6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14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3.png"/><Relationship Id="rId6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image" Target="../media/image13.png"/><Relationship Id="rId6" Type="http://schemas.openxmlformats.org/officeDocument/2006/relationships/image" Target="../media/image21.png"/><Relationship Id="rId7" Type="http://schemas.openxmlformats.org/officeDocument/2006/relationships/image" Target="../media/image17.png"/><Relationship Id="rId8" Type="http://schemas.openxmlformats.org/officeDocument/2006/relationships/image" Target="../media/image7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17.png"/><Relationship Id="rId6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0952" y="0"/>
            <a:ext cx="6858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0952" y="0"/>
            <a:ext cx="6858000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0"/>
            <a:ext cx="6858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11503152" cy="635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63500" cy="182880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وزارة التضامن الاجتماعي — جمهورية مصر العربية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200" b="1" i="0">
                <a:solidFill>
                  <a:srgbClr val="FFFFFF"/>
                </a:solidFill>
                <a:latin typeface="Montserrat"/>
              </a:rPr>
              <a:t>مبادرة وطنية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800" b="0" i="0">
                <a:solidFill>
                  <a:srgbClr val="C8A24C"/>
                </a:solidFill>
                <a:latin typeface="Inter"/>
              </a:rPr>
              <a:t>لتأهيل الشباب وتمكينهم اقتصادياً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1">
                <a:solidFill>
                  <a:srgbClr val="FFFFFF"/>
                </a:solidFill>
                <a:latin typeface="Inter"/>
              </a:rPr>
              <a:t>من قاعة الدارس إلى سوق العمل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389120"/>
            <a:ext cx="0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389120"/>
            <a:ext cx="5943600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FFFFFF"/>
                </a:solidFill>
                <a:latin typeface="Montserrat"/>
              </a:rPr>
              <a:t>MY4 Education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20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C8A24C"/>
                </a:solidFill>
                <a:latin typeface="Inter"/>
              </a:rPr>
              <a:t>٢٠٢٦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47472" cy="6858000"/>
          </a:xfrm>
          <a:prstGeom prst="rect">
            <a:avLst/>
          </a:prstGeom>
        </p:spPr>
      </p:pic>
      <p:pic>
        <p:nvPicPr>
          <p:cNvPr id="3" name="Picture 2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0"/>
            <a:ext cx="6858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47472" y="0"/>
            <a:ext cx="11155680" cy="508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16459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i="0">
                <a:solidFill>
                  <a:srgbClr val="FFFFFF"/>
                </a:solidFill>
                <a:latin typeface="Montserrat"/>
              </a:rPr>
              <a:t>فهرس المحتويات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777240"/>
            <a:ext cx="10789920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-10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8792" y="1088136"/>
            <a:ext cx="475488" cy="4754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314432" y="1097280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8A24C"/>
                </a:solidFill>
                <a:latin typeface="Montserra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960120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FFFFFF"/>
                </a:solidFill>
                <a:latin typeface="Montserrat"/>
              </a:rPr>
              <a:t>الإشكالية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29844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الشهادة وحدها لا تصنع فرصة عمل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724660"/>
            <a:ext cx="10789920" cy="12700"/>
          </a:xfrm>
          <a:prstGeom prst="rect">
            <a:avLst/>
          </a:prstGeom>
          <a:solidFill>
            <a:srgbClr val="2A2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-10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08792" y="1911096"/>
            <a:ext cx="475488" cy="4754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314432" y="1920240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8A24C"/>
                </a:solidFill>
                <a:latin typeface="Montserra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1783080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FFFFFF"/>
                </a:solidFill>
                <a:latin typeface="Montserrat"/>
              </a:rPr>
              <a:t>الحل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12140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تدريب حقيقي — إثبات حقيقي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" y="2547620"/>
            <a:ext cx="10789920" cy="12700"/>
          </a:xfrm>
          <a:prstGeom prst="rect">
            <a:avLst/>
          </a:prstGeom>
          <a:solidFill>
            <a:srgbClr val="2A2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-10-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08792" y="2734056"/>
            <a:ext cx="475488" cy="4754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314432" y="2743200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8A24C"/>
                </a:solidFill>
                <a:latin typeface="Montserrat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2606040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FFFFFF"/>
                </a:solidFill>
                <a:latin typeface="Montserrat"/>
              </a:rPr>
              <a:t>إثبات النموذج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294436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التجربة الريادية — الأكاديمية العربية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3370580"/>
            <a:ext cx="10789920" cy="12700"/>
          </a:xfrm>
          <a:prstGeom prst="rect">
            <a:avLst/>
          </a:prstGeom>
          <a:solidFill>
            <a:srgbClr val="2A2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-10-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08792" y="3557016"/>
            <a:ext cx="475488" cy="47548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314432" y="3566160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8A24C"/>
                </a:solidFill>
                <a:latin typeface="Montserrat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3429000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FFFFFF"/>
                </a:solidFill>
                <a:latin typeface="Montserrat"/>
              </a:rPr>
              <a:t>خطة المراحل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376732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من 60 شابًا إلى برنامج وطني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" y="4193540"/>
            <a:ext cx="10789920" cy="12700"/>
          </a:xfrm>
          <a:prstGeom prst="rect">
            <a:avLst/>
          </a:prstGeom>
          <a:solidFill>
            <a:srgbClr val="2A2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-10-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08792" y="4379976"/>
            <a:ext cx="475488" cy="47548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314432" y="4389120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8A24C"/>
                </a:solidFill>
                <a:latin typeface="Montserrat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4251960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FFFFFF"/>
                </a:solidFill>
                <a:latin typeface="Montserrat"/>
              </a:rPr>
              <a:t>المؤشرات والأثر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45902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أرقام نقدمها ونتحمل مسؤوليتها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" y="5016500"/>
            <a:ext cx="10789920" cy="12700"/>
          </a:xfrm>
          <a:prstGeom prst="rect">
            <a:avLst/>
          </a:prstGeom>
          <a:solidFill>
            <a:srgbClr val="2A2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-10-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08792" y="5202936"/>
            <a:ext cx="475488" cy="47548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314432" y="5212080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8A24C"/>
                </a:solidFill>
                <a:latin typeface="Montserrat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" y="5074920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FFFFFF"/>
                </a:solidFill>
                <a:latin typeface="Montserrat"/>
              </a:rPr>
              <a:t>التوافق والطلب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541324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تحالف محكم مع أولويات الوزارة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47472" cy="6858000"/>
          </a:xfrm>
          <a:prstGeom prst="rect">
            <a:avLst/>
          </a:prstGeom>
        </p:spPr>
      </p:pic>
      <p:pic>
        <p:nvPicPr>
          <p:cNvPr id="3" name="Picture 2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0"/>
            <a:ext cx="6858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47472" y="0"/>
            <a:ext cx="11155680" cy="508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ملخص تنفيذي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41148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 i="0">
                <a:solidFill>
                  <a:srgbClr val="FFFFFF"/>
                </a:solidFill>
                <a:latin typeface="Montserrat"/>
              </a:rPr>
              <a:t>الأزمة واضحة — الحل موجود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143000"/>
            <a:ext cx="10789920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6858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تقدم MY4 Education هذا الملف إلى وزارة التضامن الاجتماعي طالبةً الرعاية الرسمية والتمويل لتدريب نموذج قادر على تحويل الدارسين من قاعة الدرس إلى سوق العمل.
الأرقام تحدد الأزمة بدقة: 13 مليون خريج أكاديمي متخصص بسوق العمل لا يجد فرصة توظيف تناسب مستواه. القضية ليست في نقص الوظائف، بل في نقص الجاهزية.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566160"/>
            <a:ext cx="3462528" cy="1920240"/>
          </a:xfrm>
          <a:prstGeom prst="rect">
            <a:avLst/>
          </a:prstGeom>
          <a:solidFill>
            <a:srgbClr val="181408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8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5952" y="3675888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" y="3840480"/>
            <a:ext cx="27767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C8A24C"/>
                </a:solidFill>
                <a:latin typeface="Montserrat"/>
              </a:rPr>
              <a:t>13.2%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4572000"/>
            <a:ext cx="3279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FFFFFF"/>
                </a:solidFill>
                <a:latin typeface="Inter"/>
              </a:rPr>
              <a:t>معدل بطالة الشباب — مصر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5138928"/>
            <a:ext cx="32796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C8A24C"/>
                </a:solidFill>
                <a:latin typeface="Inter"/>
              </a:rPr>
              <a:t>CAPMAS 2025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94048" y="3566160"/>
            <a:ext cx="3462528" cy="1920240"/>
          </a:xfrm>
          <a:prstGeom prst="rect">
            <a:avLst/>
          </a:prstGeom>
          <a:solidFill>
            <a:srgbClr val="181408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-8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9648" y="3675888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85488" y="3840480"/>
            <a:ext cx="27767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C8A24C"/>
                </a:solidFill>
                <a:latin typeface="Montserrat"/>
              </a:rPr>
              <a:t>16.9%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85488" y="4572000"/>
            <a:ext cx="3279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FFFFFF"/>
                </a:solidFill>
                <a:latin typeface="Inter"/>
              </a:rPr>
              <a:t>بطالة الفئة العمرية 20–24 سنة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85488" y="5138928"/>
            <a:ext cx="32796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C8A24C"/>
                </a:solidFill>
                <a:latin typeface="Inter"/>
              </a:rPr>
              <a:t>CAPMAS 2025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57744" y="3566160"/>
            <a:ext cx="3462528" cy="1920240"/>
          </a:xfrm>
          <a:prstGeom prst="rect">
            <a:avLst/>
          </a:prstGeom>
          <a:solidFill>
            <a:srgbClr val="181408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-8-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3675888"/>
            <a:ext cx="457200" cy="457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949184" y="3840480"/>
            <a:ext cx="27767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C8A24C"/>
                </a:solidFill>
                <a:latin typeface="Montserrat"/>
              </a:rPr>
              <a:t>33.8%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49184" y="4572000"/>
            <a:ext cx="3279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FFFFFF"/>
                </a:solidFill>
                <a:latin typeface="Inter"/>
              </a:rPr>
              <a:t>بطالة الشابات — الأعلى تاريخياً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49184" y="5138928"/>
            <a:ext cx="32796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C8A24C"/>
                </a:solidFill>
                <a:latin typeface="Inter"/>
              </a:rPr>
              <a:t>CAPMAS 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850696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5028" y="0"/>
            <a:ext cx="6703923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500" y="2606040"/>
            <a:ext cx="50800" cy="164592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0"/>
            <a:ext cx="685800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7315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221A06"/>
                </a:solidFill>
                <a:latin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108630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5400" b="1" i="0">
                <a:solidFill>
                  <a:srgbClr val="FFFFFF"/>
                </a:solidFill>
                <a:latin typeface="Montserrat"/>
              </a:rPr>
              <a:t>الإشكالية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74720"/>
            <a:ext cx="10863072" cy="381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611880"/>
            <a:ext cx="108630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 i="0">
                <a:solidFill>
                  <a:srgbClr val="C8A24C"/>
                </a:solidFill>
                <a:latin typeface="Inter"/>
              </a:rPr>
              <a:t>الشهادة وحدها لا تصنع فرصة عمل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47472" cy="6858000"/>
          </a:xfrm>
          <a:prstGeom prst="rect">
            <a:avLst/>
          </a:prstGeom>
        </p:spPr>
      </p:pic>
      <p:pic>
        <p:nvPicPr>
          <p:cNvPr id="3" name="Picture 2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3152" y="0"/>
            <a:ext cx="6858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47472" y="0"/>
            <a:ext cx="11155680" cy="508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01 · الإشكالية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41148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 i="0">
                <a:solidFill>
                  <a:srgbClr val="FFFFFF"/>
                </a:solidFill>
                <a:latin typeface="Montserrat"/>
              </a:rPr>
              <a:t>الأرقام تحدد الأزمة بدقة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97280"/>
            <a:ext cx="10789920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9612" y="1234440"/>
            <a:ext cx="5280660" cy="1170432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-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1052" y="1325880"/>
            <a:ext cx="420624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33972" y="1289304"/>
            <a:ext cx="45491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000" b="1" i="0">
                <a:solidFill>
                  <a:srgbClr val="C8A24C"/>
                </a:solidFill>
                <a:latin typeface="Montserrat"/>
              </a:rPr>
              <a:t>1.2M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31052" y="1856232"/>
            <a:ext cx="50977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FFFFFF"/>
                </a:solidFill>
                <a:latin typeface="Inter"/>
              </a:rPr>
              <a:t>شاب مصري عاطل عن العمل رغم المؤهلات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31052" y="2240280"/>
            <a:ext cx="50977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 i="1">
                <a:solidFill>
                  <a:srgbClr val="C8A24C"/>
                </a:solidFill>
                <a:latin typeface="Inter"/>
              </a:rPr>
              <a:t>CAPMAS 2025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234440"/>
            <a:ext cx="5280660" cy="1170432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-10-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1325880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24712" y="1289304"/>
            <a:ext cx="45491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000" b="1" i="0">
                <a:solidFill>
                  <a:srgbClr val="C8A24C"/>
                </a:solidFill>
                <a:latin typeface="Montserrat"/>
              </a:rPr>
              <a:t>16.8%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1856232"/>
            <a:ext cx="50977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FFFFFF"/>
                </a:solidFill>
                <a:latin typeface="Inter"/>
              </a:rPr>
              <a:t>بطالة خريجي الجامعات تحديداً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2240280"/>
            <a:ext cx="50977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 i="1">
                <a:solidFill>
                  <a:srgbClr val="C8A24C"/>
                </a:solidFill>
                <a:latin typeface="Inter"/>
              </a:rPr>
              <a:t>CAPMAS 2025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9612" y="2532888"/>
            <a:ext cx="5280660" cy="1170432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-8-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1052" y="2624328"/>
            <a:ext cx="420624" cy="420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633972" y="2587752"/>
            <a:ext cx="45491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000" b="1" i="0">
                <a:solidFill>
                  <a:srgbClr val="C8A24C"/>
                </a:solidFill>
                <a:latin typeface="Montserrat"/>
              </a:rPr>
              <a:t>72%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31052" y="3154680"/>
            <a:ext cx="50977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FFFFFF"/>
                </a:solidFill>
                <a:latin typeface="Inter"/>
              </a:rPr>
              <a:t>من أصحاب العمل: الخريجون غير مؤهلين عملياً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1052" y="3538728"/>
            <a:ext cx="50977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 i="1">
                <a:solidFill>
                  <a:srgbClr val="C8A24C"/>
                </a:solidFill>
                <a:latin typeface="Inter"/>
              </a:rPr>
              <a:t>CAPMAS 2025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2532888"/>
            <a:ext cx="5280660" cy="1170432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-8-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2624328"/>
            <a:ext cx="420624" cy="4206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24712" y="2587752"/>
            <a:ext cx="45491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000" b="1" i="0">
                <a:solidFill>
                  <a:srgbClr val="C8A24C"/>
                </a:solidFill>
                <a:latin typeface="Montserrat"/>
              </a:rPr>
              <a:t>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3154680"/>
            <a:ext cx="50977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FFFFFF"/>
                </a:solidFill>
                <a:latin typeface="Inter"/>
              </a:rPr>
              <a:t>وحدة جامعية تضامن اجتماعي تخدم 250,000 طالب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3538728"/>
            <a:ext cx="50977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 i="1">
                <a:solidFill>
                  <a:srgbClr val="C8A24C"/>
                </a:solidFill>
                <a:latin typeface="Inter"/>
              </a:rPr>
              <a:t>وزارة التضامن 2026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9612" y="3831336"/>
            <a:ext cx="5280660" cy="1170432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-8-1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31052" y="3922776"/>
            <a:ext cx="420624" cy="4206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633972" y="3886200"/>
            <a:ext cx="45491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000" b="1" i="0">
                <a:solidFill>
                  <a:srgbClr val="C8A24C"/>
                </a:solidFill>
                <a:latin typeface="Montserrat"/>
              </a:rPr>
              <a:t>70%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31052" y="4453128"/>
            <a:ext cx="50977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FFFFFF"/>
                </a:solidFill>
                <a:latin typeface="Inter"/>
              </a:rPr>
              <a:t>من أسباب الفشل المهني: نقص المهارات لا نقص الفرص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31052" y="4837176"/>
            <a:ext cx="50977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 i="1">
                <a:solidFill>
                  <a:srgbClr val="C8A24C"/>
                </a:solidFill>
                <a:latin typeface="Inter"/>
              </a:rPr>
              <a:t>ILO 2024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850696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5028" y="0"/>
            <a:ext cx="6703923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500" y="2606040"/>
            <a:ext cx="50800" cy="164592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0"/>
            <a:ext cx="685800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7315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221A06"/>
                </a:solidFill>
                <a:latin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108630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5400" b="1" i="0">
                <a:solidFill>
                  <a:srgbClr val="FFFFFF"/>
                </a:solidFill>
                <a:latin typeface="Montserrat"/>
              </a:rPr>
              <a:t>الحل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74720"/>
            <a:ext cx="10863072" cy="381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611880"/>
            <a:ext cx="108630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 i="0">
                <a:solidFill>
                  <a:srgbClr val="C8A24C"/>
                </a:solidFill>
                <a:latin typeface="Inter"/>
              </a:rPr>
              <a:t>تدريب حقيقي — إثبات حقيقي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47472" cy="6858000"/>
          </a:xfrm>
          <a:prstGeom prst="rect">
            <a:avLst/>
          </a:prstGeom>
        </p:spPr>
      </p:pic>
      <p:pic>
        <p:nvPicPr>
          <p:cNvPr id="3" name="Picture 2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0"/>
            <a:ext cx="6858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47472" y="0"/>
            <a:ext cx="11155680" cy="508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02 · الحل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41148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 i="0">
                <a:solidFill>
                  <a:srgbClr val="FFFFFF"/>
                </a:solidFill>
                <a:latin typeface="Montserrat"/>
              </a:rPr>
              <a:t>كيف يعمل النموذج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51560"/>
            <a:ext cx="10789920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188720"/>
            <a:ext cx="3474720" cy="320040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-15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7672" y="1353312"/>
            <a:ext cx="640080" cy="6400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40080" y="2148840"/>
            <a:ext cx="438912" cy="329184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48840"/>
            <a:ext cx="438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E0E0E"/>
                </a:solidFill>
                <a:latin typeface="Montserra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56032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i="0">
                <a:solidFill>
                  <a:srgbClr val="FFFFFF"/>
                </a:solidFill>
                <a:latin typeface="Montserrat"/>
              </a:rPr>
              <a:t>التشخيص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3090672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FFFFFF"/>
                </a:solidFill>
                <a:latin typeface="Inter"/>
              </a:rPr>
              <a:t>تحليل احتياجات المنطقة والفئة المستهدفة — مسار مخصص لكل دفعة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87952" y="1188720"/>
            <a:ext cx="3474720" cy="3200400"/>
          </a:xfrm>
          <a:prstGeom prst="rect">
            <a:avLst/>
          </a:prstGeom>
          <a:solidFill>
            <a:srgbClr val="201808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-8-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5272" y="1353312"/>
            <a:ext cx="640080" cy="64008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0" y="2148840"/>
            <a:ext cx="438912" cy="329184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0" y="2148840"/>
            <a:ext cx="438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E0E0E"/>
                </a:solidFill>
                <a:latin typeface="Montserrat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392" y="256032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i="0">
                <a:solidFill>
                  <a:srgbClr val="FFFFFF"/>
                </a:solidFill>
                <a:latin typeface="Montserrat"/>
              </a:rPr>
              <a:t>التدريب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9392" y="3090672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FFFFFF"/>
                </a:solidFill>
                <a:latin typeface="Inter"/>
              </a:rPr>
              <a:t>برنامج مكثف 8 أسابيع: مهارات رقمية + ناعمة + محاكاة بيئة العمل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45552" y="1188720"/>
            <a:ext cx="3474720" cy="3200400"/>
          </a:xfrm>
          <a:prstGeom prst="rect">
            <a:avLst/>
          </a:prstGeom>
          <a:solidFill>
            <a:srgbClr val="261E0A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-8-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62872" y="1353312"/>
            <a:ext cx="640080" cy="64008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955280" y="2148840"/>
            <a:ext cx="438912" cy="329184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0" y="2148840"/>
            <a:ext cx="438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E0E0E"/>
                </a:solidFill>
                <a:latin typeface="Montserrat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6992" y="256032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i="0">
                <a:solidFill>
                  <a:srgbClr val="FFFFFF"/>
                </a:solidFill>
                <a:latin typeface="Montserrat"/>
              </a:rPr>
              <a:t>التوظيف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6992" y="3090672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FFFFFF"/>
                </a:solidFill>
                <a:latin typeface="Inter"/>
              </a:rPr>
              <a:t>ربط فوري بشركاء سوق العمل + متابعة 90 يوماً بعد الالتحاق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" y="4526280"/>
            <a:ext cx="10789920" cy="1024128"/>
          </a:xfrm>
          <a:prstGeom prst="rect">
            <a:avLst/>
          </a:prstGeom>
          <a:solidFill>
            <a:srgbClr val="141004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572000"/>
            <a:ext cx="1042416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البيانات الدولية تثبت أن الدمج بين التدريب النظري والتطبيق الفعلي يرفع معدل التوظيف بنسبة تتجاوز 52% مقارنةً بالتدريب التقليدي (IFC 2024). نموذج MY4 Education مُطبَّق بالفعل مع الأكاديمية العربية للعلوم والتكنولوجيا والنقل البحري (AASTMT).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850696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5028" y="0"/>
            <a:ext cx="6703923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500" y="2606040"/>
            <a:ext cx="50800" cy="164592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0"/>
            <a:ext cx="685800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7315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221A06"/>
                </a:solidFill>
                <a:latin typeface="Montserrat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108630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5400" b="1" i="0">
                <a:solidFill>
                  <a:srgbClr val="FFFFFF"/>
                </a:solidFill>
                <a:latin typeface="Montserrat"/>
              </a:rPr>
              <a:t>إثبات النموذج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74720"/>
            <a:ext cx="10863072" cy="381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611880"/>
            <a:ext cx="108630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 i="0">
                <a:solidFill>
                  <a:srgbClr val="C8A24C"/>
                </a:solidFill>
                <a:latin typeface="Inter"/>
              </a:rPr>
              <a:t>التجربة الريادية — الأكاديمية العربية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47472" cy="6858000"/>
          </a:xfrm>
          <a:prstGeom prst="rect">
            <a:avLst/>
          </a:prstGeom>
        </p:spPr>
      </p:pic>
      <p:pic>
        <p:nvPicPr>
          <p:cNvPr id="3" name="Picture 2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3152" y="0"/>
            <a:ext cx="6858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47472" y="0"/>
            <a:ext cx="11155680" cy="508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03 · إثبات النموذج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41148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800" b="1" i="0">
                <a:solidFill>
                  <a:srgbClr val="FFFFFF"/>
                </a:solidFill>
                <a:latin typeface="Montserrat"/>
              </a:rPr>
              <a:t>الأكاديمية العربية — التجربة الريادية على الواقع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97280"/>
            <a:ext cx="10789920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207008"/>
            <a:ext cx="725119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طوّر نموذج MY4 Education شراكةً رائدة داخل الأكاديمية العربية للعلوم والتكنولوجيا والنقل البحري (AASTMT)، وهي من أكبر المؤسسات التعليمية التقنية في المنطقة العربية.</a:t>
            </a:r>
          </a:p>
        </p:txBody>
      </p:sp>
      <p:pic>
        <p:nvPicPr>
          <p:cNvPr id="9" name="Picture 8" descr="image-10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441448"/>
            <a:ext cx="438912" cy="43891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30352" y="2542032"/>
            <a:ext cx="64008" cy="20116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359152"/>
            <a:ext cx="1021384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نسبة توظيف 85% خلال 90 يوماً من إتمام البرنامج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023108"/>
            <a:ext cx="10789920" cy="12700"/>
          </a:xfrm>
          <a:prstGeom prst="rect">
            <a:avLst/>
          </a:prstGeom>
          <a:solidFill>
            <a:srgbClr val="221C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8-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3191256"/>
            <a:ext cx="438912" cy="43891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30352" y="3291840"/>
            <a:ext cx="64008" cy="20116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3108960"/>
            <a:ext cx="1021384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200+ متدرب أتموا البرنامج بنجاح في الدفعات الأولى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" y="3772916"/>
            <a:ext cx="10789920" cy="12700"/>
          </a:xfrm>
          <a:prstGeom prst="rect">
            <a:avLst/>
          </a:prstGeom>
          <a:solidFill>
            <a:srgbClr val="221C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-8-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0" y="3941064"/>
            <a:ext cx="438912" cy="438912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30352" y="4041648"/>
            <a:ext cx="64008" cy="20116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858768"/>
            <a:ext cx="1021384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تقييم رضا المتدربين: 4.8 / 5.0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" y="4522724"/>
            <a:ext cx="10789920" cy="12700"/>
          </a:xfrm>
          <a:prstGeom prst="rect">
            <a:avLst/>
          </a:prstGeom>
          <a:solidFill>
            <a:srgbClr val="221C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-8-2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4690872"/>
            <a:ext cx="438912" cy="43891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30352" y="4791456"/>
            <a:ext cx="64008" cy="20116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4608576"/>
            <a:ext cx="1021384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شركاء توظيف من القطاعين الخاص والحكومي: +16 جهة</a:t>
            </a:r>
          </a:p>
        </p:txBody>
      </p:sp>
      <p:pic>
        <p:nvPicPr>
          <p:cNvPr id="24" name="Picture 23" descr="image-18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472" y="6126480"/>
            <a:ext cx="11155680" cy="384048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850696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5028" y="0"/>
            <a:ext cx="6703923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500" y="2606040"/>
            <a:ext cx="50800" cy="164592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0"/>
            <a:ext cx="685800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7315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221A06"/>
                </a:solidFill>
                <a:latin typeface="Montserrat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108630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5400" b="1" i="0">
                <a:solidFill>
                  <a:srgbClr val="FFFFFF"/>
                </a:solidFill>
                <a:latin typeface="Montserrat"/>
              </a:rPr>
              <a:t>خطة المراحل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74720"/>
            <a:ext cx="10863072" cy="381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611880"/>
            <a:ext cx="108630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 i="0">
                <a:solidFill>
                  <a:srgbClr val="C8A24C"/>
                </a:solidFill>
                <a:latin typeface="Inter"/>
              </a:rPr>
              <a:t>من 60 شابًا إلى برنامج وطني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47472" cy="6858000"/>
          </a:xfrm>
          <a:prstGeom prst="rect">
            <a:avLst/>
          </a:prstGeom>
        </p:spPr>
      </p:pic>
      <p:pic>
        <p:nvPicPr>
          <p:cNvPr id="3" name="Picture 2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0"/>
            <a:ext cx="6858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47472" y="0"/>
            <a:ext cx="11155680" cy="508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04 · خطة المراحل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41148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 i="0">
                <a:solidFill>
                  <a:srgbClr val="FFFFFF"/>
                </a:solidFill>
                <a:latin typeface="Montserrat"/>
              </a:rPr>
              <a:t>مسار التوسع المتدرج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51560"/>
            <a:ext cx="10789920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234440"/>
            <a:ext cx="3474720" cy="4846320"/>
          </a:xfrm>
          <a:prstGeom prst="rect">
            <a:avLst/>
          </a:prstGeom>
          <a:solidFill>
            <a:srgbClr val="161206"/>
          </a:solidFill>
          <a:ln w="254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1234440"/>
            <a:ext cx="3474720" cy="9144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8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7672" y="1399032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" y="21488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1" i="0">
                <a:solidFill>
                  <a:srgbClr val="C8A24C"/>
                </a:solidFill>
                <a:latin typeface="Inter"/>
              </a:rPr>
              <a:t>المرحلة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9631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 i="0">
                <a:solidFill>
                  <a:srgbClr val="FFFFFF"/>
                </a:solidFill>
                <a:latin typeface="Montserrat"/>
              </a:rPr>
              <a:t>المرحلة التجريبية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2990088"/>
            <a:ext cx="3291840" cy="274320"/>
          </a:xfrm>
          <a:prstGeom prst="rect">
            <a:avLst/>
          </a:prstGeom>
          <a:solidFill>
            <a:srgbClr val="2A22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299008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Q1–Q2 ٢٠٢٦  ·  300 شاب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3319271"/>
            <a:ext cx="3291840" cy="127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9040" y="3639312"/>
            <a:ext cx="54864" cy="18288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74720"/>
            <a:ext cx="3063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3 مراكز تجريبية في 3 محافظات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4462272"/>
            <a:ext cx="54864" cy="18288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297680"/>
            <a:ext cx="3063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تطوير المناهج مع 5 شركاء صناعيين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9040" y="5285232"/>
            <a:ext cx="54864" cy="18288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5120640"/>
            <a:ext cx="3063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قياس أثر شامل ونظام تقارير للوزارة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87952" y="1234440"/>
            <a:ext cx="3474720" cy="4846320"/>
          </a:xfrm>
          <a:prstGeom prst="rect">
            <a:avLst/>
          </a:prstGeom>
          <a:solidFill>
            <a:srgbClr val="161206"/>
          </a:solidFill>
          <a:ln w="25400">
            <a:solidFill>
              <a:srgbClr val="E0BC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87952" y="1234440"/>
            <a:ext cx="3474720" cy="91440"/>
          </a:xfrm>
          <a:prstGeom prst="rect">
            <a:avLst/>
          </a:prstGeom>
          <a:solidFill>
            <a:srgbClr val="E0BC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-8-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5272" y="1399032"/>
            <a:ext cx="640080" cy="6400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279392" y="21488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1" i="0">
                <a:solidFill>
                  <a:srgbClr val="E0BC60"/>
                </a:solidFill>
                <a:latin typeface="Inter"/>
              </a:rPr>
              <a:t>المرحلة 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249631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 i="0">
                <a:solidFill>
                  <a:srgbClr val="FFFFFF"/>
                </a:solidFill>
                <a:latin typeface="Montserrat"/>
              </a:rPr>
              <a:t>مرحلة التوسع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79392" y="2990088"/>
            <a:ext cx="3291840" cy="274320"/>
          </a:xfrm>
          <a:prstGeom prst="rect">
            <a:avLst/>
          </a:prstGeom>
          <a:solidFill>
            <a:srgbClr val="2A22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299008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Q3–Q4 ٢٠٢٦  ·  1,000 شاب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9392" y="3319271"/>
            <a:ext cx="3291840" cy="127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06640" y="3639312"/>
            <a:ext cx="54864" cy="18288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79392" y="3474720"/>
            <a:ext cx="3063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10 مراكز — 5 محافظات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06640" y="4462272"/>
            <a:ext cx="54864" cy="18288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79392" y="4297680"/>
            <a:ext cx="3063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مسار مخصص للشابات (بطالة 33.8%)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06640" y="5285232"/>
            <a:ext cx="54864" cy="18288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79392" y="5120640"/>
            <a:ext cx="3063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إدراج ضمن برنامج ستارت 2026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45552" y="1234440"/>
            <a:ext cx="3474720" cy="4846320"/>
          </a:xfrm>
          <a:prstGeom prst="rect">
            <a:avLst/>
          </a:prstGeom>
          <a:solidFill>
            <a:srgbClr val="161206"/>
          </a:solidFill>
          <a:ln w="25400">
            <a:solidFill>
              <a:srgbClr val="A8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45552" y="1234440"/>
            <a:ext cx="3474720" cy="91440"/>
          </a:xfrm>
          <a:prstGeom prst="rect">
            <a:avLst/>
          </a:prstGeom>
          <a:solidFill>
            <a:srgbClr val="A8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-8-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62872" y="1399032"/>
            <a:ext cx="640080" cy="6400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936992" y="21488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1" i="0">
                <a:solidFill>
                  <a:srgbClr val="A8823C"/>
                </a:solidFill>
                <a:latin typeface="Inter"/>
              </a:rPr>
              <a:t>المرحلة 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36992" y="249631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 i="0">
                <a:solidFill>
                  <a:srgbClr val="FFFFFF"/>
                </a:solidFill>
                <a:latin typeface="Montserrat"/>
              </a:rPr>
              <a:t>الانطلاق الوطني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36992" y="2990088"/>
            <a:ext cx="3291840" cy="274320"/>
          </a:xfrm>
          <a:prstGeom prst="rect">
            <a:avLst/>
          </a:prstGeom>
          <a:solidFill>
            <a:srgbClr val="2A22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36992" y="299008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٢٠٢٧  ·  10,000 شاب / سنة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36992" y="3319271"/>
            <a:ext cx="3291840" cy="127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064240" y="3639312"/>
            <a:ext cx="54864" cy="18288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36992" y="3474720"/>
            <a:ext cx="3063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تغطية 27 محافظة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064240" y="4462272"/>
            <a:ext cx="54864" cy="18288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36992" y="4297680"/>
            <a:ext cx="3063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شبكة توظيف تضم 200+ شركة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064240" y="5285232"/>
            <a:ext cx="54864" cy="18288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36992" y="5120640"/>
            <a:ext cx="3063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نموذج ذاتي الاستدامة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850696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5028" y="0"/>
            <a:ext cx="6703923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500" y="2606040"/>
            <a:ext cx="50800" cy="164592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0"/>
            <a:ext cx="685800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7315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221A06"/>
                </a:solidFill>
                <a:latin typeface="Montserrat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108630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5400" b="1" i="0">
                <a:solidFill>
                  <a:srgbClr val="FFFFFF"/>
                </a:solidFill>
                <a:latin typeface="Montserrat"/>
              </a:rPr>
              <a:t>المؤشرات والأثر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74720"/>
            <a:ext cx="10863072" cy="381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611880"/>
            <a:ext cx="108630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 i="0">
                <a:solidFill>
                  <a:srgbClr val="C8A24C"/>
                </a:solidFill>
                <a:latin typeface="Inter"/>
              </a:rPr>
              <a:t>أرقام نقدمها ونتحمل مسؤوليتها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47472" cy="6858000"/>
          </a:xfrm>
          <a:prstGeom prst="rect">
            <a:avLst/>
          </a:prstGeom>
        </p:spPr>
      </p:pic>
      <p:pic>
        <p:nvPicPr>
          <p:cNvPr id="3" name="Picture 2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0"/>
            <a:ext cx="6858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47472" y="0"/>
            <a:ext cx="11155680" cy="508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05 · المؤشرات والأثر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41148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 i="0">
                <a:solidFill>
                  <a:srgbClr val="FFFFFF"/>
                </a:solidFill>
                <a:latin typeface="Montserrat"/>
              </a:rPr>
              <a:t>التزاماتنا القابلة للقياس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51560"/>
            <a:ext cx="10789920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234440"/>
            <a:ext cx="2574036" cy="233172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-8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050" y="1344168"/>
            <a:ext cx="548640" cy="548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" y="1984248"/>
            <a:ext cx="239115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i="0">
                <a:solidFill>
                  <a:srgbClr val="C8A24C"/>
                </a:solidFill>
                <a:latin typeface="Montserrat"/>
              </a:rPr>
              <a:t>85%+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651760"/>
            <a:ext cx="23911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1" i="0">
                <a:solidFill>
                  <a:srgbClr val="FFFFFF"/>
                </a:solidFill>
                <a:latin typeface="Inter"/>
              </a:rPr>
              <a:t>نسبة التوظيف الفعال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108959"/>
            <a:ext cx="23911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خلال 90 يوماً من إتمام التدريب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8980" y="1234440"/>
            <a:ext cx="2574036" cy="233172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-8-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1678" y="1344168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360420" y="1984248"/>
            <a:ext cx="239115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i="0">
                <a:solidFill>
                  <a:srgbClr val="C8A24C"/>
                </a:solidFill>
                <a:latin typeface="Montserrat"/>
              </a:rPr>
              <a:t>4.8/5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0420" y="2651760"/>
            <a:ext cx="23911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1" i="0">
                <a:solidFill>
                  <a:srgbClr val="FFFFFF"/>
                </a:solidFill>
                <a:latin typeface="Inter"/>
              </a:rPr>
              <a:t>رضا المتدربين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60420" y="3108959"/>
            <a:ext cx="23911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تقييم مستقل بعد إتمام البرنامج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07608" y="1234440"/>
            <a:ext cx="2574036" cy="233172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-8-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0306" y="1344168"/>
            <a:ext cx="548640" cy="5486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99048" y="1984248"/>
            <a:ext cx="239115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i="0">
                <a:solidFill>
                  <a:srgbClr val="C8A24C"/>
                </a:solidFill>
                <a:latin typeface="Montserrat"/>
              </a:rPr>
              <a:t>96%+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9048" y="2651760"/>
            <a:ext cx="23911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1" i="0">
                <a:solidFill>
                  <a:srgbClr val="FFFFFF"/>
                </a:solidFill>
                <a:latin typeface="Inter"/>
              </a:rPr>
              <a:t>رضا أصحاب العمل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9048" y="3108959"/>
            <a:ext cx="23911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قياس بعد 6 أشهر من التوظيف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46236" y="1234440"/>
            <a:ext cx="2574036" cy="233172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-8-1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58934" y="1344168"/>
            <a:ext cx="548640" cy="5486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37676" y="1984248"/>
            <a:ext cx="239115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i="0">
                <a:solidFill>
                  <a:srgbClr val="C8A24C"/>
                </a:solidFill>
                <a:latin typeface="Montserrat"/>
              </a:rPr>
              <a:t>+52%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7676" y="2651760"/>
            <a:ext cx="23911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1" i="0">
                <a:solidFill>
                  <a:srgbClr val="FFFFFF"/>
                </a:solidFill>
                <a:latin typeface="Inter"/>
              </a:rPr>
              <a:t>تحسن معدل التوظيف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7676" y="3108959"/>
            <a:ext cx="23911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فوق المتوسط مقارنةً بالتدريب التقليدي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3712463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1" i="0">
                <a:solidFill>
                  <a:srgbClr val="C8A24C"/>
                </a:solidFill>
                <a:latin typeface="Montserrat"/>
              </a:rPr>
              <a:t>التزامات إضافية:</a:t>
            </a:r>
          </a:p>
        </p:txBody>
      </p:sp>
      <p:pic>
        <p:nvPicPr>
          <p:cNvPr id="29" name="Picture 28" descr="image-10-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8384" y="4078224"/>
            <a:ext cx="402336" cy="40233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30352" y="4096512"/>
            <a:ext cx="4754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FFFFFF"/>
                </a:solidFill>
                <a:latin typeface="Inter"/>
              </a:rPr>
              <a:t>توفير لوحة بيانات حية للوزارة تُحدَّث شهرياً</a:t>
            </a:r>
          </a:p>
        </p:txBody>
      </p:sp>
      <p:pic>
        <p:nvPicPr>
          <p:cNvPr id="31" name="Picture 30" descr="image-8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44784" y="4078224"/>
            <a:ext cx="402336" cy="40233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16752" y="4096512"/>
            <a:ext cx="4754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FFFFFF"/>
                </a:solidFill>
                <a:latin typeface="Inter"/>
              </a:rPr>
              <a:t>تقارير ربع سنوية مستقلة من جهة تقييم خارجية</a:t>
            </a:r>
          </a:p>
        </p:txBody>
      </p:sp>
      <p:pic>
        <p:nvPicPr>
          <p:cNvPr id="33" name="Picture 32" descr="image-8-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8384" y="4553712"/>
            <a:ext cx="402336" cy="402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30352" y="4572000"/>
            <a:ext cx="4754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FFFFFF"/>
                </a:solidFill>
                <a:latin typeface="Inter"/>
              </a:rPr>
              <a:t>شراكة بحثية مع الجامعات لنشر نتائج النموذج دولياً</a:t>
            </a:r>
          </a:p>
        </p:txBody>
      </p:sp>
      <p:pic>
        <p:nvPicPr>
          <p:cNvPr id="35" name="Picture 34" descr="image-8-1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44784" y="4553712"/>
            <a:ext cx="402336" cy="40233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016752" y="4572000"/>
            <a:ext cx="4754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FFFFFF"/>
                </a:solidFill>
                <a:latin typeface="Inter"/>
              </a:rPr>
              <a:t>آلية استرداد جزئي في حال عدم تحقيق مؤشر التوظيف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850696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5028" y="0"/>
            <a:ext cx="6703923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500" y="2606040"/>
            <a:ext cx="50800" cy="164592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0"/>
            <a:ext cx="685800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7315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221A06"/>
                </a:solidFill>
                <a:latin typeface="Montserrat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108630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5400" b="1" i="0">
                <a:solidFill>
                  <a:srgbClr val="FFFFFF"/>
                </a:solidFill>
                <a:latin typeface="Montserrat"/>
              </a:rPr>
              <a:t>التوافق والطلب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74720"/>
            <a:ext cx="10863072" cy="381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611880"/>
            <a:ext cx="108630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 i="0">
                <a:solidFill>
                  <a:srgbClr val="C8A24C"/>
                </a:solidFill>
                <a:latin typeface="Inter"/>
              </a:rPr>
              <a:t>تحالف محكم مع أولويات الوزارة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47472" cy="6858000"/>
          </a:xfrm>
          <a:prstGeom prst="rect">
            <a:avLst/>
          </a:prstGeom>
        </p:spPr>
      </p:pic>
      <p:pic>
        <p:nvPicPr>
          <p:cNvPr id="3" name="Picture 2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3152" y="0"/>
            <a:ext cx="6858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47472" y="0"/>
            <a:ext cx="11155680" cy="508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06 · التوافق والطلب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41148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 i="0">
                <a:solidFill>
                  <a:srgbClr val="FFFFFF"/>
                </a:solidFill>
                <a:latin typeface="Montserrat"/>
              </a:rPr>
              <a:t>لماذا هذا الوقت بالتحديد؟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51560"/>
            <a:ext cx="10789920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234440"/>
            <a:ext cx="5303520" cy="786384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-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399032"/>
            <a:ext cx="438912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" y="1289304"/>
            <a:ext cx="46451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1" i="0">
                <a:solidFill>
                  <a:srgbClr val="C8A24C"/>
                </a:solidFill>
                <a:latin typeface="Montserrat"/>
              </a:rPr>
              <a:t>برنامج ستارت ٢٠٢٦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36776"/>
            <a:ext cx="46451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شراكة أورنج مصر — الوزارة تبحث عن شركاء تنفيذيين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16752" y="1234440"/>
            <a:ext cx="5303520" cy="786384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8-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9920" y="1399032"/>
            <a:ext cx="438912" cy="4389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08192" y="1289304"/>
            <a:ext cx="46451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1" i="0">
                <a:solidFill>
                  <a:srgbClr val="C8A24C"/>
                </a:solidFill>
                <a:latin typeface="Montserrat"/>
              </a:rPr>
              <a:t>ملتقى خطوة ٢٠٢٦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1636776"/>
            <a:ext cx="46451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MY4 جاهزة للمشاركة كشريك تنفيذي في الملتقى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" y="2148840"/>
            <a:ext cx="5303520" cy="786384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-8-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0" y="2313432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1792" y="2203704"/>
            <a:ext cx="46451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1" i="0">
                <a:solidFill>
                  <a:srgbClr val="C8A24C"/>
                </a:solidFill>
                <a:latin typeface="Montserrat"/>
              </a:rPr>
              <a:t>31 وحدة جامعية تضامن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2551176"/>
            <a:ext cx="46451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قناة توزيع مثالية لبرامج MY4 — 250,000 طالب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16752" y="2148840"/>
            <a:ext cx="5303520" cy="786384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-8-2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89920" y="2313432"/>
            <a:ext cx="438912" cy="43891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108192" y="2203704"/>
            <a:ext cx="46451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1" i="0">
                <a:solidFill>
                  <a:srgbClr val="C8A24C"/>
                </a:solidFill>
                <a:latin typeface="Montserrat"/>
              </a:rPr>
              <a:t>رؤية مصر 2030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08192" y="2551176"/>
            <a:ext cx="46451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رفع نسبة مشاركة الشباب في سوق العمل إلى 52%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0352" y="3175000"/>
            <a:ext cx="10789920" cy="2540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2004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A4232A"/>
                </a:solidFill>
                <a:latin typeface="Montserrat"/>
              </a:rPr>
              <a:t>المطلوب من الوزارة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" y="3639312"/>
            <a:ext cx="5303520" cy="1920240"/>
          </a:xfrm>
          <a:prstGeom prst="rect">
            <a:avLst/>
          </a:prstGeom>
          <a:solidFill>
            <a:srgbClr val="201010"/>
          </a:solidFill>
          <a:ln w="12700">
            <a:solidFill>
              <a:srgbClr val="A4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0352" y="3639312"/>
            <a:ext cx="5303520" cy="9144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3749040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1" i="0">
                <a:solidFill>
                  <a:srgbClr val="A4232A"/>
                </a:solidFill>
                <a:latin typeface="Montserrat"/>
              </a:rPr>
              <a:t>أولاً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" y="4078224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 i="0">
                <a:solidFill>
                  <a:srgbClr val="FFFFFF"/>
                </a:solidFill>
                <a:latin typeface="Montserrat"/>
              </a:rPr>
              <a:t>الرعاية الرسمية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4507992"/>
            <a:ext cx="5120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اتفاقية شراكة رسمية تُخوّل MY4 العمل تحت مظلة الوزارة والوصول إلى شبكة الوحدات الجامعية الـ31.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16752" y="3639312"/>
            <a:ext cx="5303520" cy="1920240"/>
          </a:xfrm>
          <a:prstGeom prst="rect">
            <a:avLst/>
          </a:prstGeom>
          <a:solidFill>
            <a:srgbClr val="201010"/>
          </a:solidFill>
          <a:ln w="12700">
            <a:solidFill>
              <a:srgbClr val="A4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16752" y="3639312"/>
            <a:ext cx="5303520" cy="9144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08192" y="3749040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1" i="0">
                <a:solidFill>
                  <a:srgbClr val="A4232A"/>
                </a:solidFill>
                <a:latin typeface="Montserrat"/>
              </a:rPr>
              <a:t>ثانياً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08192" y="4078224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 i="0">
                <a:solidFill>
                  <a:srgbClr val="FFFFFF"/>
                </a:solidFill>
                <a:latin typeface="Montserrat"/>
              </a:rPr>
              <a:t>الدعم اللوجستي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8192" y="4507992"/>
            <a:ext cx="5120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مساحات تدريب في المحافظات وإدراج البرنامج ضمن مبادرتَي ستارت وخطوة 2026 للوصول إلى الفئة المستهدفة.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Picture 2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0"/>
            <a:ext cx="6858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500" y="2743200"/>
            <a:ext cx="50800" cy="137160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0"/>
            <a:ext cx="1113739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0" b="1" i="0">
                <a:solidFill>
                  <a:srgbClr val="FFFFFF"/>
                </a:solidFill>
                <a:latin typeface="Montserrat"/>
              </a:rPr>
              <a:t>MY4 Education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926080"/>
            <a:ext cx="11137392" cy="381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3063240"/>
            <a:ext cx="111373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 i="0">
                <a:solidFill>
                  <a:srgbClr val="C8A24C"/>
                </a:solidFill>
                <a:latin typeface="Inter"/>
              </a:rPr>
              <a:t>تأهيل حقيقي · توظيف حقيقي · أثر وطني</a:t>
            </a:r>
          </a:p>
        </p:txBody>
      </p:sp>
      <p:pic>
        <p:nvPicPr>
          <p:cNvPr id="9" name="Picture 8" descr="image-8-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6224" y="3904488"/>
            <a:ext cx="41148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3840480"/>
            <a:ext cx="105704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المؤسس:  محمود جاداللا — Mahmoud Gadalla</a:t>
            </a:r>
          </a:p>
        </p:txBody>
      </p:sp>
      <p:pic>
        <p:nvPicPr>
          <p:cNvPr id="11" name="Picture 10" descr="image-15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6224" y="4471416"/>
            <a:ext cx="411480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4320" y="4407408"/>
            <a:ext cx="105704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البريد الإلكتروني:  Gadalla111@gmail.com</a:t>
            </a:r>
          </a:p>
        </p:txBody>
      </p:sp>
      <p:pic>
        <p:nvPicPr>
          <p:cNvPr id="13" name="Picture 12" descr="image-8-1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36224" y="5038344"/>
            <a:ext cx="411480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74320" y="4974336"/>
            <a:ext cx="105704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الهاتف:  +20 111 037 111</a:t>
            </a:r>
          </a:p>
        </p:txBody>
      </p:sp>
      <p:pic>
        <p:nvPicPr>
          <p:cNvPr id="15" name="Picture 14" descr="image-18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455664"/>
            <a:ext cx="11503152" cy="40233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