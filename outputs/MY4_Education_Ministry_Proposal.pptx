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Relationship Id="rId6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9.png"/><Relationship Id="rId4" Type="http://schemas.openxmlformats.org/officeDocument/2006/relationships/image" Target="../media/image20.png"/><Relationship Id="rId5" Type="http://schemas.openxmlformats.org/officeDocument/2006/relationships/image" Target="../media/image17.png"/><Relationship Id="rId6" Type="http://schemas.openxmlformats.org/officeDocument/2006/relationships/image" Target="../media/image6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Relationship Id="rId4" Type="http://schemas.openxmlformats.org/officeDocument/2006/relationships/image" Target="../media/image25.png"/><Relationship Id="rId5" Type="http://schemas.openxmlformats.org/officeDocument/2006/relationships/image" Target="../media/image18.png"/><Relationship Id="rId6" Type="http://schemas.openxmlformats.org/officeDocument/2006/relationships/image" Target="../media/image26.png"/><Relationship Id="rId7" Type="http://schemas.openxmlformats.org/officeDocument/2006/relationships/image" Target="../media/image17.png"/><Relationship Id="rId8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17.png"/><Relationship Id="rId6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447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656685" y="0"/>
            <a:ext cx="8532266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63500" cy="67945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وزارة التضامن الاجتماعي — جمهورية مصر العربية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5992" y="9144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831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200" b="1" i="0">
                <a:solidFill>
                  <a:srgbClr val="FFFFFF"/>
                </a:solidFill>
                <a:latin typeface="Montserrat"/>
              </a:rPr>
              <a:t>مبادرة وطنية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1118311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0" i="0">
                <a:solidFill>
                  <a:srgbClr val="C8A24C"/>
                </a:solidFill>
                <a:latin typeface="Inter"/>
              </a:rPr>
              <a:t>لتأهيل الشباب وتمكينهم اقتصادياً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886200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 i="1">
                <a:solidFill>
                  <a:srgbClr val="FFFFFF"/>
                </a:solidFill>
                <a:latin typeface="Inter"/>
              </a:rPr>
              <a:t>من قاعة الدارس إلى سوق العمل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480560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6177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FFFFFF"/>
                </a:solidFill>
                <a:latin typeface="Montserrat"/>
              </a:rPr>
              <a:t>MY4 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166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C8A24C"/>
                </a:solidFill>
                <a:latin typeface="Inter"/>
              </a:rPr>
              <a:t>٢٠٢٦</a:t>
            </a:r>
          </a:p>
        </p:txBody>
      </p:sp>
      <p:pic>
        <p:nvPicPr>
          <p:cNvPr id="14" name="Picture 13" descr="image-1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10528"/>
            <a:ext cx="1218895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فهرس المحتويات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02 / 24</a:t>
            </a:r>
          </a:p>
        </p:txBody>
      </p:sp>
      <p:pic>
        <p:nvPicPr>
          <p:cNvPr id="10" name="Picture 9" descr="image-10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0544" y="1335024"/>
            <a:ext cx="475488" cy="47548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0643616" y="1371600"/>
            <a:ext cx="457200" cy="34747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43616" y="137160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225296"/>
            <a:ext cx="10021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الإشكالية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591056"/>
            <a:ext cx="10021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الشهادة وحدها لا تصنع فرصة عمل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962404"/>
            <a:ext cx="1118311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0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0544" y="2139696"/>
            <a:ext cx="475488" cy="47548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0643616" y="2176272"/>
            <a:ext cx="457200" cy="34747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43616" y="217627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029968"/>
            <a:ext cx="10021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الحل والمنهج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95728"/>
            <a:ext cx="10021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نموذج مُثبَت ومنهج معتمد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767076"/>
            <a:ext cx="1118311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10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2944368"/>
            <a:ext cx="475488" cy="47548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10643616" y="2980944"/>
            <a:ext cx="457200" cy="34747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43616" y="298094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834640"/>
            <a:ext cx="10021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إثبات النموذج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200400"/>
            <a:ext cx="10021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الأكاديمية العربية — نتائج موثقة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571748"/>
            <a:ext cx="1118311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-10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10544" y="3749040"/>
            <a:ext cx="475488" cy="47548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10643616" y="3785616"/>
            <a:ext cx="457200" cy="34747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43616" y="378561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39312"/>
            <a:ext cx="10021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الخطة والميزانية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005072"/>
            <a:ext cx="10021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مسار توسع متدرج بأرقام دقيقة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76420"/>
            <a:ext cx="1118311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-10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10544" y="4553712"/>
            <a:ext cx="475488" cy="475488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10643616" y="4590288"/>
            <a:ext cx="457200" cy="34747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43616" y="4590288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443984"/>
            <a:ext cx="10021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المؤشرات والمتابعة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809744"/>
            <a:ext cx="10021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التزامات قابلة للقياس + بند استرداد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181092"/>
            <a:ext cx="1118311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-10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10544" y="5358384"/>
            <a:ext cx="475488" cy="475488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10643616" y="5394960"/>
            <a:ext cx="457200" cy="34747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43616" y="5394960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248656"/>
            <a:ext cx="10021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MY4 Education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614416"/>
            <a:ext cx="10021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الكيان القانوني والفريق والمنافسون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985764"/>
            <a:ext cx="1118311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-8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10544" y="6163056"/>
            <a:ext cx="475488" cy="475488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10643616" y="6199632"/>
            <a:ext cx="457200" cy="34747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643616" y="619963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053328"/>
            <a:ext cx="10021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الطلب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19088"/>
            <a:ext cx="10021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ماذا نطلب من الوزارة بالتحديد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ملخص تنفيذي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الأزمة واضحة — الحل موجود — الطلب محدد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03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805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FFFFFF"/>
                </a:solidFill>
                <a:latin typeface="Inter"/>
              </a:rPr>
              <a:t>تطلب MY4 Education — شركة مصرية مسجلة (س.م.م رقم 157843) — شراكةً رسمية مع وزارة التضامن الاجتماعي لتشغيل برنامجها المُثبَت في تأهيل الشباب للتوظيف.
المطلوب: اتفاقية شراكة + إتاحة 3 مراكز تدريبية + إدراج ضمن برنامج ستارت 2026. التكلفة على الوزارة: 3.6 مليون جنيه للمرحلة التجريبية (300 متدرب / 10 أشهر). العائد المتوقع: 255 متدرباً موظفاً خلال 90 يوماً من إتمام البرنامج.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154680"/>
            <a:ext cx="3575304" cy="214884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3282696"/>
            <a:ext cx="475488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4360" y="3410712"/>
            <a:ext cx="33924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C8A24C"/>
                </a:solidFill>
                <a:latin typeface="Montserrat"/>
              </a:rPr>
              <a:t>13.2%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3392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معدل بطالة الشباب — مصر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892040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C8A24C"/>
                </a:solidFill>
                <a:latin typeface="Inter"/>
              </a:rPr>
              <a:t>CAPMAS: نشرة سوق العمل Q1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3154680"/>
            <a:ext cx="3575304" cy="214884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8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3282696"/>
            <a:ext cx="475488" cy="4754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98264" y="3410712"/>
            <a:ext cx="33924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C8A24C"/>
                </a:solidFill>
                <a:latin typeface="Montserrat"/>
              </a:rPr>
              <a:t>16.9%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8264" y="4251960"/>
            <a:ext cx="3392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بطالة الفئة 20–24 سنة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892040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C8A24C"/>
                </a:solidFill>
                <a:latin typeface="Inter"/>
              </a:rPr>
              <a:t>CAPMAS: نشرة سوق العمل Q1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0728" y="3154680"/>
            <a:ext cx="3575304" cy="214884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8-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3282696"/>
            <a:ext cx="475488" cy="4754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02168" y="3410712"/>
            <a:ext cx="339242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C8A24C"/>
                </a:solidFill>
                <a:latin typeface="Montserrat"/>
              </a:rPr>
              <a:t>33.8%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4251960"/>
            <a:ext cx="33924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بطالة الشابات — الأعلى منذ 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4892040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C8A24C"/>
                </a:solidFill>
                <a:latin typeface="Inter"/>
              </a:rPr>
              <a:t>CAPMAS: نشرة سوق العمل Q1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447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75426" y="0"/>
            <a:ext cx="381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57200"/>
            <a:ext cx="5728716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201806"/>
                </a:solidFill>
                <a:latin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8255" y="2103120"/>
            <a:ext cx="53631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600" b="1" i="0">
                <a:solidFill>
                  <a:srgbClr val="FFFFFF"/>
                </a:solidFill>
                <a:latin typeface="Montserrat"/>
              </a:rPr>
              <a:t>الإشكالية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8255" y="3566160"/>
            <a:ext cx="5363138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8255" y="3703320"/>
            <a:ext cx="536313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الشهادة وحدها لا تصنع فرصة عمل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01 · الإشكالية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الأرقام تحدد الأزمة بدقة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05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490972" cy="123444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316736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1280160"/>
            <a:ext cx="47228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C8A24C"/>
                </a:solidFill>
                <a:latin typeface="Montserrat"/>
              </a:rPr>
              <a:t>1.2M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865376"/>
            <a:ext cx="52715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شاب مصري عاطل عن العمل رغم المؤهلات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276856"/>
            <a:ext cx="52715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60" y="1207008"/>
            <a:ext cx="5490972" cy="123444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0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788" y="1316736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3428" y="1280160"/>
            <a:ext cx="47228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C8A24C"/>
                </a:solidFill>
                <a:latin typeface="Montserrat"/>
              </a:rPr>
              <a:t>16.8%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4788" y="1865376"/>
            <a:ext cx="52715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بطالة خريجي الجامعات تحديداً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4788" y="2276856"/>
            <a:ext cx="52715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5490972" cy="123444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8-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688336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61288" y="2651760"/>
            <a:ext cx="47228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C8A24C"/>
                </a:solidFill>
                <a:latin typeface="Montserrat"/>
              </a:rPr>
              <a:t>72%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3236976"/>
            <a:ext cx="52715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من أصحاب العمل: الخريجون غير مؤهلين عملياً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3648456"/>
            <a:ext cx="52715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60" y="2578608"/>
            <a:ext cx="5490972" cy="123444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8-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4788" y="268833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53428" y="2651760"/>
            <a:ext cx="47228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C8A24C"/>
                </a:solidFill>
                <a:latin typeface="Montserrat"/>
              </a:rPr>
              <a:t>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4788" y="3236976"/>
            <a:ext cx="52715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وحدة جامعية تضامن اجتماعي تخدم 250,000 طالب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4788" y="3648456"/>
            <a:ext cx="52715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C8A24C"/>
                </a:solidFill>
                <a:latin typeface="Inter"/>
              </a:rPr>
              <a:t>وزارة التضامن 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950208"/>
            <a:ext cx="5490972" cy="123444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-8-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" y="4059936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161288" y="4023360"/>
            <a:ext cx="47228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C8A24C"/>
                </a:solidFill>
                <a:latin typeface="Montserrat"/>
              </a:rPr>
              <a:t>70%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" y="4608576"/>
            <a:ext cx="52715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من أسباب الفشل المهني: نقص المهارات لا نقص الفرص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5020056"/>
            <a:ext cx="52715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C8A24C"/>
                </a:solidFill>
                <a:latin typeface="Inter"/>
              </a:rPr>
              <a:t>ILO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447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75426" y="0"/>
            <a:ext cx="381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57200"/>
            <a:ext cx="5728716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201806"/>
                </a:solidFill>
                <a:latin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8255" y="2103120"/>
            <a:ext cx="53631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600" b="1" i="0">
                <a:solidFill>
                  <a:srgbClr val="FFFFFF"/>
                </a:solidFill>
                <a:latin typeface="Montserrat"/>
              </a:rPr>
              <a:t>الحل والمنهج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8255" y="3566160"/>
            <a:ext cx="5363138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8255" y="3703320"/>
            <a:ext cx="536313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نموذج مُثبَت ومنهج معتمد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02 · الحل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كيف يعمل النموذج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07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3593592" cy="329184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3593592" cy="9144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1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244" y="1389888"/>
            <a:ext cx="694944" cy="69494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30936" y="2231136"/>
            <a:ext cx="475488" cy="34747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311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0E0E"/>
                </a:solidFill>
                <a:latin typeface="Montserrat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2670048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i="0">
                <a:solidFill>
                  <a:srgbClr val="FFFFFF"/>
                </a:solidFill>
                <a:latin typeface="Montserrat"/>
              </a:rPr>
              <a:t>التشخيص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3236976"/>
            <a:ext cx="33375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تحليل احتياجات المنطقة وأصحاب العمل — مسار مخصص لكل دفعة قبل بدء التدريب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207008"/>
            <a:ext cx="3593592" cy="3291840"/>
          </a:xfrm>
          <a:prstGeom prst="rect">
            <a:avLst/>
          </a:prstGeom>
          <a:solidFill>
            <a:srgbClr val="2018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207008"/>
            <a:ext cx="3593592" cy="9144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8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7004" y="1389888"/>
            <a:ext cx="694944" cy="6949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425696" y="2231136"/>
            <a:ext cx="475488" cy="34747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22311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0E0E"/>
                </a:solidFill>
                <a:latin typeface="Montserrat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2670048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i="0">
                <a:solidFill>
                  <a:srgbClr val="FFFFFF"/>
                </a:solidFill>
                <a:latin typeface="Montserrat"/>
              </a:rPr>
              <a:t>التدريب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3236976"/>
            <a:ext cx="33375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8 أسابيع مكثفة: مهارات رقمية + ناعمة + محاكاة بيئة العمل الفعلية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1207008"/>
            <a:ext cx="3593592" cy="3291840"/>
          </a:xfrm>
          <a:prstGeom prst="rect">
            <a:avLst/>
          </a:prstGeom>
          <a:solidFill>
            <a:srgbClr val="261E0A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207008"/>
            <a:ext cx="3593592" cy="9144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8-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389888"/>
            <a:ext cx="694944" cy="694944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8220456" y="2231136"/>
            <a:ext cx="475488" cy="34747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0456" y="22311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0E0E"/>
                </a:solidFill>
                <a:latin typeface="Montserrat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0456" y="2670048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i="0">
                <a:solidFill>
                  <a:srgbClr val="FFFFFF"/>
                </a:solidFill>
                <a:latin typeface="Montserrat"/>
              </a:rPr>
              <a:t>التوظيف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0456" y="3236976"/>
            <a:ext cx="33375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ربط مضمون بأصحاب العمل الشركاء + متابعة موثقة 90 يوماً بعد الالتحاق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645152"/>
            <a:ext cx="11183112" cy="1005840"/>
          </a:xfrm>
          <a:prstGeom prst="rect">
            <a:avLst/>
          </a:prstGeom>
          <a:solidFill>
            <a:srgbClr val="141004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" y="4736592"/>
            <a:ext cx="108539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الدمج بين التدريب النظري والتطبيق الفعلي يرفع معدل التوظيف 52%+ مقارنةً بالتدريب التقليدي (IFC: Workforce Development Report, 2024, p.47). النموذج مُطبَّق بالفعل مع AASTMT — 200+ متدرب — تقرير التقييم متاح للمراجعة.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02 · المنهج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المنهج الدراسي — 8 أسابيع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08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183112" cy="1115568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50800" cy="11155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" y="1335024"/>
            <a:ext cx="1371600" cy="310896"/>
          </a:xfrm>
          <a:prstGeom prst="rect">
            <a:avLst/>
          </a:prstGeom>
          <a:solidFill>
            <a:srgbClr val="2C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33502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24C"/>
                </a:solidFill>
                <a:latin typeface="Inter"/>
              </a:rPr>
              <a:t>الأسبوع 1–2</a:t>
            </a:r>
          </a:p>
        </p:txBody>
      </p:sp>
      <p:pic>
        <p:nvPicPr>
          <p:cNvPr id="14" name="Picture 13" descr="image-8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9104" y="153619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7512" y="1344168"/>
            <a:ext cx="9994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Montserrat"/>
              </a:rPr>
              <a:t>المهارات الرقمية الأساسية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1755648"/>
            <a:ext cx="999439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Microsoft 365 · Google Workspace · إدارة المهام (Trello/Notion) · البريد المهني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41448"/>
            <a:ext cx="11183112" cy="1115568"/>
          </a:xfrm>
          <a:prstGeom prst="rect">
            <a:avLst/>
          </a:prstGeom>
          <a:solidFill>
            <a:srgbClr val="221A08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441448"/>
            <a:ext cx="50800" cy="11155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" y="2569464"/>
            <a:ext cx="1371600" cy="310896"/>
          </a:xfrm>
          <a:prstGeom prst="rect">
            <a:avLst/>
          </a:prstGeom>
          <a:solidFill>
            <a:srgbClr val="2C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256946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24C"/>
                </a:solidFill>
                <a:latin typeface="Inter"/>
              </a:rPr>
              <a:t>الأسبوع 3–4</a:t>
            </a:r>
          </a:p>
        </p:txBody>
      </p:sp>
      <p:pic>
        <p:nvPicPr>
          <p:cNvPr id="21" name="Picture 20" descr="image-8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9104" y="2770632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7512" y="2578608"/>
            <a:ext cx="9994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Montserrat"/>
              </a:rPr>
              <a:t>المهارات الناعمة والتواصل المهني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2990088"/>
            <a:ext cx="999439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العروض التقديمية · إدارة الوقت · العمل ضمن فريق · التفاوض والتعامل مع العملاء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75888"/>
            <a:ext cx="11183112" cy="1115568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675888"/>
            <a:ext cx="50800" cy="11155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" y="3803904"/>
            <a:ext cx="1371600" cy="310896"/>
          </a:xfrm>
          <a:prstGeom prst="rect">
            <a:avLst/>
          </a:prstGeom>
          <a:solidFill>
            <a:srgbClr val="2C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380390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24C"/>
                </a:solidFill>
                <a:latin typeface="Inter"/>
              </a:rPr>
              <a:t>الأسبوع 5–6</a:t>
            </a:r>
          </a:p>
        </p:txBody>
      </p:sp>
      <p:pic>
        <p:nvPicPr>
          <p:cNvPr id="28" name="Picture 27" descr="image-8-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9104" y="4005072"/>
            <a:ext cx="457200" cy="457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7512" y="3813048"/>
            <a:ext cx="9994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Montserrat"/>
              </a:rPr>
              <a:t>المسار التخصصي (3 مسارات موازية)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4224528"/>
            <a:ext cx="999439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إدارة الأعمال / التسويق الرقمي / دعم تقنية المعلومات — بحسب احتياج سوق العمل المحلي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10328"/>
            <a:ext cx="11183112" cy="1115568"/>
          </a:xfrm>
          <a:prstGeom prst="rect">
            <a:avLst/>
          </a:prstGeom>
          <a:solidFill>
            <a:srgbClr val="221A08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910328"/>
            <a:ext cx="50800" cy="11155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8" y="5038344"/>
            <a:ext cx="1371600" cy="310896"/>
          </a:xfrm>
          <a:prstGeom prst="rect">
            <a:avLst/>
          </a:prstGeom>
          <a:solidFill>
            <a:srgbClr val="2C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503834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24C"/>
                </a:solidFill>
                <a:latin typeface="Inter"/>
              </a:rPr>
              <a:t>الأسبوع 7–8</a:t>
            </a:r>
          </a:p>
        </p:txBody>
      </p:sp>
      <p:pic>
        <p:nvPicPr>
          <p:cNvPr id="35" name="Picture 34" descr="image-8-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19104" y="5239512"/>
            <a:ext cx="457200" cy="4572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67512" y="5047488"/>
            <a:ext cx="9994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Montserrat"/>
              </a:rPr>
              <a:t>التوظيف والتقييم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5458968"/>
            <a:ext cx="999439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إعداد السيرة الذاتية · محاكاة مقابلات العمل · ربط مباشر بأصحاب العمل الشركاء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190488"/>
            <a:ext cx="11183112" cy="640080"/>
          </a:xfrm>
          <a:prstGeom prst="rect">
            <a:avLst/>
          </a:prstGeom>
          <a:solidFill>
            <a:srgbClr val="201010"/>
          </a:solidFill>
          <a:ln w="12700">
            <a:solidFill>
              <a:srgbClr val="A4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6190488"/>
            <a:ext cx="50800" cy="64008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6263640"/>
            <a:ext cx="1085392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المسار النسائي المخصص: تدريب عن بُعد جزئياً + مدربات معتمدات + جداول مرنة تراعي الالتزامات الأسرية — يستهدف تحديداً الشابات (بطالة 33.8%)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447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75426" y="0"/>
            <a:ext cx="381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57200"/>
            <a:ext cx="5728716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201806"/>
                </a:solidFill>
                <a:latin typeface="Montserrat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8255" y="2103120"/>
            <a:ext cx="53631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600" b="1" i="0">
                <a:solidFill>
                  <a:srgbClr val="FFFFFF"/>
                </a:solidFill>
                <a:latin typeface="Montserrat"/>
              </a:rPr>
              <a:t>إثبات النموذج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8255" y="3566160"/>
            <a:ext cx="5363138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8255" y="3703320"/>
            <a:ext cx="536313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الأكاديمية العربية — نتائج موثقة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03 · إثبات النموذج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الأكاديمية العربية — نتائج التجربة الريادية (2024–2025)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10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805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FFFFFF"/>
                </a:solidFill>
                <a:latin typeface="Inter"/>
              </a:rPr>
              <a:t>شراكة رسمية مع الأكاديمية العربية للعلوم والتكنولوجيا والنقل البحري (AASTMT). تقرير التقييم المستقل متاح للمراجعة بطلب رسمي. المقاييس أدناه مستخرجة من تقرير AASTMT لمركز تطوير الكفاءات، مارس 2025.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1183112" cy="749808"/>
          </a:xfrm>
          <a:prstGeom prst="rect">
            <a:avLst/>
          </a:prstGeom>
          <a:solidFill>
            <a:srgbClr val="161205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10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0816" y="2414016"/>
            <a:ext cx="493776" cy="4937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2920" y="2286000"/>
            <a:ext cx="50800" cy="74980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432304"/>
            <a:ext cx="10232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Inter"/>
              </a:rPr>
              <a:t>85% من المتدربين وجدوا وظيفة خلال 90 يوماً من إتمام البرنامج (170 من أصل 200)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00400"/>
            <a:ext cx="11183112" cy="749808"/>
          </a:xfrm>
          <a:prstGeom prst="rect">
            <a:avLst/>
          </a:prstGeom>
          <a:solidFill>
            <a:srgbClr val="161205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8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0816" y="3328416"/>
            <a:ext cx="493776" cy="49377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02920" y="3200400"/>
            <a:ext cx="50800" cy="74980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46704"/>
            <a:ext cx="10232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Inter"/>
              </a:rPr>
              <a:t>200+ متدرب في 3 دفعات متتالية — Q2 2024 حتى Q1 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14800"/>
            <a:ext cx="11183112" cy="749808"/>
          </a:xfrm>
          <a:prstGeom prst="rect">
            <a:avLst/>
          </a:prstGeom>
          <a:solidFill>
            <a:srgbClr val="161205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8-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0816" y="4242816"/>
            <a:ext cx="493776" cy="493776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02920" y="4114800"/>
            <a:ext cx="50800" cy="74980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61104"/>
            <a:ext cx="10232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Inter"/>
              </a:rPr>
              <a:t>4.8 / 5.0 متوسط تقييم رضا المتدربين (استبيان مستقل، n=196)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029200"/>
            <a:ext cx="11183112" cy="749808"/>
          </a:xfrm>
          <a:prstGeom prst="rect">
            <a:avLst/>
          </a:prstGeom>
          <a:solidFill>
            <a:srgbClr val="161205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8-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0816" y="5157216"/>
            <a:ext cx="493776" cy="49377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502920" y="5029200"/>
            <a:ext cx="50800" cy="74980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5175504"/>
            <a:ext cx="10232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Inter"/>
              </a:rPr>
              <a:t>16 صاحب عمل من القطاعين الخاص والحكومي وقّعوا خطابات توظيف</a:t>
            </a:r>
          </a:p>
        </p:txBody>
      </p:sp>
      <p:pic>
        <p:nvPicPr>
          <p:cNvPr id="27" name="Picture 26" descr="image-18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6199632"/>
            <a:ext cx="11183112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03 · شركاء التوظيف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أصحاب العمل الشركاء — الدفعات الثلاث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11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2658618" cy="4846320"/>
          </a:xfrm>
          <a:prstGeom prst="rect">
            <a:avLst/>
          </a:prstGeom>
          <a:solidFill>
            <a:srgbClr val="1612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2658618" cy="7315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10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909" y="1316736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4360" y="1956816"/>
            <a:ext cx="24757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تقنية المعلومات والاتصالات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60320"/>
            <a:ext cx="2292858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" y="2688336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852928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Vodafone Egypt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" y="3493008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657600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Raya Holding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" y="4297680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4462272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ITWorx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" y="5102352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5266944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Valeo Egypt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44418" y="1207008"/>
            <a:ext cx="2658618" cy="4846320"/>
          </a:xfrm>
          <a:prstGeom prst="rect">
            <a:avLst/>
          </a:prstGeom>
          <a:solidFill>
            <a:srgbClr val="1612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44418" y="1207008"/>
            <a:ext cx="2658618" cy="7315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-8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407" y="1316736"/>
            <a:ext cx="548640" cy="548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35858" y="1956816"/>
            <a:ext cx="24757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الأعمال والإدارة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7298" y="2560320"/>
            <a:ext cx="2292858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54146" y="2688336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4146" y="2852928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Maersk Egypt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54146" y="3493008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4146" y="3657600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DHL Egypt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54146" y="4297680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54146" y="4462272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Americana Group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54146" y="5102352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54146" y="5266944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EGIC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5916" y="1207008"/>
            <a:ext cx="2658618" cy="4846320"/>
          </a:xfrm>
          <a:prstGeom prst="rect">
            <a:avLst/>
          </a:prstGeom>
          <a:solidFill>
            <a:srgbClr val="1612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85916" y="1207008"/>
            <a:ext cx="2658618" cy="7315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-8-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905" y="1316736"/>
            <a:ext cx="548640" cy="54864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277356" y="1956816"/>
            <a:ext cx="24757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التسويق والإعلام الرقمي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68796" y="2560320"/>
            <a:ext cx="2292858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95644" y="2688336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95644" y="2852928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JWT Egypt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95644" y="3493008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5644" y="3657600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Procter &amp; Gamble EGY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95644" y="4297680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95644" y="4462272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Unilever Egypt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95644" y="5102352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5644" y="5266944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Publicis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27414" y="1207008"/>
            <a:ext cx="2658618" cy="4846320"/>
          </a:xfrm>
          <a:prstGeom prst="rect">
            <a:avLst/>
          </a:prstGeom>
          <a:solidFill>
            <a:srgbClr val="1612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27414" y="1207008"/>
            <a:ext cx="2658618" cy="7315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-8-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2403" y="1316736"/>
            <a:ext cx="548640" cy="54864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18854" y="1956816"/>
            <a:ext cx="247573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القطاع الحكومي والمنظمات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10294" y="2560320"/>
            <a:ext cx="2292858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37142" y="2688336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37142" y="2852928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ITIDA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37142" y="3493008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37142" y="3657600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MCIT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37142" y="4297680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7142" y="4462272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Injaz Egypt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37142" y="5102352"/>
            <a:ext cx="2439162" cy="658368"/>
          </a:xfrm>
          <a:prstGeom prst="rect">
            <a:avLst/>
          </a:prstGeom>
          <a:solidFill>
            <a:srgbClr val="221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37142" y="5266944"/>
            <a:ext cx="243916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Inter"/>
              </a:rPr>
              <a:t>Nahdet El Mahrousa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98932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1">
                <a:solidFill>
                  <a:srgbClr val="C8A24C"/>
                </a:solidFill>
                <a:latin typeface="Inter"/>
              </a:rPr>
              <a:t>خطابات النوايا متاحة للمراجعة · يمكن تزويد الوزارة بنسخ رسمية فور طلبها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447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75426" y="0"/>
            <a:ext cx="381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57200"/>
            <a:ext cx="5728716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201806"/>
                </a:solidFill>
                <a:latin typeface="Montserrat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8255" y="2103120"/>
            <a:ext cx="53631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600" b="1" i="0">
                <a:solidFill>
                  <a:srgbClr val="FFFFFF"/>
                </a:solidFill>
                <a:latin typeface="Montserrat"/>
              </a:rPr>
              <a:t>الخطة والميزانية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8255" y="3566160"/>
            <a:ext cx="5363138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8255" y="3703320"/>
            <a:ext cx="536313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مسار توسع متدرج بأرقام دقيقة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04 · خطة المراحل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مسار التوسع المتدرج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13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3593592" cy="4892040"/>
          </a:xfrm>
          <a:prstGeom prst="rect">
            <a:avLst/>
          </a:prstGeom>
          <a:solidFill>
            <a:srgbClr val="161206"/>
          </a:solidFill>
          <a:ln w="254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3593592" cy="10972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244" y="1389888"/>
            <a:ext cx="694944" cy="694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648" y="2212848"/>
            <a:ext cx="33741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1" i="0">
                <a:solidFill>
                  <a:srgbClr val="C8A24C"/>
                </a:solidFill>
                <a:latin typeface="Inter"/>
              </a:rPr>
              <a:t>المرحلة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560320"/>
            <a:ext cx="33741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Montserrat"/>
              </a:rPr>
              <a:t>المرحلة التجريبية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" y="3090672"/>
            <a:ext cx="3374136" cy="292608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090672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يناير–أكتوبر ٢٠٢٦  ·  300 متدرب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" y="3438144"/>
            <a:ext cx="3374136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0" y="3767328"/>
            <a:ext cx="50800" cy="219456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584448"/>
            <a:ext cx="317296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القاهرة · الإسكندرية · الجيزة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4590288"/>
            <a:ext cx="50800" cy="219456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4407408"/>
            <a:ext cx="317296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تعيين 12 مدرباً معتمداً (4 لكل مركز)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5413248"/>
            <a:ext cx="50800" cy="219456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5230368"/>
            <a:ext cx="317296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تقرير تقييم مستقل عند نهاية المرحلة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207008"/>
            <a:ext cx="3593592" cy="4892040"/>
          </a:xfrm>
          <a:prstGeom prst="rect">
            <a:avLst/>
          </a:prstGeom>
          <a:solidFill>
            <a:srgbClr val="161206"/>
          </a:solidFill>
          <a:ln w="25400">
            <a:solidFill>
              <a:srgbClr val="E0BC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1207008"/>
            <a:ext cx="3593592" cy="109728"/>
          </a:xfrm>
          <a:prstGeom prst="rect">
            <a:avLst/>
          </a:prstGeom>
          <a:solidFill>
            <a:srgbClr val="E0BC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8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7004" y="1389888"/>
            <a:ext cx="694944" cy="6949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407408" y="2212848"/>
            <a:ext cx="33741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1" i="0">
                <a:solidFill>
                  <a:srgbClr val="E0BC60"/>
                </a:solidFill>
                <a:latin typeface="Inter"/>
              </a:rPr>
              <a:t>المرحلة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2560320"/>
            <a:ext cx="33741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Montserrat"/>
              </a:rPr>
              <a:t>مرحلة التوسع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7408" y="3090672"/>
            <a:ext cx="3374136" cy="292608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07408" y="3090672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يناير–ديسمبر ٢٠٢٧  ·  1,500 متدرب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07408" y="3438144"/>
            <a:ext cx="3374136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35240" y="3767328"/>
            <a:ext cx="50800" cy="219456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8" y="3584448"/>
            <a:ext cx="317296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10 مراكز في 6 محافظات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35240" y="4590288"/>
            <a:ext cx="50800" cy="219456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07408" y="4407408"/>
            <a:ext cx="317296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تفعيل المسار النسائي المخصص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5413248"/>
            <a:ext cx="50800" cy="219456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07408" y="5230368"/>
            <a:ext cx="317296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ربط رسمي ببرنامج ستارت 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92440" y="1207008"/>
            <a:ext cx="3593592" cy="4892040"/>
          </a:xfrm>
          <a:prstGeom prst="rect">
            <a:avLst/>
          </a:prstGeom>
          <a:solidFill>
            <a:srgbClr val="161206"/>
          </a:solidFill>
          <a:ln w="25400">
            <a:solidFill>
              <a:srgbClr val="A8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2440" y="1207008"/>
            <a:ext cx="3593592" cy="109728"/>
          </a:xfrm>
          <a:prstGeom prst="rect">
            <a:avLst/>
          </a:prstGeom>
          <a:solidFill>
            <a:srgbClr val="A8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-8-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389888"/>
            <a:ext cx="694944" cy="6949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02168" y="2212848"/>
            <a:ext cx="33741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1" i="0">
                <a:solidFill>
                  <a:srgbClr val="A8823C"/>
                </a:solidFill>
                <a:latin typeface="Inter"/>
              </a:rPr>
              <a:t>المرحلة 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2168" y="2560320"/>
            <a:ext cx="33741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FFFFFF"/>
                </a:solidFill>
                <a:latin typeface="Montserrat"/>
              </a:rPr>
              <a:t>الانطلاق الوطني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2168" y="3090672"/>
            <a:ext cx="3374136" cy="292608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2168" y="3090672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٢٠٢٨–٢٠٢٩  ·  5,000+ متدرب / سنة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2168" y="3438144"/>
            <a:ext cx="3374136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430000" y="3767328"/>
            <a:ext cx="50800" cy="219456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02168" y="3584448"/>
            <a:ext cx="317296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27 محافظة — 31 وحدة جامعية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0" y="4590288"/>
            <a:ext cx="50800" cy="219456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02168" y="4407408"/>
            <a:ext cx="317296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شبكة 100+ صاحب عمل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0" y="5413248"/>
            <a:ext cx="50800" cy="219456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02168" y="5230368"/>
            <a:ext cx="317296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تمويل ذاتي عبر رسوم التوظيف من الشركات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04 · الميزانية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الميزانية التفصيلية — المرحلة الأولى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14 /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15568"/>
            <a:ext cx="11183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300 متدرب · 3 مراكز · 10 أشهر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08176"/>
            <a:ext cx="11183112" cy="32918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08176"/>
            <a:ext cx="615071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0E0E0E"/>
                </a:solidFill>
                <a:latin typeface="Montserrat"/>
              </a:rPr>
              <a:t>البند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3631" y="1408176"/>
            <a:ext cx="24602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0E0E0E"/>
                </a:solidFill>
                <a:latin typeface="Montserrat"/>
              </a:rPr>
              <a:t>المبلغ (جنيه)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3916" y="1408176"/>
            <a:ext cx="25721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0E0E0E"/>
                </a:solidFill>
                <a:latin typeface="Montserrat"/>
              </a:rPr>
              <a:t>النسبة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737360"/>
            <a:ext cx="11183112" cy="535940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828800"/>
            <a:ext cx="61507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تطوير المناهج وإعداد المواد التدريبية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3631" y="1828800"/>
            <a:ext cx="24602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450,000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13916" y="1828800"/>
            <a:ext cx="257211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12.5%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286000"/>
            <a:ext cx="11183112" cy="535940"/>
          </a:xfrm>
          <a:prstGeom prst="rect">
            <a:avLst/>
          </a:prstGeom>
          <a:solidFill>
            <a:srgbClr val="22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377440"/>
            <a:ext cx="61507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رواتب المدربين (12 مدرباً × 10 أشهر)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3631" y="2377440"/>
            <a:ext cx="24602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1,200,000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3916" y="2377440"/>
            <a:ext cx="257211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33.3%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834640"/>
            <a:ext cx="11183112" cy="535940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926080"/>
            <a:ext cx="61507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إيجار وتجهيز المراكز (3 مراكز × 10 أشهر)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3631" y="2926080"/>
            <a:ext cx="24602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900,000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3916" y="2926080"/>
            <a:ext cx="257211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25.0%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83280"/>
            <a:ext cx="11183112" cy="535940"/>
          </a:xfrm>
          <a:prstGeom prst="rect">
            <a:avLst/>
          </a:prstGeom>
          <a:solidFill>
            <a:srgbClr val="22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474720"/>
            <a:ext cx="61507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التقييم المستقل وإعداد التقارير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3631" y="3474720"/>
            <a:ext cx="24602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250,000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3916" y="3474720"/>
            <a:ext cx="257211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6.9%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931920"/>
            <a:ext cx="11183112" cy="535940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023360"/>
            <a:ext cx="61507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مستلزمات ودعم المتدربين (300 × 500 جنيه)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3631" y="4023360"/>
            <a:ext cx="24602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150,000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13916" y="4023360"/>
            <a:ext cx="257211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4.2%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480560"/>
            <a:ext cx="11183112" cy="535940"/>
          </a:xfrm>
          <a:prstGeom prst="rect">
            <a:avLst/>
          </a:prstGeom>
          <a:solidFill>
            <a:srgbClr val="22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572000"/>
            <a:ext cx="615071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إدارة المشروع والمصاريف التشغيلية (18%)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3631" y="4572000"/>
            <a:ext cx="24602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650,000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3916" y="4572000"/>
            <a:ext cx="257211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18.1%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029200"/>
            <a:ext cx="11183112" cy="438912"/>
          </a:xfrm>
          <a:prstGeom prst="rect">
            <a:avLst/>
          </a:prstGeom>
          <a:solidFill>
            <a:srgbClr val="2C220A"/>
          </a:solidFill>
          <a:ln w="254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102352"/>
            <a:ext cx="11183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C8A24C"/>
                </a:solidFill>
                <a:latin typeface="Montserrat"/>
              </a:rPr>
              <a:t>الإجمالي:  3,600,000 جنيه  |  12,000 جنيه / متدرب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559552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255 متدرباً موظفاً × راتب متوسط 4,500 جنيه/شهر = 1.14M جنيه دخل شهري مُضاف للاقتصاد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907024"/>
            <a:ext cx="11183112" cy="384048"/>
          </a:xfrm>
          <a:prstGeom prst="rect">
            <a:avLst/>
          </a:prstGeom>
          <a:solidFill>
            <a:srgbClr val="201010"/>
          </a:solidFill>
          <a:ln w="12700">
            <a:solidFill>
              <a:srgbClr val="A4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5961888"/>
            <a:ext cx="109636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1" i="0">
                <a:solidFill>
                  <a:srgbClr val="A4232A"/>
                </a:solidFill>
                <a:latin typeface="Inter"/>
              </a:rPr>
              <a:t>بند الاسترداد: إذا نسبة التوظيف &lt; 70% — يُعاد 30% من التمويل الحكومي خلال 60 يوماً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447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75426" y="0"/>
            <a:ext cx="381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57200"/>
            <a:ext cx="5728716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201806"/>
                </a:solidFill>
                <a:latin typeface="Montserrat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8255" y="2103120"/>
            <a:ext cx="53631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600" b="1" i="0">
                <a:solidFill>
                  <a:srgbClr val="FFFFFF"/>
                </a:solidFill>
                <a:latin typeface="Montserrat"/>
              </a:rPr>
              <a:t>المؤشرات والمتابعة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8255" y="3566160"/>
            <a:ext cx="5363138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8255" y="3703320"/>
            <a:ext cx="536313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التزامات قابلة للقياس + بند استرداد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05 · المؤشرات والمتابعة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التزاماتنا القابلة للقياس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16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2658618" cy="246888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621" y="1335024"/>
            <a:ext cx="585216" cy="585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2011680"/>
            <a:ext cx="247573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C8A24C"/>
                </a:solidFill>
                <a:latin typeface="Montserrat"/>
              </a:rPr>
              <a:t>85%+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79776"/>
            <a:ext cx="247573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FFFFFF"/>
                </a:solidFill>
                <a:latin typeface="Inter"/>
              </a:rPr>
              <a:t>نسبة التوظيف الفعال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36976"/>
            <a:ext cx="247573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خلال 90 يوماً من إتمام التدريب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4418" y="1207008"/>
            <a:ext cx="2658618" cy="246888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8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119" y="1335024"/>
            <a:ext cx="585216" cy="5852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35858" y="2011680"/>
            <a:ext cx="247573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C8A24C"/>
                </a:solidFill>
                <a:latin typeface="Montserrat"/>
              </a:rPr>
              <a:t>4.8/5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5858" y="2779776"/>
            <a:ext cx="247573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FFFFFF"/>
                </a:solidFill>
                <a:latin typeface="Inter"/>
              </a:rPr>
              <a:t>رضا المتدربين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5858" y="3236976"/>
            <a:ext cx="247573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تقييم مستقل بعد إتمام البرنامج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5916" y="1207008"/>
            <a:ext cx="2658618" cy="246888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8-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2617" y="133502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77356" y="2011680"/>
            <a:ext cx="247573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C8A24C"/>
                </a:solidFill>
                <a:latin typeface="Montserrat"/>
              </a:rPr>
              <a:t>96%+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7356" y="2779776"/>
            <a:ext cx="247573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FFFFFF"/>
                </a:solidFill>
                <a:latin typeface="Inter"/>
              </a:rPr>
              <a:t>رضا أصحاب العمل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7356" y="3236976"/>
            <a:ext cx="247573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قياس بعد 6 أشهر من التوظيف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7414" y="1207008"/>
            <a:ext cx="2658618" cy="246888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-8-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4115" y="1335024"/>
            <a:ext cx="585216" cy="58521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118854" y="2011680"/>
            <a:ext cx="247573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C8A24C"/>
                </a:solidFill>
                <a:latin typeface="Montserrat"/>
              </a:rPr>
              <a:t>+52%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18854" y="2779776"/>
            <a:ext cx="247573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FFFFFF"/>
                </a:solidFill>
                <a:latin typeface="Inter"/>
              </a:rPr>
              <a:t>تحسن معدل التوظيف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8854" y="3236976"/>
            <a:ext cx="247573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فوق المتوسط مقارنةً بالتدريب التقليدي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840480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913632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التزامات إضافية:</a:t>
            </a:r>
          </a:p>
        </p:txBody>
      </p:sp>
      <p:pic>
        <p:nvPicPr>
          <p:cNvPr id="32" name="Picture 31" descr="image-10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7548" y="4297680"/>
            <a:ext cx="420624" cy="42062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2920" y="4315968"/>
            <a:ext cx="49514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لوحة بيانات حية للوزارة تُحدَّث شهرياً (Google Looker Studio)</a:t>
            </a:r>
          </a:p>
        </p:txBody>
      </p:sp>
      <p:pic>
        <p:nvPicPr>
          <p:cNvPr id="34" name="Picture 33" descr="image-8-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10544" y="4297680"/>
            <a:ext cx="420624" cy="4206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185916" y="4315968"/>
            <a:ext cx="49514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تقارير ربع سنوية مستقلة من جهة تقييم خارجية معتمدة</a:t>
            </a:r>
          </a:p>
        </p:txBody>
      </p:sp>
      <p:pic>
        <p:nvPicPr>
          <p:cNvPr id="36" name="Picture 35" descr="image-8-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7548" y="4800600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2920" y="4818888"/>
            <a:ext cx="49514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بند استرداد رسمي: إذا نسبة التوظيف &lt; 70% → يُعاد 30% من التمويل خلال 60 يوماً</a:t>
            </a:r>
          </a:p>
        </p:txBody>
      </p:sp>
      <p:pic>
        <p:nvPicPr>
          <p:cNvPr id="38" name="Picture 37" descr="image-8-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10544" y="4800600"/>
            <a:ext cx="420624" cy="42062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185916" y="4818888"/>
            <a:ext cx="49514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شراكة بحثية مع الجامعات لنشر نتائج النموذج دولياً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05 · إطار المتابعة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إطار المتابعة والتقييم — M&amp;E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17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477256" cy="32918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5477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0E0E0E"/>
                </a:solidFill>
                <a:latin typeface="Montserrat"/>
              </a:rPr>
              <a:t>مخرجات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72768"/>
            <a:ext cx="5477256" cy="877824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627632"/>
            <a:ext cx="5294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FFFFFF"/>
                </a:solidFill>
                <a:latin typeface="Montserrat"/>
              </a:rPr>
              <a:t>عدد المتدربين الملتحقين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75104"/>
            <a:ext cx="5294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الهدف: 300 / المرحلة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94560"/>
            <a:ext cx="52943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1">
                <a:solidFill>
                  <a:srgbClr val="FFFFFF"/>
                </a:solidFill>
                <a:latin typeface="Inter"/>
              </a:rPr>
              <a:t>سجلات التسجيل — شهرياً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5477256" cy="877824"/>
          </a:xfrm>
          <a:prstGeom prst="rect">
            <a:avLst/>
          </a:prstGeom>
          <a:solidFill>
            <a:srgbClr val="221A08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560320"/>
            <a:ext cx="5294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FFFFFF"/>
                </a:solidFill>
                <a:latin typeface="Montserrat"/>
              </a:rPr>
              <a:t>معدل إتمام البرنامج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07792"/>
            <a:ext cx="5294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الهدف: ≥ 90%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127248"/>
            <a:ext cx="52943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1">
                <a:solidFill>
                  <a:srgbClr val="FFFFFF"/>
                </a:solidFill>
                <a:latin typeface="Inter"/>
              </a:rPr>
              <a:t>نظام الحضور — كل دفعة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38144"/>
            <a:ext cx="5477256" cy="877824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493008"/>
            <a:ext cx="5294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FFFFFF"/>
                </a:solidFill>
                <a:latin typeface="Montserrat"/>
              </a:rPr>
              <a:t>اجتياز تقييم ECDL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840480"/>
            <a:ext cx="5294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الهدف: ≥ 80% من المتدربين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059936"/>
            <a:ext cx="52943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1">
                <a:solidFill>
                  <a:srgbClr val="FFFFFF"/>
                </a:solidFill>
                <a:latin typeface="Inter"/>
              </a:rPr>
              <a:t>شهادات رسمية — كل دفعة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8776" y="1207008"/>
            <a:ext cx="5477256" cy="32918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8776" y="1207008"/>
            <a:ext cx="5477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0E0E0E"/>
                </a:solidFill>
                <a:latin typeface="Montserrat"/>
              </a:rPr>
              <a:t>أثر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8776" y="1572768"/>
            <a:ext cx="5477256" cy="877824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1627632"/>
            <a:ext cx="5294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FFFFFF"/>
                </a:solidFill>
                <a:latin typeface="Montserrat"/>
              </a:rPr>
              <a:t>توظيف خلال 90 يوماً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1975104"/>
            <a:ext cx="5294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الهدف: ≥ 85%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194560"/>
            <a:ext cx="52943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1">
                <a:solidFill>
                  <a:srgbClr val="FFFFFF"/>
                </a:solidFill>
                <a:latin typeface="Inter"/>
              </a:rPr>
              <a:t>متابعة فردية + خطاب توظيف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8776" y="2505456"/>
            <a:ext cx="5477256" cy="877824"/>
          </a:xfrm>
          <a:prstGeom prst="rect">
            <a:avLst/>
          </a:prstGeom>
          <a:solidFill>
            <a:srgbClr val="221A08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2560320"/>
            <a:ext cx="5294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FFFFFF"/>
                </a:solidFill>
                <a:latin typeface="Montserrat"/>
              </a:rPr>
              <a:t>رضا أصحاب العمل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2907792"/>
            <a:ext cx="5294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الهدف: ≥ 96%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3127248"/>
            <a:ext cx="52943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1">
                <a:solidFill>
                  <a:srgbClr val="FFFFFF"/>
                </a:solidFill>
                <a:latin typeface="Inter"/>
              </a:rPr>
              <a:t>استبيان 6 أشهر بعد التوظيف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08776" y="3438144"/>
            <a:ext cx="5477256" cy="877824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216" y="3493008"/>
            <a:ext cx="5294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FFFFFF"/>
                </a:solidFill>
                <a:latin typeface="Montserrat"/>
              </a:rPr>
              <a:t>الاحتفاظ بالوظيفة 6 أشهر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3840480"/>
            <a:ext cx="5294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الهدف: ≥ 75%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4059936"/>
            <a:ext cx="52943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1">
                <a:solidFill>
                  <a:srgbClr val="FFFFFF"/>
                </a:solidFill>
                <a:latin typeface="Inter"/>
              </a:rPr>
              <a:t>اتصال متابعة دوري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224528"/>
            <a:ext cx="11183112" cy="676656"/>
          </a:xfrm>
          <a:prstGeom prst="rect">
            <a:avLst/>
          </a:prstGeom>
          <a:solidFill>
            <a:srgbClr val="141004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4315968"/>
            <a:ext cx="108539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التقارير: شهرية للوزارة · ربع سنوية مستقلة · سنوية للنشر العلمي. المراجعة المستقلة: مركز تقييم معتمد من الوزارة يُحدَّد بالاتفاق.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05 · إدارة المخاطر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تحليل المخاطر وخطة التخفيف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18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183112" cy="841248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" y="1444752"/>
            <a:ext cx="804672" cy="292608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444752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FFFFFF"/>
                </a:solidFill>
                <a:latin typeface="Inter"/>
              </a:rPr>
              <a:t>عالية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261872"/>
            <a:ext cx="44732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ضعف الإقبال في بعض المحافظات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99827" y="1298448"/>
            <a:ext cx="19050" cy="658368"/>
          </a:xfrm>
          <a:prstGeom prst="rect">
            <a:avLst/>
          </a:prstGeom>
          <a:solidFill>
            <a:srgbClr val="3A2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3489" y="1298448"/>
            <a:ext cx="603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شراكة مع الوحدات الجامعية للتسويق + حوافز مادية للمتدرب (بدل نقل 200 جنيه/جلسة)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176272"/>
            <a:ext cx="11183112" cy="841248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" y="2414016"/>
            <a:ext cx="804672" cy="292608"/>
          </a:xfrm>
          <a:prstGeom prst="rect">
            <a:avLst/>
          </a:prstGeom>
          <a:solidFill>
            <a:srgbClr val="C88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414016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FFFFFF"/>
                </a:solidFill>
                <a:latin typeface="Inter"/>
              </a:rPr>
              <a:t>متوسطة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2231136"/>
            <a:ext cx="44732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تأخر إتاحة المراكز التدريبية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99827" y="2267712"/>
            <a:ext cx="19050" cy="658368"/>
          </a:xfrm>
          <a:prstGeom prst="rect">
            <a:avLst/>
          </a:prstGeom>
          <a:solidFill>
            <a:srgbClr val="3A2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23489" y="2267712"/>
            <a:ext cx="603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خطة بديلة: عقود إيجار مؤسسات خاصة جاهزة كـ backup — تم تحديدها مسبقاً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45536"/>
            <a:ext cx="11183112" cy="841248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" y="3383280"/>
            <a:ext cx="804672" cy="292608"/>
          </a:xfrm>
          <a:prstGeom prst="rect">
            <a:avLst/>
          </a:prstGeom>
          <a:solidFill>
            <a:srgbClr val="C88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383280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FFFFFF"/>
                </a:solidFill>
                <a:latin typeface="Inter"/>
              </a:rPr>
              <a:t>متوسطة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3200400"/>
            <a:ext cx="44732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تذبذب التزام أصحاب العمل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99827" y="3236976"/>
            <a:ext cx="19050" cy="658368"/>
          </a:xfrm>
          <a:prstGeom prst="rect">
            <a:avLst/>
          </a:prstGeom>
          <a:solidFill>
            <a:srgbClr val="3A2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23489" y="3236976"/>
            <a:ext cx="603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بروتوكولات توظيف موقّعة مسبقاً + قائمة انتظار 30+ شركة بديلة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114800"/>
            <a:ext cx="11183112" cy="841248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4352544"/>
            <a:ext cx="804672" cy="292608"/>
          </a:xfrm>
          <a:prstGeom prst="rect">
            <a:avLst/>
          </a:prstGeom>
          <a:solidFill>
            <a:srgbClr val="28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" y="4352544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FFFFFF"/>
                </a:solidFill>
                <a:latin typeface="Inter"/>
              </a:rPr>
              <a:t>منخفضة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4169664"/>
            <a:ext cx="44732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تغيير السياسات الحكومية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99827" y="4206240"/>
            <a:ext cx="19050" cy="658368"/>
          </a:xfrm>
          <a:prstGeom prst="rect">
            <a:avLst/>
          </a:prstGeom>
          <a:solidFill>
            <a:srgbClr val="3A2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23489" y="4206240"/>
            <a:ext cx="603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هيكل قانوني مرن (س.م.م) + بنود مراجعة سنوية في الاتفاقية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084064"/>
            <a:ext cx="11183112" cy="841248"/>
          </a:xfrm>
          <a:prstGeom prst="rect">
            <a:avLst/>
          </a:prstGeom>
          <a:solidFill>
            <a:srgbClr val="1A1406"/>
          </a:solidFill>
          <a:ln w="12700">
            <a:solidFill>
              <a:srgbClr val="3A2E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5321808"/>
            <a:ext cx="804672" cy="292608"/>
          </a:xfrm>
          <a:prstGeom prst="rect">
            <a:avLst/>
          </a:prstGeom>
          <a:solidFill>
            <a:srgbClr val="288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8" y="5321808"/>
            <a:ext cx="804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FFFFFF"/>
                </a:solidFill>
                <a:latin typeface="Inter"/>
              </a:rPr>
              <a:t>منخفضة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5138928"/>
            <a:ext cx="44732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نقص المدربين المؤهلين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99827" y="5175504"/>
            <a:ext cx="19050" cy="658368"/>
          </a:xfrm>
          <a:prstGeom prst="rect">
            <a:avLst/>
          </a:prstGeom>
          <a:solidFill>
            <a:srgbClr val="3A2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23489" y="5175504"/>
            <a:ext cx="603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قاعدة بيانات 45 مدرباً معتمداً — تم بناؤها خلال AASTMT Phase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447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75426" y="0"/>
            <a:ext cx="381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57200"/>
            <a:ext cx="5728716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201806"/>
                </a:solidFill>
                <a:latin typeface="Montserrat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8255" y="2103120"/>
            <a:ext cx="53631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600" b="1" i="0">
                <a:solidFill>
                  <a:srgbClr val="FFFFFF"/>
                </a:solidFill>
                <a:latin typeface="Montserrat"/>
              </a:rPr>
              <a:t>MY4 Education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8255" y="3566160"/>
            <a:ext cx="5363138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8255" y="3703320"/>
            <a:ext cx="536313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الكيان القانوني · الفريق · التميز التنافسي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06 · MY4 Education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من نحن — الكيان والفريق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20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183112" cy="91440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50800" cy="914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243584"/>
            <a:ext cx="726902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شركة MY4 Education للتدريب والتطوير المهني (س.م.م رقم 157843) — مسجلة في مصر، متخصصة في تأهيل الشباب لسوق العمل منذ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645920"/>
            <a:ext cx="726902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محمود جاداللا — مؤسس ومدير تنفيذي. خبرة 8+ سنوات في تصميم برامج التعليم والتدريب المهني. خريج ومدرب معتمد — شارك في تصميم برامج IFC/World Bank و UNICEF Egypt.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31136"/>
            <a:ext cx="2658618" cy="192024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231136"/>
            <a:ext cx="2658618" cy="6400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909" y="2340864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2999232"/>
            <a:ext cx="247573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محمود جاداللا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01568"/>
            <a:ext cx="247573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المدير التنفيذي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30752"/>
            <a:ext cx="24757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تصميم البرامج + الشراكات الاستراتيجية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4418" y="2231136"/>
            <a:ext cx="2658618" cy="192024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44418" y="2231136"/>
            <a:ext cx="2658618" cy="6400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8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407" y="2340864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435858" y="2999232"/>
            <a:ext cx="247573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د. أميرة حسن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5858" y="3401568"/>
            <a:ext cx="247573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مدير التدريب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35858" y="3730752"/>
            <a:ext cx="24757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مناهج + جودة التدريب — PhD تربية جامعة القاهرة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5916" y="2231136"/>
            <a:ext cx="2658618" cy="192024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5916" y="2231136"/>
            <a:ext cx="2658618" cy="6400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-8-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905" y="2340864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277356" y="2999232"/>
            <a:ext cx="247573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أحمد الشافعي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7356" y="3401568"/>
            <a:ext cx="247573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مدير التوظيف وشركاء الأعمال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7356" y="3730752"/>
            <a:ext cx="24757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إدارة شبكة أصحاب العمل — خبرة 10 سنوات HR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7414" y="2231136"/>
            <a:ext cx="2658618" cy="192024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7414" y="2231136"/>
            <a:ext cx="2658618" cy="6400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-8-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2403" y="2340864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118854" y="2999232"/>
            <a:ext cx="247573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سارة مصطفى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18854" y="3401568"/>
            <a:ext cx="247573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C8A24C"/>
                </a:solidFill>
                <a:latin typeface="Inter"/>
              </a:rPr>
              <a:t>مدير المتابعة والتقييم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18854" y="3730752"/>
            <a:ext cx="24757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M&amp;E — شهادة دولية PMD Pro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261104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-8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65408" y="4370832"/>
            <a:ext cx="347472" cy="34747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02920" y="4352544"/>
            <a:ext cx="10634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شريك معتمد — الأكاديمية العربية للعلوم والتكنولوجيا والنقل البحري (AASTMT)</a:t>
            </a:r>
          </a:p>
        </p:txBody>
      </p:sp>
      <p:pic>
        <p:nvPicPr>
          <p:cNvPr id="41" name="Picture 40" descr="image-8-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5408" y="4754880"/>
            <a:ext cx="347472" cy="34747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2920" y="4736592"/>
            <a:ext cx="10634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عضو — منظومة Injaz Egypt / Junior Achievement Worldwide</a:t>
            </a:r>
          </a:p>
        </p:txBody>
      </p:sp>
      <p:pic>
        <p:nvPicPr>
          <p:cNvPr id="43" name="Picture 42" descr="image-8-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65408" y="5138928"/>
            <a:ext cx="347472" cy="34747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02920" y="5120640"/>
            <a:ext cx="10634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معتمد — مركز امتحانات ECDL مصر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06 · التميز التنافسي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MY4 مقارنةً بالبدائل المتاحة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21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3131271" cy="60350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0E0E0E"/>
                </a:solidFill>
                <a:latin typeface="Montserrat"/>
              </a:rPr>
              <a:t>المعيار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4191" y="1207008"/>
            <a:ext cx="2460284" cy="60350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4191" y="1298448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0E0E0E"/>
                </a:solidFill>
                <a:latin typeface="Montserrat"/>
              </a:rPr>
              <a:t>MY4 Education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1207008"/>
            <a:ext cx="3131271" cy="60350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1298448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0E0E0E"/>
                </a:solidFill>
                <a:latin typeface="Montserrat"/>
              </a:rPr>
              <a:t>ILO/GIZ/UNDP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25747" y="1207008"/>
            <a:ext cx="2460284" cy="60350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5747" y="1298448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0E0E0E"/>
                </a:solidFill>
                <a:latin typeface="Montserrat"/>
              </a:rPr>
              <a:t>ITIDA/MCIT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810512"/>
            <a:ext cx="3131271" cy="603504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1901952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المدة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34191" y="1810512"/>
            <a:ext cx="2460284" cy="60350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4191" y="1901952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0E0E0E"/>
                </a:solidFill>
                <a:latin typeface="Inter"/>
              </a:rPr>
              <a:t>8 أسابيع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4476" y="1810512"/>
            <a:ext cx="3131271" cy="603504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4476" y="1901952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6–12 أشهر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25747" y="1810512"/>
            <a:ext cx="2460284" cy="603504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5747" y="1901952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3–4 أشهر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414016"/>
            <a:ext cx="3131271" cy="603504"/>
          </a:xfrm>
          <a:prstGeom prst="rect">
            <a:avLst/>
          </a:prstGeom>
          <a:solidFill>
            <a:srgbClr val="22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505456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نسبة التوظيف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4191" y="2414016"/>
            <a:ext cx="2460284" cy="60350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34191" y="2505456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0E0E0E"/>
                </a:solidFill>
                <a:latin typeface="Inter"/>
              </a:rPr>
              <a:t>85%+  موثق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2414016"/>
            <a:ext cx="3131271" cy="603504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4476" y="2505456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50–60% تقديري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25747" y="2414016"/>
            <a:ext cx="2460284" cy="603504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25747" y="2505456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65–70%  بالتقنية فقط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017520"/>
            <a:ext cx="3131271" cy="603504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108960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التكلفة / متدرب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34191" y="3017520"/>
            <a:ext cx="2460284" cy="60350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4191" y="3108960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0E0E0E"/>
                </a:solidFill>
                <a:latin typeface="Inter"/>
              </a:rPr>
              <a:t>12,000 جنيه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4476" y="3017520"/>
            <a:ext cx="3131271" cy="603504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4476" y="3108960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25,000–40,000 جنيه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25747" y="3017520"/>
            <a:ext cx="2460284" cy="603504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25747" y="3108960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18,000–22,000 جنيه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621024"/>
            <a:ext cx="3131271" cy="603504"/>
          </a:xfrm>
          <a:prstGeom prst="rect">
            <a:avLst/>
          </a:prstGeom>
          <a:solidFill>
            <a:srgbClr val="22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3712464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المسار النسائي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34191" y="3621024"/>
            <a:ext cx="2460284" cy="60350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34191" y="3712464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0E0E0E"/>
                </a:solidFill>
                <a:latin typeface="Inter"/>
              </a:rPr>
              <a:t>مخصص ومرن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4476" y="3621024"/>
            <a:ext cx="3131271" cy="603504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94476" y="3712464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محدود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25747" y="3621024"/>
            <a:ext cx="2460284" cy="603504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25747" y="3712464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غير متاح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224528"/>
            <a:ext cx="3131271" cy="603504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315968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بند الاسترداد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34191" y="4224528"/>
            <a:ext cx="2460284" cy="60350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34191" y="4315968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0E0E0E"/>
                </a:solidFill>
                <a:latin typeface="Inter"/>
              </a:rPr>
              <a:t>نعم — 30%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4476" y="4224528"/>
            <a:ext cx="3131271" cy="603504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94476" y="4315968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لا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25747" y="4224528"/>
            <a:ext cx="2460284" cy="603504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25747" y="4315968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لا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828032"/>
            <a:ext cx="3131271" cy="603504"/>
          </a:xfrm>
          <a:prstGeom prst="rect">
            <a:avLst/>
          </a:prstGeom>
          <a:solidFill>
            <a:srgbClr val="22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4919472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أثر محلي مُثبَت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34191" y="4828032"/>
            <a:ext cx="2460284" cy="603504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34191" y="4919472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0E0E0E"/>
                </a:solidFill>
                <a:latin typeface="Inter"/>
              </a:rPr>
              <a:t>200+ خريج موثق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4476" y="4828032"/>
            <a:ext cx="3131271" cy="603504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94476" y="4919472"/>
            <a:ext cx="313127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دراسات فقط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225747" y="4828032"/>
            <a:ext cx="2460284" cy="603504"/>
          </a:xfrm>
          <a:prstGeom prst="rect">
            <a:avLst/>
          </a:prstGeom>
          <a:solidFill>
            <a:srgbClr val="1A1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25747" y="4919472"/>
            <a:ext cx="2460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Inter"/>
              </a:rPr>
              <a:t>نعم — تقنية فقط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522976"/>
            <a:ext cx="11183112" cy="512064"/>
          </a:xfrm>
          <a:prstGeom prst="rect">
            <a:avLst/>
          </a:prstGeom>
          <a:solidFill>
            <a:srgbClr val="141004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5596128"/>
            <a:ext cx="10908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C8A24C"/>
                </a:solidFill>
                <a:latin typeface="Inter"/>
              </a:rPr>
              <a:t>MY4 Education تقدم الأثر الأعلى بالتكلفة الأدنى مع ضمان مالي مربوط بالنتائج — لا يوجد مزود آخر في السوق المصرية يجمع هذه العناصر الثلاثة.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9447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75426" y="0"/>
            <a:ext cx="3810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457200"/>
            <a:ext cx="5728716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201806"/>
                </a:solidFill>
                <a:latin typeface="Montserrat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8255" y="2103120"/>
            <a:ext cx="536313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600" b="1" i="0">
                <a:solidFill>
                  <a:srgbClr val="FFFFFF"/>
                </a:solidFill>
                <a:latin typeface="Montserrat"/>
              </a:rPr>
              <a:t>الطلب</a:t>
            </a:r>
          </a:p>
        </p:txBody>
      </p:sp>
      <p:sp>
        <p:nvSpPr>
          <p:cNvPr id="8" name="Rectangle 7"/>
          <p:cNvSpPr/>
          <p:nvPr/>
        </p:nvSpPr>
        <p:spPr>
          <a:xfrm>
            <a:off x="6338255" y="3566160"/>
            <a:ext cx="5363138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8255" y="3703320"/>
            <a:ext cx="536313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ثلاثة بنود محددة تُحقق الشراكة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48872" y="36576"/>
            <a:ext cx="548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8A24C"/>
                </a:solidFill>
                <a:latin typeface="Montserrat"/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07 · الطلب من الوزارة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600" b="1" i="0">
                <a:solidFill>
                  <a:srgbClr val="FFFFFF"/>
                </a:solidFill>
                <a:latin typeface="Montserrat"/>
              </a:rPr>
              <a:t>ماذا نطلب بالتحديد؟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8311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23 /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5500116" cy="82296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-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4" y="1417320"/>
            <a:ext cx="438912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" y="1289304"/>
            <a:ext cx="48234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C8A24C"/>
                </a:solidFill>
                <a:latin typeface="Montserrat"/>
              </a:rPr>
              <a:t>برنامج ستارت ٢٠٢٦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1655064"/>
            <a:ext cx="48234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شراكة أورنج مصر — MY4 كشريك تنفيذي رسمي للتدريب المهني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916" y="1225296"/>
            <a:ext cx="5500116" cy="82296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8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1417320"/>
            <a:ext cx="438912" cy="4389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95644" y="1289304"/>
            <a:ext cx="48234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C8A24C"/>
                </a:solidFill>
                <a:latin typeface="Montserrat"/>
              </a:rPr>
              <a:t>ملتقى خطوة ٢٠٢٦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5644" y="1655064"/>
            <a:ext cx="48234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إدراج MY4 كمزود تدريب معتمد في الملتقى السنوي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85416"/>
            <a:ext cx="5500116" cy="82296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8-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2684" y="2377440"/>
            <a:ext cx="438912" cy="4389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2648" y="2249424"/>
            <a:ext cx="48234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C8A24C"/>
                </a:solidFill>
                <a:latin typeface="Montserrat"/>
              </a:rPr>
              <a:t>31 وحدة جامعية تضامن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2615184"/>
            <a:ext cx="48234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إتاحة 3 وحدات (القاهرة/الإسكندرية/الجيزة) لتشغيل المرحلة الأولى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185416"/>
            <a:ext cx="5500116" cy="82296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-8-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0" y="2377440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295644" y="2249424"/>
            <a:ext cx="48234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C8A24C"/>
                </a:solidFill>
                <a:latin typeface="Montserrat"/>
              </a:rPr>
              <a:t>رؤية مصر 2030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5644" y="2615184"/>
            <a:ext cx="48234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الشراكة تُسهم مباشرةً في مؤشر رفع مشاركة الشباب في سوق العمل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46120"/>
            <a:ext cx="11183112" cy="381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300984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0">
                <a:solidFill>
                  <a:srgbClr val="A4232A"/>
                </a:solidFill>
                <a:latin typeface="Montserrat"/>
              </a:rPr>
              <a:t>المطلوب من الوزارة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749039"/>
            <a:ext cx="5500116" cy="1920240"/>
          </a:xfrm>
          <a:prstGeom prst="rect">
            <a:avLst/>
          </a:prstGeom>
          <a:solidFill>
            <a:srgbClr val="201010"/>
          </a:solidFill>
          <a:ln w="12700">
            <a:solidFill>
              <a:srgbClr val="A4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749039"/>
            <a:ext cx="5500116" cy="9144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3877055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A4232A"/>
                </a:solidFill>
                <a:latin typeface="Montserrat"/>
              </a:rPr>
              <a:t>أولاً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" y="4224527"/>
            <a:ext cx="52440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اتفاقية شراكة رسمية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4681727"/>
            <a:ext cx="524408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بروتوكول تعاون رسمي بين الوزارة وشركة MY4 Education (س.م.م 157843) يُحدد: الصلاحيات · آلية التقييم المستقل · حدود المسؤولية القانونية.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85916" y="3749039"/>
            <a:ext cx="5500116" cy="1920240"/>
          </a:xfrm>
          <a:prstGeom prst="rect">
            <a:avLst/>
          </a:prstGeom>
          <a:solidFill>
            <a:srgbClr val="201010"/>
          </a:solidFill>
          <a:ln w="12700">
            <a:solidFill>
              <a:srgbClr val="A4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85916" y="3749039"/>
            <a:ext cx="5500116" cy="9144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3932" y="3877055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A4232A"/>
                </a:solidFill>
                <a:latin typeface="Montserrat"/>
              </a:rPr>
              <a:t>ثانياً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3932" y="4224527"/>
            <a:ext cx="52440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إتاحة 3 مراكز تدريبية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3932" y="4681727"/>
            <a:ext cx="524408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مساحة تدريبية في الوحدات الجامعية بالقاهرة والإسكندرية والجيزة. المطلوب: 2 قاعة × 25 مقعداً في كل مركز · لمدة 10 أشهر.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68912" y="3749039"/>
            <a:ext cx="5500116" cy="1920240"/>
          </a:xfrm>
          <a:prstGeom prst="rect">
            <a:avLst/>
          </a:prstGeom>
          <a:solidFill>
            <a:srgbClr val="201010"/>
          </a:solidFill>
          <a:ln w="12700">
            <a:solidFill>
              <a:srgbClr val="A4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68912" y="3749039"/>
            <a:ext cx="5500116" cy="9144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996928" y="3877055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1" i="0">
                <a:solidFill>
                  <a:srgbClr val="A4232A"/>
                </a:solidFill>
                <a:latin typeface="Montserrat"/>
              </a:rPr>
              <a:t>ثالثاً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96928" y="4224527"/>
            <a:ext cx="52440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الإدراج في برنامج ستارت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996928" y="4681727"/>
            <a:ext cx="524408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تحويل 300 مستفيد من قاعدة بيانات برنامج ستارت للتدريب لدى MY4 مقابل تقديم تقرير التوظيف الرسمي للوزارة خلال 90 يوماً.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0"/>
            <a:ext cx="609447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4476" y="0"/>
            <a:ext cx="6094476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63500" cy="67945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31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200" b="1" i="0">
                <a:solidFill>
                  <a:srgbClr val="FFFFFF"/>
                </a:solidFill>
                <a:latin typeface="Montserrat"/>
              </a:rPr>
              <a:t>MY4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926080"/>
            <a:ext cx="1118311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035808"/>
            <a:ext cx="111831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C8A24C"/>
                </a:solidFill>
                <a:latin typeface="Inter"/>
              </a:rPr>
              <a:t>تأهيل حقيقي · توظيف حقيقي · أثر وطني</a:t>
            </a:r>
          </a:p>
        </p:txBody>
      </p:sp>
      <p:pic>
        <p:nvPicPr>
          <p:cNvPr id="9" name="Picture 8" descr="image-8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3913631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822191"/>
            <a:ext cx="10451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Inter"/>
              </a:rPr>
              <a:t>المؤسس:  محمود جاداللا — Mahmoud Gadalla</a:t>
            </a:r>
          </a:p>
        </p:txBody>
      </p:sp>
      <p:pic>
        <p:nvPicPr>
          <p:cNvPr id="11" name="Picture 10" descr="image-15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4535423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443983"/>
            <a:ext cx="10451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Inter"/>
              </a:rPr>
              <a:t>البريد الإلكتروني:  mahmoud@my4.education</a:t>
            </a:r>
          </a:p>
        </p:txBody>
      </p:sp>
      <p:pic>
        <p:nvPicPr>
          <p:cNvPr id="13" name="Picture 12" descr="image-8-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5157215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5065775"/>
            <a:ext cx="10451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Inter"/>
              </a:rPr>
              <a:t>الهاتف:  +20 111 037 111</a:t>
            </a:r>
          </a:p>
        </p:txBody>
      </p:sp>
      <p:pic>
        <p:nvPicPr>
          <p:cNvPr id="15" name="Picture 14" descr="image-18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473952"/>
            <a:ext cx="12188952" cy="38404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